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he problem" id="{c90d49cb-2834-627d-929a-dc87efefcc78}">
          <p14:sldIdLst>
            <p14:sldId id="256"/>
            <p14:sldId id="257"/>
            <p14:sldId id="258"/>
          </p14:sldIdLst>
        </p14:section>
        <p14:section name="The solution" id="{df2963a4-ba99-0bf0-f0ad-22a10917c3c9}">
          <p14:sldIdLst>
            <p14:sldId id="259"/>
            <p14:sldId id="260"/>
          </p14:sldIdLst>
        </p14:section>
        <p14:section name="Literature review and base paper" id="{c92dcf6c-351e-7c8b-cb63-9d14e875a621}">
          <p14:sldIdLst>
            <p14:sldId id="261"/>
            <p14:sldId id="262"/>
          </p14:sldIdLst>
        </p14:section>
        <p14:section name="Architecture and control system design" id="{71ffb843-b1d6-d37e-a7fb-4b2b571bf00f}">
          <p14:sldIdLst>
            <p14:sldId id="263"/>
            <p14:sldId id="264"/>
            <p14:sldId id="265"/>
            <p14:sldId id="266"/>
          </p14:sldIdLst>
        </p14:section>
        <p14:section name="Results" id="{809f55a6-9743-27a3-bfab-f60e59eaf72f}">
          <p14:sldIdLst>
            <p14:sldId id="267"/>
            <p14:sldId id="268"/>
            <p14:sldId id="269"/>
            <p14:sldId id="270"/>
            <p14:sldId id="271"/>
            <p14:sldId id="272"/>
          </p14:sldIdLst>
        </p14:section>
        <p14:section name="Base paper vs SwarmRide" id="{7239d8e4-0926-61b4-9b09-18b0160d3d9a}">
          <p14:sldIdLst>
            <p14:sldId id="273"/>
            <p14:sldId id="274"/>
            <p14:sldId id="275"/>
            <p14:sldId id="276"/>
            <p14:sldId id="2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team and the one-line idea: today’s oil damper on every train bogie becomes a smart electromagnetic damper that makes its own power, tunes the ride to the live load, gets a bump warning from the locomotive, and powers safety sensors on the bogie.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safety gaps (track, bearings, couplings) and three engineering gaps (comfort falls with load, energy wasted, no power on wagons). One device can close all six.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Photos: the Casnub wagon bogie, a goods train and an LHB air spring. Our Stage 1 simulation of today’s trains shows the two engineering gaps: fixed dampers lose damping as load rises, and all suspension energy becomes heat.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the concept: a magnet moving through a coil makes electricity, and the current drawn sets how firm the damper is. Right, the physical model we simulate: an LHB half-coach with 4 degrees of freedom (body bounce and pitch, front and rear bogie). On each bogie the smart damper sits beside the air spring, in the same place and on the same mounts as today's oil damper. Design C is a ball screw driving a magnet generator, two per bogie, with a damping range of 0 to 246 kN s/m per bogie; if anything fails, the coil is switched onto resistors that give today's 35 kN s/m. So one device harvests, controls the ride, takes the preview, powers the sensors and fails safe.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Distances: locomotive 20 m, LHB coach 23.5 m, measured to each coach’s front bogie. The controller runs at 100 Hz, so even coach 1 gets 50 steps to prepare.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DOIs: 10.1109/TVT.2012.2229308 (Li, Zuo, Luhrs, Lin, Qin 2013); 10.1109/TVT.2022.3149265 (Hua, Cai, Zhu 2022, base paper); 10.1177/1045389X231200146 (Dong et al. 2024); 10.1109/TTE.2023.3314056 (Tao et al. 2024); 10.1109/TTE.2024.3481067 (Cheng et al. 2025); 10.1109/TMECH.2025.3582402 (Xia, Ning et al. 2025). The field moved from car shock absorbers (2013) to train suspensions (2022) and now to self-powered dampers with supercapacitor management (2025). No paper combines load-scheduled control, train-wide preview, active push, a full-day power bank and self-powered health sensing on Indian rolling stock — that is SwarmRide’s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DOI 10.1109/TVT.2022.3149265, summary from the published abstract. Why this base paper: it is the IEEE Transactions paper closest to our idea — an electromagnetic damper on a train suspension that both controls vibration and harvests energy. Their controller is an LQG target force tracked semi-actively. We keep their core idea and extend it in five directions.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three levels top to bottom. The key architectural point versus the base paper: the harvested energy is stored and used on the bogie itself, so goods wagons with no electricity can run sensors.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LHB and Vande Bharat: replaces the vertical secondary dampers beside the air springs; load from air-spring pressure. ICF: secondary dampers on the bolster springs. BOXN: beside or in place of the friction wedges, with a geared smart damper.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controller adds one idea, so we can show what each idea is worth on the same coach and track. C1 is a fixed harvester, the same kind of approach as the base paper. C2 is an optimal LQR controller designed at five loads and blended by the measured load, so the ride stays the same from empty to crowded. C3 adds the Train Brain preview. C4 adds the push at known bad spots. Inside the damper, a PI current loop with back-EMF feed-forward makes the coil current follow the command. All controllers are stable at every load.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model is generated by a MATLAB script, so the whole project rebuilds from code. Half-coach 4-DOF model; same coach, same rail, only the damper changes. The test suite checks the model against hand calculations, an independent state-space model, energy conservation and step-size convergence: 85 of 85 checks pass.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coach, same rail, poor track; controller C3 (LPV-LQR + preview) against today’s damper. Today’s ride gets worse as passengers board, because a fixed damper is tuned for one load. SwarmRide’s line stays nearly flat. Lower Wz is more comfortable.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head-to-head ladder. C1, a fixed harvester, already beats today’s damper but only at one setting. The optimal LPV controller C2 does better at every load, and the preview C3 adds a little more. Power into the bank stays at 33–38 W per coach bogie across Vande Bharat and LHB.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Crowded LHB, 160 km/h. A semi-active damper (like the base paper’s) can only resist, so it cannot act before the motion starts — that is why the preview added only 1–2% in Stage 3. In Stage 4 the same H-bridge drives the coil as a motor for about a second around a known bad spot, using banked energy. The Train Brain warning finally pays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Journey simulator stepping the Simulink power-bank rules over 14–20 h, with power tables from Simulink. Honest finding: the slow ICF coach and all-smooth track still drain slowly, so they need a small top-up or a lower sensing rate. That is a design rule for the product, not a showstopper.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Hot axle: illustrative bearing model, checkpoints every 250 km. The danger window between the alarm temperature and failure is about 30 minutes, much shorter than the 2.5 h between trackside checkpoints. A sensor riding on the bogie, powered by the damper, is the only reliable way. Wheel: eccentric 0.5 mm and three-lobed 0.3 mm; the damper’s coil voltage already contains the wheel’s signature, so no extra sensor is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Design-C damper: 48 V servo, 25 mm × 10 mm ball screw, 8 kN, 60 V / 46 A drive, 10 F supercap. The bench model adds everything the coach model idealised: a 10 kHz current loop with a voltage limit, inverter and DC-DC losses, a contactor that takes 20 ms, and winding heat. It still predicts the same power into the bank, and the fail-safe gives exactly today’s damping. The C firmware matches MATLAB on 2,700 test vectors.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keep the base paper’s core idea — one electromagnetic device that both controls vibration and harvests energy on a train — and add the capabilities highlighted in teal: look-ahead, push, a power bank that actually runs the bogie, safety sensing, plus a hardware fail-safe and a verified firmware path to hardware.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honest with the examiners: the base paper studies lateral ride at higher speeds, so their watts and ours are not a like-for-like contest. The comparison that matters is architectural, and our own controller ladder (C0 to C4) shows each new capability’s value on the same coach and rail.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pitch line. One part swapped, same mounts, fail-safe to today’s damper. Freight wagons have no electricity today; SwarmRide makes every wagon self-powered and watched. Passenger coaches get a ride tuned to their load and to the bump ahead.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Gate B criteria: tests T1–T8 within their bands, T9 under the trip temperature, and the hardware-in-the-loop run at least 10% better than today’s damper. Then a field run on one LHB bogie with RDSO.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one-line promise and invite questions. The website and repository have every model, result, the firmware and the bench prototype package.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7F5F0"/>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310896"/>
          </a:xfrm>
          <a:prstGeom prst="rect">
            <a:avLst/>
          </a:prstGeom>
          <a:noFill/>
          <a:ln/>
        </p:spPr>
        <p:txBody>
          <a:bodyPr wrap="square" rtlCol="0"/>
          <a:lstStyle>
            <a:lvl1pPr indent="0" marL="0">
              <a:buNone/>
              <a:defRPr lang="en-US" sz="1200" b="1" spc="300" kern="0" dirty="0">
                <a:solidFill>
                  <a:srgbClr val="A8520F"/>
                </a:solidFill>
              </a:defRPr>
            </a:lvl1pPr>
          </a:lstStyle>
          <a:p>
            <a:pPr indent="0" marL="0">
              <a:buNone/>
            </a:pPr>
            <a:endParaRPr lang="en-US" sz="1200" dirty="0"/>
          </a:p>
        </p:txBody>
      </p:sp>
      <p:sp>
        <p:nvSpPr>
          <p:cNvPr id="3" name="Text 0"/>
          <p:cNvSpPr/>
          <p:nvPr>
            <p:ph idx="101" type="title" hasCustomPrompt="1"/>
          </p:nvPr>
        </p:nvSpPr>
        <p:spPr>
          <a:xfrm>
            <a:off x="548640" y="713232"/>
            <a:ext cx="11094415" cy="713232"/>
          </a:xfrm>
          <a:prstGeom prst="rect">
            <a:avLst/>
          </a:prstGeom>
          <a:noFill/>
          <a:ln/>
        </p:spPr>
        <p:txBody>
          <a:bodyPr wrap="square" rtlCol="0"/>
          <a:lstStyle>
            <a:lvl1pPr algn="l" indent="0" marL="0">
              <a:buNone/>
              <a:defRPr lang="en-US" sz="3000" b="1" dirty="0">
                <a:solidFill>
                  <a:srgbClr val="13233A"/>
                </a:solidFill>
              </a:defRPr>
            </a:lvl1pPr>
          </a:lstStyle>
          <a:p>
            <a:pPr algn="l" indent="0" marL="0">
              <a:buNone/>
            </a:pPr>
            <a:endParaRPr lang="en-US" sz="3000" dirty="0"/>
          </a:p>
        </p:txBody>
      </p:sp>
      <p:sp>
        <p:nvSpPr>
          <p:cNvPr id="4" name="Text 0"/>
          <p:cNvSpPr/>
          <p:nvPr/>
        </p:nvSpPr>
        <p:spPr>
          <a:xfrm>
            <a:off x="548640" y="6419088"/>
            <a:ext cx="8229600" cy="274320"/>
          </a:xfrm>
          <a:prstGeom prst="rect">
            <a:avLst/>
          </a:prstGeom>
          <a:noFill/>
          <a:ln/>
        </p:spPr>
        <p:txBody>
          <a:bodyPr wrap="square" lIns="0" tIns="0" rIns="0" bIns="0" rtlCol="0" anchor="ctr"/>
          <a:lstStyle/>
          <a:p>
            <a:pPr indent="0" marL="0">
              <a:buNone/>
            </a:pPr>
            <a:r>
              <a:rPr lang="en-US" sz="1000" dirty="0">
                <a:solidFill>
                  <a:srgbClr val="6B7686"/>
                </a:solidFill>
              </a:rPr>
              <a:t>SwarmRide Bharat · Control Systems Project Review</a:t>
            </a:r>
            <a:endParaRPr lang="en-US" sz="1000" dirty="0"/>
          </a:p>
        </p:txBody>
      </p:sp>
      <p:sp>
        <p:nvSpPr>
          <p:cNvPr id="25" name="Slide Number Placeholder 0"/>
          <p:cNvSpPr>
            <a:spLocks noGrp="1"/>
          </p:cNvSpPr>
          <p:nvPr>
            <p:ph type="sldNum" sz="quarter" idx="4294967295"/>
          </p:nvPr>
        </p:nvSpPr>
        <p:spPr>
          <a:xfrm>
            <a:off x="11155680" y="6419088"/>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3233A"/>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310896"/>
          </a:xfrm>
          <a:prstGeom prst="rect">
            <a:avLst/>
          </a:prstGeom>
          <a:noFill/>
          <a:ln/>
        </p:spPr>
        <p:txBody>
          <a:bodyPr wrap="square" rtlCol="0"/>
          <a:lstStyle>
            <a:lvl1pPr indent="0" marL="0">
              <a:buNone/>
              <a:defRPr lang="en-US" sz="1200" b="1" spc="300" kern="0" dirty="0">
                <a:solidFill>
                  <a:srgbClr val="F0974A"/>
                </a:solidFill>
              </a:defRPr>
            </a:lvl1pPr>
          </a:lstStyle>
          <a:p>
            <a:pPr indent="0" marL="0">
              <a:buNone/>
            </a:pPr>
            <a:endParaRPr lang="en-US" sz="1200" dirty="0"/>
          </a:p>
        </p:txBody>
      </p:sp>
      <p:sp>
        <p:nvSpPr>
          <p:cNvPr id="3" name="Text 0"/>
          <p:cNvSpPr/>
          <p:nvPr>
            <p:ph idx="101" type="title" hasCustomPrompt="1"/>
          </p:nvPr>
        </p:nvSpPr>
        <p:spPr>
          <a:xfrm>
            <a:off x="548640" y="713232"/>
            <a:ext cx="11094415" cy="713232"/>
          </a:xfrm>
          <a:prstGeom prst="rect">
            <a:avLst/>
          </a:prstGeom>
          <a:noFill/>
          <a:ln/>
        </p:spPr>
        <p:txBody>
          <a:bodyPr wrap="square" rtlCol="0"/>
          <a:lstStyle>
            <a:lvl1pPr algn="l" indent="0" marL="0">
              <a:buNone/>
              <a:defRPr lang="en-US" sz="3000" b="1" dirty="0">
                <a:solidFill>
                  <a:srgbClr val="F7F5F0"/>
                </a:solidFill>
              </a:defRPr>
            </a:lvl1pPr>
          </a:lstStyle>
          <a:p>
            <a:pPr algn="l" indent="0" marL="0">
              <a:buNone/>
            </a:pPr>
            <a:endParaRPr lang="en-US" sz="3000" dirty="0"/>
          </a:p>
        </p:txBody>
      </p:sp>
      <p:sp>
        <p:nvSpPr>
          <p:cNvPr id="4" name="Text 0"/>
          <p:cNvSpPr/>
          <p:nvPr/>
        </p:nvSpPr>
        <p:spPr>
          <a:xfrm>
            <a:off x="548640" y="6419088"/>
            <a:ext cx="8229600" cy="274320"/>
          </a:xfrm>
          <a:prstGeom prst="rect">
            <a:avLst/>
          </a:prstGeom>
          <a:noFill/>
          <a:ln/>
        </p:spPr>
        <p:txBody>
          <a:bodyPr wrap="square" lIns="0" tIns="0" rIns="0" bIns="0" rtlCol="0" anchor="ctr"/>
          <a:lstStyle/>
          <a:p>
            <a:pPr indent="0" marL="0">
              <a:buNone/>
            </a:pPr>
            <a:r>
              <a:rPr lang="en-US" sz="1000" dirty="0">
                <a:solidFill>
                  <a:srgbClr val="9AA8BC"/>
                </a:solidFill>
              </a:rPr>
              <a:t>SwarmRide Bharat · Control Systems Project Review</a:t>
            </a:r>
            <a:endParaRPr lang="en-US" sz="1000" dirty="0"/>
          </a:p>
        </p:txBody>
      </p:sp>
      <p:sp>
        <p:nvSpPr>
          <p:cNvPr id="25" name="Slide Number Placeholder 0"/>
          <p:cNvSpPr>
            <a:spLocks noGrp="1"/>
          </p:cNvSpPr>
          <p:nvPr>
            <p:ph type="sldNum" sz="quarter" idx="4294967295"/>
          </p:nvPr>
        </p:nvSpPr>
        <p:spPr>
          <a:xfrm>
            <a:off x="11155680" y="6419088"/>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8BC"/>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VER">
    <p:bg>
      <p:bgPr>
        <a:solidFill>
          <a:srgbClr val="13233A"/>
        </a:solidFill>
      </p:bgPr>
    </p:bg>
    <p:spTree>
      <p:nvGrpSpPr>
        <p:cNvPr id="1" name=""/>
        <p:cNvGrpSpPr/>
        <p:nvPr/>
      </p:nvGrpSpPr>
      <p:grpSpPr>
        <a:xfrm>
          <a:off x="0" y="0"/>
          <a:ext cx="0" cy="0"/>
          <a:chOff x="0" y="0"/>
          <a:chExt cx="0" cy="0"/>
        </a:xfrm>
      </p:grpSpPr>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ACCENT">
    <p:bg>
      <p:bgPr>
        <a:solidFill>
          <a:srgbClr val="E07A1F"/>
        </a:solidFill>
      </p:bgPr>
    </p:bg>
    <p:spTree>
      <p:nvGrpSpPr>
        <p:cNvPr id="1" name=""/>
        <p:cNvGrpSpPr/>
        <p:nvPr/>
      </p:nvGrpSpPr>
      <p:grpSpPr>
        <a:xfrm>
          <a:off x="0" y="0"/>
          <a:ext cx="0" cy="0"/>
          <a:chOff x="0" y="0"/>
          <a:chExt cx="0" cy="0"/>
        </a:xfrm>
      </p:grpSpPr>
      <p:sp>
        <p:nvSpPr>
          <p:cNvPr id="2" name="Text 0"/>
          <p:cNvSpPr/>
          <p:nvPr/>
        </p:nvSpPr>
        <p:spPr>
          <a:xfrm>
            <a:off x="548640" y="6419088"/>
            <a:ext cx="8229600" cy="274320"/>
          </a:xfrm>
          <a:prstGeom prst="rect">
            <a:avLst/>
          </a:prstGeom>
          <a:noFill/>
          <a:ln/>
        </p:spPr>
        <p:txBody>
          <a:bodyPr wrap="square" lIns="0" tIns="0" rIns="0" bIns="0" rtlCol="0" anchor="ctr"/>
          <a:lstStyle/>
          <a:p>
            <a:pPr indent="0" marL="0">
              <a:buNone/>
            </a:pPr>
            <a:r>
              <a:rPr lang="en-US" sz="1000" dirty="0">
                <a:solidFill>
                  <a:srgbClr val="13233A"/>
                </a:solidFill>
              </a:rPr>
              <a:t>SwarmRide Bharat · Control Systems Project Review</a:t>
            </a:r>
            <a:endParaRPr lang="en-US" sz="1000" dirty="0"/>
          </a:p>
        </p:txBody>
      </p:sp>
      <p:sp>
        <p:nvSpPr>
          <p:cNvPr id="25" name="Slide Number Placeholder 0"/>
          <p:cNvSpPr>
            <a:spLocks noGrp="1"/>
          </p:cNvSpPr>
          <p:nvPr>
            <p:ph type="sldNum" sz="quarter" idx="4294967295"/>
          </p:nvPr>
        </p:nvSpPr>
        <p:spPr>
          <a:xfrm>
            <a:off x="11155680" y="6419088"/>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13233A"/>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19088"/>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4.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jpg"/><Relationship Id="rId3" Type="http://schemas.openxmlformats.org/officeDocument/2006/relationships/image" Target="../media/image-3-3.jp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2.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pn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slideLayout" Target="../slideLayouts/slideLayout2.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2.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2.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2.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4.xml"/><Relationship Id="rId3"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vb" descr="Vande Bharat train at a platform">    </p:cNvPr>
          <p:cNvPicPr>
            <a:picLocks noChangeAspect="1"/>
          </p:cNvPicPr>
          <p:nvPr/>
        </p:nvPicPr>
        <p:blipFill>
          <a:blip r:embed="rId1">
            <a:alphaModFix amt="55000"/>
          </a:blip>
          <a:srcRect l="0" r="0" t="0" b="0"/>
          <a:stretch/>
        </p:blipFill>
        <p:spPr>
          <a:xfrm>
            <a:off x="7498080" y="0"/>
            <a:ext cx="4693615" cy="6858000"/>
          </a:xfrm>
          <a:prstGeom prst="rect">
            <a:avLst/>
          </a:prstGeom>
        </p:spPr>
      </p:pic>
      <p:sp>
        <p:nvSpPr>
          <p:cNvPr id="3" name="Text 0"/>
          <p:cNvSpPr txBox="1"/>
          <p:nvPr/>
        </p:nvSpPr>
        <p:spPr>
          <a:xfrm>
            <a:off x="548640" y="685800"/>
            <a:ext cx="6949440" cy="365760"/>
          </a:xfrm>
          <a:prstGeom prst="rect">
            <a:avLst/>
          </a:prstGeom>
          <a:noFill/>
          <a:ln/>
        </p:spPr>
        <p:txBody>
          <a:bodyPr wrap="square" lIns="0" tIns="0" rIns="0" bIns="0" rtlCol="0" anchor="t"/>
          <a:lstStyle/>
          <a:p>
            <a:pPr indent="0" marL="0">
              <a:buNone/>
            </a:pPr>
            <a:r>
              <a:rPr lang="en-US" sz="1400" b="1" spc="300" kern="0" dirty="0">
                <a:solidFill>
                  <a:srgbClr val="F0974A"/>
                </a:solidFill>
              </a:rPr>
              <a:t>CONTROL SYSTEMS · PROJECT REVIEW</a:t>
            </a:r>
            <a:endParaRPr lang="en-US" sz="1400" dirty="0"/>
          </a:p>
        </p:txBody>
      </p:sp>
      <p:sp>
        <p:nvSpPr>
          <p:cNvPr id="4" name="Text 1"/>
          <p:cNvSpPr txBox="1"/>
          <p:nvPr/>
        </p:nvSpPr>
        <p:spPr>
          <a:xfrm>
            <a:off x="548640" y="1097280"/>
            <a:ext cx="6949440" cy="1097280"/>
          </a:xfrm>
          <a:prstGeom prst="rect">
            <a:avLst/>
          </a:prstGeom>
          <a:noFill/>
          <a:ln/>
        </p:spPr>
        <p:txBody>
          <a:bodyPr wrap="square" lIns="0" tIns="0" rIns="0" bIns="0" rtlCol="0" anchor="t"/>
          <a:lstStyle/>
          <a:p>
            <a:pPr indent="0" marL="0">
              <a:buNone/>
            </a:pPr>
            <a:r>
              <a:rPr lang="en-US" sz="6000" b="1" dirty="0">
                <a:solidFill>
                  <a:srgbClr val="F7F5F0"/>
                </a:solidFill>
                <a:latin typeface="Calibri" pitchFamily="34" charset="0"/>
                <a:ea typeface="Calibri" pitchFamily="34" charset="-122"/>
                <a:cs typeface="Calibri" pitchFamily="34" charset="-120"/>
              </a:rPr>
              <a:t>SwarmRide </a:t>
            </a:r>
            <a:pPr indent="0" marL="0">
              <a:buNone/>
            </a:pPr>
            <a:r>
              <a:rPr lang="en-US" sz="6000" b="1" dirty="0">
                <a:solidFill>
                  <a:srgbClr val="F0974A"/>
                </a:solidFill>
                <a:latin typeface="Calibri" pitchFamily="34" charset="0"/>
                <a:ea typeface="Calibri" pitchFamily="34" charset="-122"/>
                <a:cs typeface="Calibri" pitchFamily="34" charset="-120"/>
              </a:rPr>
              <a:t>Bharat</a:t>
            </a:r>
            <a:endParaRPr lang="en-US" sz="6000" dirty="0"/>
          </a:p>
        </p:txBody>
      </p:sp>
      <p:sp>
        <p:nvSpPr>
          <p:cNvPr id="5" name="Text 2"/>
          <p:cNvSpPr txBox="1"/>
          <p:nvPr/>
        </p:nvSpPr>
        <p:spPr>
          <a:xfrm>
            <a:off x="548640" y="2286000"/>
            <a:ext cx="6766560" cy="1188720"/>
          </a:xfrm>
          <a:prstGeom prst="rect">
            <a:avLst/>
          </a:prstGeom>
          <a:noFill/>
          <a:ln/>
        </p:spPr>
        <p:txBody>
          <a:bodyPr wrap="square" lIns="0" tIns="0" rIns="0" bIns="0" rtlCol="0" anchor="t"/>
          <a:lstStyle/>
          <a:p>
            <a:pPr indent="0" marL="0">
              <a:buNone/>
            </a:pPr>
            <a:r>
              <a:rPr lang="en-US" sz="1800" dirty="0">
                <a:solidFill>
                  <a:srgbClr val="C9D3E2"/>
                </a:solidFill>
              </a:rPr>
              <a:t>A self-powered, load-adaptive, train-synchronised suspension for Indian Railways — the damper that harvests energy, tunes the ride, and watches the bogie’s safety.</a:t>
            </a:r>
            <a:endParaRPr lang="en-US" sz="1800" dirty="0"/>
          </a:p>
        </p:txBody>
      </p:sp>
      <p:sp>
        <p:nvSpPr>
          <p:cNvPr id="6" name="Shape 3"/>
          <p:cNvSpPr/>
          <p:nvPr/>
        </p:nvSpPr>
        <p:spPr>
          <a:xfrm>
            <a:off x="548640" y="3886200"/>
            <a:ext cx="3246120" cy="822960"/>
          </a:xfrm>
          <a:prstGeom prst="roundRect">
            <a:avLst>
              <a:gd name="adj" fmla="val 11111"/>
            </a:avLst>
          </a:prstGeom>
          <a:solidFill>
            <a:srgbClr val="1E3557"/>
          </a:solidFill>
          <a:ln/>
        </p:spPr>
      </p:sp>
      <p:sp>
        <p:nvSpPr>
          <p:cNvPr id="7" name="Text 4"/>
          <p:cNvSpPr txBox="1"/>
          <p:nvPr/>
        </p:nvSpPr>
        <p:spPr>
          <a:xfrm>
            <a:off x="777240" y="3977640"/>
            <a:ext cx="2834640" cy="365760"/>
          </a:xfrm>
          <a:prstGeom prst="rect">
            <a:avLst/>
          </a:prstGeom>
          <a:noFill/>
          <a:ln/>
        </p:spPr>
        <p:txBody>
          <a:bodyPr wrap="square" lIns="0" tIns="0" rIns="0" bIns="0" rtlCol="0" anchor="t"/>
          <a:lstStyle/>
          <a:p>
            <a:pPr indent="0" marL="0">
              <a:buNone/>
            </a:pPr>
            <a:r>
              <a:rPr lang="en-US" sz="1800" b="1" dirty="0">
                <a:solidFill>
                  <a:srgbClr val="F7F5F0"/>
                </a:solidFill>
              </a:rPr>
              <a:t>Jaganath</a:t>
            </a:r>
            <a:endParaRPr lang="en-US" sz="1800" dirty="0"/>
          </a:p>
        </p:txBody>
      </p:sp>
      <p:sp>
        <p:nvSpPr>
          <p:cNvPr id="8" name="Text 5"/>
          <p:cNvSpPr txBox="1"/>
          <p:nvPr/>
        </p:nvSpPr>
        <p:spPr>
          <a:xfrm>
            <a:off x="777240" y="4343400"/>
            <a:ext cx="2834640" cy="274320"/>
          </a:xfrm>
          <a:prstGeom prst="rect">
            <a:avLst/>
          </a:prstGeom>
          <a:noFill/>
          <a:ln/>
        </p:spPr>
        <p:txBody>
          <a:bodyPr wrap="square" lIns="0" tIns="0" rIns="0" bIns="0" rtlCol="0" anchor="t"/>
          <a:lstStyle/>
          <a:p>
            <a:pPr indent="0" marL="0">
              <a:buNone/>
            </a:pPr>
            <a:r>
              <a:rPr lang="en-US" sz="1300" dirty="0">
                <a:solidFill>
                  <a:srgbClr val="9FD9D0"/>
                </a:solidFill>
                <a:latin typeface="Courier New" pitchFamily="34" charset="0"/>
                <a:ea typeface="Courier New" pitchFamily="34" charset="-122"/>
                <a:cs typeface="Courier New" pitchFamily="34" charset="-120"/>
              </a:rPr>
              <a:t>CB.AI.U4AID24021</a:t>
            </a:r>
            <a:endParaRPr lang="en-US" sz="1300" dirty="0"/>
          </a:p>
        </p:txBody>
      </p:sp>
      <p:sp>
        <p:nvSpPr>
          <p:cNvPr id="9" name="Shape 6"/>
          <p:cNvSpPr/>
          <p:nvPr/>
        </p:nvSpPr>
        <p:spPr>
          <a:xfrm>
            <a:off x="3931920" y="3886200"/>
            <a:ext cx="3246120" cy="822960"/>
          </a:xfrm>
          <a:prstGeom prst="roundRect">
            <a:avLst>
              <a:gd name="adj" fmla="val 11111"/>
            </a:avLst>
          </a:prstGeom>
          <a:solidFill>
            <a:srgbClr val="1E3557"/>
          </a:solidFill>
          <a:ln/>
        </p:spPr>
      </p:sp>
      <p:sp>
        <p:nvSpPr>
          <p:cNvPr id="10" name="Text 7"/>
          <p:cNvSpPr txBox="1"/>
          <p:nvPr/>
        </p:nvSpPr>
        <p:spPr>
          <a:xfrm>
            <a:off x="4160520" y="3977640"/>
            <a:ext cx="2834640" cy="365760"/>
          </a:xfrm>
          <a:prstGeom prst="rect">
            <a:avLst/>
          </a:prstGeom>
          <a:noFill/>
          <a:ln/>
        </p:spPr>
        <p:txBody>
          <a:bodyPr wrap="square" lIns="0" tIns="0" rIns="0" bIns="0" rtlCol="0" anchor="t"/>
          <a:lstStyle/>
          <a:p>
            <a:pPr indent="0" marL="0">
              <a:buNone/>
            </a:pPr>
            <a:r>
              <a:rPr lang="en-US" sz="1800" b="1" dirty="0">
                <a:solidFill>
                  <a:srgbClr val="F7F5F0"/>
                </a:solidFill>
              </a:rPr>
              <a:t>Niranjan</a:t>
            </a:r>
            <a:endParaRPr lang="en-US" sz="1800" dirty="0"/>
          </a:p>
        </p:txBody>
      </p:sp>
      <p:sp>
        <p:nvSpPr>
          <p:cNvPr id="11" name="Text 8"/>
          <p:cNvSpPr txBox="1"/>
          <p:nvPr/>
        </p:nvSpPr>
        <p:spPr>
          <a:xfrm>
            <a:off x="4160520" y="4343400"/>
            <a:ext cx="2834640" cy="274320"/>
          </a:xfrm>
          <a:prstGeom prst="rect">
            <a:avLst/>
          </a:prstGeom>
          <a:noFill/>
          <a:ln/>
        </p:spPr>
        <p:txBody>
          <a:bodyPr wrap="square" lIns="0" tIns="0" rIns="0" bIns="0" rtlCol="0" anchor="t"/>
          <a:lstStyle/>
          <a:p>
            <a:pPr indent="0" marL="0">
              <a:buNone/>
            </a:pPr>
            <a:r>
              <a:rPr lang="en-US" sz="1300" dirty="0">
                <a:solidFill>
                  <a:srgbClr val="9FD9D0"/>
                </a:solidFill>
                <a:latin typeface="Courier New" pitchFamily="34" charset="0"/>
                <a:ea typeface="Courier New" pitchFamily="34" charset="-122"/>
                <a:cs typeface="Courier New" pitchFamily="34" charset="-120"/>
              </a:rPr>
              <a:t>CB.AI.U4AID24035</a:t>
            </a:r>
            <a:endParaRPr lang="en-US" sz="1300" dirty="0"/>
          </a:p>
        </p:txBody>
      </p:sp>
      <p:sp>
        <p:nvSpPr>
          <p:cNvPr id="12" name="Shape 9"/>
          <p:cNvSpPr/>
          <p:nvPr/>
        </p:nvSpPr>
        <p:spPr>
          <a:xfrm>
            <a:off x="548640" y="4846320"/>
            <a:ext cx="3246120" cy="822960"/>
          </a:xfrm>
          <a:prstGeom prst="roundRect">
            <a:avLst>
              <a:gd name="adj" fmla="val 11111"/>
            </a:avLst>
          </a:prstGeom>
          <a:solidFill>
            <a:srgbClr val="1E3557"/>
          </a:solidFill>
          <a:ln/>
        </p:spPr>
      </p:sp>
      <p:sp>
        <p:nvSpPr>
          <p:cNvPr id="13" name="Text 10"/>
          <p:cNvSpPr txBox="1"/>
          <p:nvPr/>
        </p:nvSpPr>
        <p:spPr>
          <a:xfrm>
            <a:off x="777240" y="4937760"/>
            <a:ext cx="2834640" cy="365760"/>
          </a:xfrm>
          <a:prstGeom prst="rect">
            <a:avLst/>
          </a:prstGeom>
          <a:noFill/>
          <a:ln/>
        </p:spPr>
        <p:txBody>
          <a:bodyPr wrap="square" lIns="0" tIns="0" rIns="0" bIns="0" rtlCol="0" anchor="t"/>
          <a:lstStyle/>
          <a:p>
            <a:pPr indent="0" marL="0">
              <a:buNone/>
            </a:pPr>
            <a:r>
              <a:rPr lang="en-US" sz="1800" b="1" dirty="0">
                <a:solidFill>
                  <a:srgbClr val="F7F5F0"/>
                </a:solidFill>
              </a:rPr>
              <a:t>Kowshik</a:t>
            </a:r>
            <a:endParaRPr lang="en-US" sz="1800" dirty="0"/>
          </a:p>
        </p:txBody>
      </p:sp>
      <p:sp>
        <p:nvSpPr>
          <p:cNvPr id="14" name="Text 11"/>
          <p:cNvSpPr txBox="1"/>
          <p:nvPr/>
        </p:nvSpPr>
        <p:spPr>
          <a:xfrm>
            <a:off x="777240" y="5303520"/>
            <a:ext cx="2834640" cy="274320"/>
          </a:xfrm>
          <a:prstGeom prst="rect">
            <a:avLst/>
          </a:prstGeom>
          <a:noFill/>
          <a:ln/>
        </p:spPr>
        <p:txBody>
          <a:bodyPr wrap="square" lIns="0" tIns="0" rIns="0" bIns="0" rtlCol="0" anchor="t"/>
          <a:lstStyle/>
          <a:p>
            <a:pPr indent="0" marL="0">
              <a:buNone/>
            </a:pPr>
            <a:r>
              <a:rPr lang="en-US" sz="1300" dirty="0">
                <a:solidFill>
                  <a:srgbClr val="9FD9D0"/>
                </a:solidFill>
                <a:latin typeface="Courier New" pitchFamily="34" charset="0"/>
                <a:ea typeface="Courier New" pitchFamily="34" charset="-122"/>
                <a:cs typeface="Courier New" pitchFamily="34" charset="-120"/>
              </a:rPr>
              <a:t>CB.AI.U4AID24036</a:t>
            </a:r>
            <a:endParaRPr lang="en-US" sz="1300" dirty="0"/>
          </a:p>
        </p:txBody>
      </p:sp>
      <p:sp>
        <p:nvSpPr>
          <p:cNvPr id="15" name="Shape 12"/>
          <p:cNvSpPr/>
          <p:nvPr/>
        </p:nvSpPr>
        <p:spPr>
          <a:xfrm>
            <a:off x="3931920" y="4846320"/>
            <a:ext cx="3246120" cy="822960"/>
          </a:xfrm>
          <a:prstGeom prst="roundRect">
            <a:avLst>
              <a:gd name="adj" fmla="val 11111"/>
            </a:avLst>
          </a:prstGeom>
          <a:solidFill>
            <a:srgbClr val="1E3557"/>
          </a:solidFill>
          <a:ln/>
        </p:spPr>
      </p:sp>
      <p:sp>
        <p:nvSpPr>
          <p:cNvPr id="16" name="Text 13"/>
          <p:cNvSpPr txBox="1"/>
          <p:nvPr/>
        </p:nvSpPr>
        <p:spPr>
          <a:xfrm>
            <a:off x="4160520" y="4937760"/>
            <a:ext cx="2834640" cy="365760"/>
          </a:xfrm>
          <a:prstGeom prst="rect">
            <a:avLst/>
          </a:prstGeom>
          <a:noFill/>
          <a:ln/>
        </p:spPr>
        <p:txBody>
          <a:bodyPr wrap="square" lIns="0" tIns="0" rIns="0" bIns="0" rtlCol="0" anchor="t"/>
          <a:lstStyle/>
          <a:p>
            <a:pPr indent="0" marL="0">
              <a:buNone/>
            </a:pPr>
            <a:r>
              <a:rPr lang="en-US" sz="1800" b="1" dirty="0">
                <a:solidFill>
                  <a:srgbClr val="F7F5F0"/>
                </a:solidFill>
              </a:rPr>
              <a:t>Sangeeth</a:t>
            </a:r>
            <a:endParaRPr lang="en-US" sz="1800" dirty="0"/>
          </a:p>
        </p:txBody>
      </p:sp>
      <p:sp>
        <p:nvSpPr>
          <p:cNvPr id="17" name="Text 14"/>
          <p:cNvSpPr txBox="1"/>
          <p:nvPr/>
        </p:nvSpPr>
        <p:spPr>
          <a:xfrm>
            <a:off x="4160520" y="5303520"/>
            <a:ext cx="2834640" cy="274320"/>
          </a:xfrm>
          <a:prstGeom prst="rect">
            <a:avLst/>
          </a:prstGeom>
          <a:noFill/>
          <a:ln/>
        </p:spPr>
        <p:txBody>
          <a:bodyPr wrap="square" lIns="0" tIns="0" rIns="0" bIns="0" rtlCol="0" anchor="t"/>
          <a:lstStyle/>
          <a:p>
            <a:pPr indent="0" marL="0">
              <a:buNone/>
            </a:pPr>
            <a:r>
              <a:rPr lang="en-US" sz="1300" dirty="0">
                <a:solidFill>
                  <a:srgbClr val="9FD9D0"/>
                </a:solidFill>
                <a:latin typeface="Courier New" pitchFamily="34" charset="0"/>
                <a:ea typeface="Courier New" pitchFamily="34" charset="-122"/>
                <a:cs typeface="Courier New" pitchFamily="34" charset="-120"/>
              </a:rPr>
              <a:t>CB.AI.U4AID24050</a:t>
            </a:r>
            <a:endParaRPr lang="en-US" sz="1300" dirty="0"/>
          </a:p>
        </p:txBody>
      </p:sp>
      <p:sp>
        <p:nvSpPr>
          <p:cNvPr id="18" name="Text 15"/>
          <p:cNvSpPr txBox="1"/>
          <p:nvPr/>
        </p:nvSpPr>
        <p:spPr>
          <a:xfrm>
            <a:off x="548640" y="5943600"/>
            <a:ext cx="6949440" cy="320040"/>
          </a:xfrm>
          <a:prstGeom prst="rect">
            <a:avLst/>
          </a:prstGeom>
          <a:noFill/>
          <a:ln/>
        </p:spPr>
        <p:txBody>
          <a:bodyPr wrap="square" lIns="0" tIns="0" rIns="0" bIns="0" rtlCol="0" anchor="t"/>
          <a:lstStyle/>
          <a:p>
            <a:pPr indent="0" marL="0">
              <a:buNone/>
            </a:pPr>
            <a:r>
              <a:rPr lang="en-US" sz="1300" dirty="0">
                <a:solidFill>
                  <a:srgbClr val="C9D3E2"/>
                </a:solidFill>
              </a:rPr>
              <a:t>Amrita School of Artificial Intelligence, Coimbatore · Amrita Vishwa Vidyapeetham, India</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310896"/>
          </a:xfrm>
          <a:prstGeom prst="rect">
            <a:avLst/>
          </a:prstGeom>
          <a:noFill/>
          <a:ln/>
        </p:spPr>
        <p:txBody>
          <a:bodyPr wrap="square" lIns="0" tIns="0" rIns="0" bIns="0" rtlCol="0" anchor="ctr"/>
          <a:lstStyle/>
          <a:p>
            <a:pPr indent="0" marL="0">
              <a:buNone/>
            </a:pPr>
            <a:r>
              <a:rPr lang="en-US" sz="1200" b="1" spc="300" kern="0" dirty="0">
                <a:solidFill>
                  <a:srgbClr val="F0974A"/>
                </a:solidFill>
              </a:rPr>
              <a:t>01 · THE PROBLEM</a:t>
            </a:r>
            <a:endParaRPr lang="en-US" sz="1200" dirty="0"/>
          </a:p>
        </p:txBody>
      </p:sp>
      <p:sp>
        <p:nvSpPr>
          <p:cNvPr id="3" name="Text 0"/>
          <p:cNvSpPr/>
          <p:nvPr>
            <p:ph idx="101" type="title" hasCustomPrompt="1"/>
          </p:nvPr>
        </p:nvSpPr>
        <p:spPr>
          <a:xfrm>
            <a:off x="548640" y="713232"/>
            <a:ext cx="11094415" cy="713232"/>
          </a:xfrm>
          <a:prstGeom prst="rect">
            <a:avLst/>
          </a:prstGeom>
          <a:noFill/>
          <a:ln/>
        </p:spPr>
        <p:txBody>
          <a:bodyPr wrap="square" lIns="0" tIns="0" rIns="0" bIns="0" rtlCol="0" anchor="t"/>
          <a:lstStyle/>
          <a:p>
            <a:pPr algn="l" indent="0" marL="0">
              <a:buNone/>
            </a:pPr>
            <a:r>
              <a:rPr lang="en-US" sz="3000" b="1" dirty="0">
                <a:solidFill>
                  <a:srgbClr val="F7F5F0"/>
                </a:solidFill>
              </a:rPr>
              <a:t>Today’s dampers waste energy, ride worse when the coach is full, and see nothing</a:t>
            </a:r>
            <a:endParaRPr lang="en-US" sz="3000" dirty="0"/>
          </a:p>
        </p:txBody>
      </p:sp>
      <p:sp>
        <p:nvSpPr>
          <p:cNvPr id="4" name="Shape 2"/>
          <p:cNvSpPr/>
          <p:nvPr/>
        </p:nvSpPr>
        <p:spPr>
          <a:xfrm>
            <a:off x="548640" y="1828800"/>
            <a:ext cx="3545738" cy="2011680"/>
          </a:xfrm>
          <a:prstGeom prst="roundRect">
            <a:avLst>
              <a:gd name="adj" fmla="val 4545"/>
            </a:avLst>
          </a:prstGeom>
          <a:solidFill>
            <a:srgbClr val="1E3557"/>
          </a:solidFill>
          <a:ln/>
        </p:spPr>
      </p:sp>
      <p:sp>
        <p:nvSpPr>
          <p:cNvPr id="5" name="Text 3"/>
          <p:cNvSpPr txBox="1"/>
          <p:nvPr/>
        </p:nvSpPr>
        <p:spPr>
          <a:xfrm>
            <a:off x="822960" y="2029968"/>
            <a:ext cx="2997098" cy="640080"/>
          </a:xfrm>
          <a:prstGeom prst="rect">
            <a:avLst/>
          </a:prstGeom>
          <a:noFill/>
          <a:ln/>
        </p:spPr>
        <p:txBody>
          <a:bodyPr wrap="square" lIns="0" tIns="0" rIns="0" bIns="0" rtlCol="0" anchor="t"/>
          <a:lstStyle/>
          <a:p>
            <a:pPr indent="0" marL="0">
              <a:buNone/>
            </a:pPr>
            <a:r>
              <a:rPr lang="en-US" sz="3600" b="1" dirty="0">
                <a:solidFill>
                  <a:srgbClr val="F0974A"/>
                </a:solidFill>
              </a:rPr>
              <a:t>171</a:t>
            </a:r>
            <a:endParaRPr lang="en-US" sz="3600" dirty="0"/>
          </a:p>
        </p:txBody>
      </p:sp>
      <p:sp>
        <p:nvSpPr>
          <p:cNvPr id="6" name="Text 4"/>
          <p:cNvSpPr txBox="1"/>
          <p:nvPr/>
        </p:nvSpPr>
        <p:spPr>
          <a:xfrm>
            <a:off x="822960" y="2724912"/>
            <a:ext cx="2997098" cy="640080"/>
          </a:xfrm>
          <a:prstGeom prst="rect">
            <a:avLst/>
          </a:prstGeom>
          <a:noFill/>
          <a:ln/>
        </p:spPr>
        <p:txBody>
          <a:bodyPr wrap="square" lIns="0" tIns="0" rIns="0" bIns="0" rtlCol="0" anchor="t"/>
          <a:lstStyle/>
          <a:p>
            <a:pPr indent="0" marL="0">
              <a:buNone/>
            </a:pPr>
            <a:r>
              <a:rPr lang="en-US" sz="1500" dirty="0">
                <a:solidFill>
                  <a:srgbClr val="E4E8EE"/>
                </a:solidFill>
              </a:rPr>
              <a:t>derailments from poor track maintenance, 2017–21</a:t>
            </a:r>
            <a:endParaRPr lang="en-US" sz="1500" dirty="0"/>
          </a:p>
        </p:txBody>
      </p:sp>
      <p:sp>
        <p:nvSpPr>
          <p:cNvPr id="7" name="Text 5"/>
          <p:cNvSpPr txBox="1"/>
          <p:nvPr/>
        </p:nvSpPr>
        <p:spPr>
          <a:xfrm>
            <a:off x="822960" y="3401568"/>
            <a:ext cx="2997098" cy="320040"/>
          </a:xfrm>
          <a:prstGeom prst="rect">
            <a:avLst/>
          </a:prstGeom>
          <a:noFill/>
          <a:ln/>
        </p:spPr>
        <p:txBody>
          <a:bodyPr wrap="square" lIns="0" tIns="0" rIns="0" bIns="0" rtlCol="0" anchor="t"/>
          <a:lstStyle/>
          <a:p>
            <a:pPr indent="0" marL="0">
              <a:buNone/>
            </a:pPr>
            <a:r>
              <a:rPr lang="en-US" sz="1200" dirty="0">
                <a:solidFill>
                  <a:srgbClr val="9AA8BC"/>
                </a:solidFill>
              </a:rPr>
              <a:t>CAG Report 22 of 2022</a:t>
            </a:r>
            <a:endParaRPr lang="en-US" sz="1200" dirty="0"/>
          </a:p>
        </p:txBody>
      </p:sp>
      <p:sp>
        <p:nvSpPr>
          <p:cNvPr id="8" name="Shape 6"/>
          <p:cNvSpPr/>
          <p:nvPr/>
        </p:nvSpPr>
        <p:spPr>
          <a:xfrm>
            <a:off x="4322978" y="1828800"/>
            <a:ext cx="3545738" cy="2011680"/>
          </a:xfrm>
          <a:prstGeom prst="roundRect">
            <a:avLst>
              <a:gd name="adj" fmla="val 4545"/>
            </a:avLst>
          </a:prstGeom>
          <a:solidFill>
            <a:srgbClr val="1E3557"/>
          </a:solidFill>
          <a:ln/>
        </p:spPr>
      </p:sp>
      <p:sp>
        <p:nvSpPr>
          <p:cNvPr id="9" name="Text 7"/>
          <p:cNvSpPr txBox="1"/>
          <p:nvPr/>
        </p:nvSpPr>
        <p:spPr>
          <a:xfrm>
            <a:off x="4597298" y="2029968"/>
            <a:ext cx="2997098" cy="640080"/>
          </a:xfrm>
          <a:prstGeom prst="rect">
            <a:avLst/>
          </a:prstGeom>
          <a:noFill/>
          <a:ln/>
        </p:spPr>
        <p:txBody>
          <a:bodyPr wrap="square" lIns="0" tIns="0" rIns="0" bIns="0" rtlCol="0" anchor="t"/>
          <a:lstStyle/>
          <a:p>
            <a:pPr indent="0" marL="0">
              <a:buNone/>
            </a:pPr>
            <a:r>
              <a:rPr lang="en-US" sz="3600" b="1" dirty="0">
                <a:solidFill>
                  <a:srgbClr val="F0974A"/>
                </a:solidFill>
              </a:rPr>
              <a:t>≈ 3 / day</a:t>
            </a:r>
            <a:endParaRPr lang="en-US" sz="3600" dirty="0"/>
          </a:p>
        </p:txBody>
      </p:sp>
      <p:sp>
        <p:nvSpPr>
          <p:cNvPr id="10" name="Text 8"/>
          <p:cNvSpPr txBox="1"/>
          <p:nvPr/>
        </p:nvSpPr>
        <p:spPr>
          <a:xfrm>
            <a:off x="4597298" y="2724912"/>
            <a:ext cx="2997098" cy="640080"/>
          </a:xfrm>
          <a:prstGeom prst="rect">
            <a:avLst/>
          </a:prstGeom>
          <a:noFill/>
          <a:ln/>
        </p:spPr>
        <p:txBody>
          <a:bodyPr wrap="square" lIns="0" tIns="0" rIns="0" bIns="0" rtlCol="0" anchor="t"/>
          <a:lstStyle/>
          <a:p>
            <a:pPr indent="0" marL="0">
              <a:buNone/>
            </a:pPr>
            <a:r>
              <a:rPr lang="en-US" sz="1500" dirty="0">
                <a:solidFill>
                  <a:srgbClr val="E4E8EE"/>
                </a:solidFill>
              </a:rPr>
              <a:t>hot-axle cases, checked at only ~25 trackside sites</a:t>
            </a:r>
            <a:endParaRPr lang="en-US" sz="1500" dirty="0"/>
          </a:p>
        </p:txBody>
      </p:sp>
      <p:sp>
        <p:nvSpPr>
          <p:cNvPr id="11" name="Text 9"/>
          <p:cNvSpPr txBox="1"/>
          <p:nvPr/>
        </p:nvSpPr>
        <p:spPr>
          <a:xfrm>
            <a:off x="4597298" y="3401568"/>
            <a:ext cx="2997098" cy="320040"/>
          </a:xfrm>
          <a:prstGeom prst="rect">
            <a:avLst/>
          </a:prstGeom>
          <a:noFill/>
          <a:ln/>
        </p:spPr>
        <p:txBody>
          <a:bodyPr wrap="square" lIns="0" tIns="0" rIns="0" bIns="0" rtlCol="0" anchor="t"/>
          <a:lstStyle/>
          <a:p>
            <a:pPr indent="0" marL="0">
              <a:buNone/>
            </a:pPr>
            <a:r>
              <a:rPr lang="en-US" sz="1200" dirty="0">
                <a:solidFill>
                  <a:srgbClr val="9AA8BC"/>
                </a:solidFill>
              </a:rPr>
              <a:t>Railway Board, 2025</a:t>
            </a:r>
            <a:endParaRPr lang="en-US" sz="1200" dirty="0"/>
          </a:p>
        </p:txBody>
      </p:sp>
      <p:sp>
        <p:nvSpPr>
          <p:cNvPr id="12" name="Shape 10"/>
          <p:cNvSpPr/>
          <p:nvPr/>
        </p:nvSpPr>
        <p:spPr>
          <a:xfrm>
            <a:off x="8097317" y="1828800"/>
            <a:ext cx="3545738" cy="2011680"/>
          </a:xfrm>
          <a:prstGeom prst="roundRect">
            <a:avLst>
              <a:gd name="adj" fmla="val 4545"/>
            </a:avLst>
          </a:prstGeom>
          <a:solidFill>
            <a:srgbClr val="1E3557"/>
          </a:solidFill>
          <a:ln/>
        </p:spPr>
      </p:sp>
      <p:sp>
        <p:nvSpPr>
          <p:cNvPr id="13" name="Text 11"/>
          <p:cNvSpPr txBox="1"/>
          <p:nvPr/>
        </p:nvSpPr>
        <p:spPr>
          <a:xfrm>
            <a:off x="8371637" y="2029968"/>
            <a:ext cx="2997098" cy="640080"/>
          </a:xfrm>
          <a:prstGeom prst="rect">
            <a:avLst/>
          </a:prstGeom>
          <a:noFill/>
          <a:ln/>
        </p:spPr>
        <p:txBody>
          <a:bodyPr wrap="square" lIns="0" tIns="0" rIns="0" bIns="0" rtlCol="0" anchor="t"/>
          <a:lstStyle/>
          <a:p>
            <a:pPr indent="0" marL="0">
              <a:buNone/>
            </a:pPr>
            <a:r>
              <a:rPr lang="en-US" sz="3600" b="1" dirty="0">
                <a:solidFill>
                  <a:srgbClr val="F0974A"/>
                </a:solidFill>
              </a:rPr>
              <a:t>643</a:t>
            </a:r>
            <a:endParaRPr lang="en-US" sz="3600" dirty="0"/>
          </a:p>
        </p:txBody>
      </p:sp>
      <p:sp>
        <p:nvSpPr>
          <p:cNvPr id="14" name="Text 12"/>
          <p:cNvSpPr txBox="1"/>
          <p:nvPr/>
        </p:nvSpPr>
        <p:spPr>
          <a:xfrm>
            <a:off x="8371637" y="2724912"/>
            <a:ext cx="2997098" cy="640080"/>
          </a:xfrm>
          <a:prstGeom prst="rect">
            <a:avLst/>
          </a:prstGeom>
          <a:noFill/>
          <a:ln/>
        </p:spPr>
        <p:txBody>
          <a:bodyPr wrap="square" lIns="0" tIns="0" rIns="0" bIns="0" rtlCol="0" anchor="t"/>
          <a:lstStyle/>
          <a:p>
            <a:pPr indent="0" marL="0">
              <a:buNone/>
            </a:pPr>
            <a:r>
              <a:rPr lang="en-US" sz="1500" dirty="0">
                <a:solidFill>
                  <a:srgbClr val="E4E8EE"/>
                </a:solidFill>
              </a:rPr>
              <a:t>train partings + 2,059 wagon detachments, 2018–19</a:t>
            </a:r>
            <a:endParaRPr lang="en-US" sz="1500" dirty="0"/>
          </a:p>
        </p:txBody>
      </p:sp>
      <p:sp>
        <p:nvSpPr>
          <p:cNvPr id="15" name="Text 13"/>
          <p:cNvSpPr txBox="1"/>
          <p:nvPr/>
        </p:nvSpPr>
        <p:spPr>
          <a:xfrm>
            <a:off x="8371637" y="3401568"/>
            <a:ext cx="2997098" cy="320040"/>
          </a:xfrm>
          <a:prstGeom prst="rect">
            <a:avLst/>
          </a:prstGeom>
          <a:noFill/>
          <a:ln/>
        </p:spPr>
        <p:txBody>
          <a:bodyPr wrap="square" lIns="0" tIns="0" rIns="0" bIns="0" rtlCol="0" anchor="t"/>
          <a:lstStyle/>
          <a:p>
            <a:pPr indent="0" marL="0">
              <a:buNone/>
            </a:pPr>
            <a:r>
              <a:rPr lang="en-US" sz="1200" dirty="0">
                <a:solidFill>
                  <a:srgbClr val="9AA8BC"/>
                </a:solidFill>
              </a:rPr>
              <a:t>Seen only at the last wagon</a:t>
            </a:r>
            <a:endParaRPr lang="en-US" sz="1200" dirty="0"/>
          </a:p>
        </p:txBody>
      </p:sp>
      <p:sp>
        <p:nvSpPr>
          <p:cNvPr id="16" name="Shape 14"/>
          <p:cNvSpPr/>
          <p:nvPr/>
        </p:nvSpPr>
        <p:spPr>
          <a:xfrm>
            <a:off x="548640" y="4069080"/>
            <a:ext cx="3545738" cy="2011680"/>
          </a:xfrm>
          <a:prstGeom prst="roundRect">
            <a:avLst>
              <a:gd name="adj" fmla="val 4545"/>
            </a:avLst>
          </a:prstGeom>
          <a:solidFill>
            <a:srgbClr val="1E3557"/>
          </a:solidFill>
          <a:ln/>
        </p:spPr>
      </p:sp>
      <p:sp>
        <p:nvSpPr>
          <p:cNvPr id="17" name="Text 15"/>
          <p:cNvSpPr txBox="1"/>
          <p:nvPr/>
        </p:nvSpPr>
        <p:spPr>
          <a:xfrm>
            <a:off x="822960" y="4270248"/>
            <a:ext cx="2997098" cy="640080"/>
          </a:xfrm>
          <a:prstGeom prst="rect">
            <a:avLst/>
          </a:prstGeom>
          <a:noFill/>
          <a:ln/>
        </p:spPr>
        <p:txBody>
          <a:bodyPr wrap="square" lIns="0" tIns="0" rIns="0" bIns="0" rtlCol="0" anchor="t"/>
          <a:lstStyle/>
          <a:p>
            <a:pPr indent="0" marL="0">
              <a:buNone/>
            </a:pPr>
            <a:r>
              <a:rPr lang="en-US" sz="3600" b="1" dirty="0">
                <a:solidFill>
                  <a:srgbClr val="5FC4B6"/>
                </a:solidFill>
              </a:rPr>
              <a:t>17–30%</a:t>
            </a:r>
            <a:endParaRPr lang="en-US" sz="3600" dirty="0"/>
          </a:p>
        </p:txBody>
      </p:sp>
      <p:sp>
        <p:nvSpPr>
          <p:cNvPr id="18" name="Text 16"/>
          <p:cNvSpPr txBox="1"/>
          <p:nvPr/>
        </p:nvSpPr>
        <p:spPr>
          <a:xfrm>
            <a:off x="822960" y="4965192"/>
            <a:ext cx="2997098" cy="640080"/>
          </a:xfrm>
          <a:prstGeom prst="rect">
            <a:avLst/>
          </a:prstGeom>
          <a:noFill/>
          <a:ln/>
        </p:spPr>
        <p:txBody>
          <a:bodyPr wrap="square" lIns="0" tIns="0" rIns="0" bIns="0" rtlCol="0" anchor="t"/>
          <a:lstStyle/>
          <a:p>
            <a:pPr indent="0" marL="0">
              <a:buNone/>
            </a:pPr>
            <a:r>
              <a:rPr lang="en-US" sz="1500" dirty="0">
                <a:solidFill>
                  <a:srgbClr val="E4E8EE"/>
                </a:solidFill>
              </a:rPr>
              <a:t>of damping lost as a fixed-damper coach fills up</a:t>
            </a:r>
            <a:endParaRPr lang="en-US" sz="1500" dirty="0"/>
          </a:p>
        </p:txBody>
      </p:sp>
      <p:sp>
        <p:nvSpPr>
          <p:cNvPr id="19" name="Text 17"/>
          <p:cNvSpPr txBox="1"/>
          <p:nvPr/>
        </p:nvSpPr>
        <p:spPr>
          <a:xfrm>
            <a:off x="822960" y="5641848"/>
            <a:ext cx="2997098" cy="320040"/>
          </a:xfrm>
          <a:prstGeom prst="rect">
            <a:avLst/>
          </a:prstGeom>
          <a:noFill/>
          <a:ln/>
        </p:spPr>
        <p:txBody>
          <a:bodyPr wrap="square" lIns="0" tIns="0" rIns="0" bIns="0" rtlCol="0" anchor="t"/>
          <a:lstStyle/>
          <a:p>
            <a:pPr indent="0" marL="0">
              <a:buNone/>
            </a:pPr>
            <a:r>
              <a:rPr lang="en-US" sz="1200" dirty="0">
                <a:solidFill>
                  <a:srgbClr val="9AA8BC"/>
                </a:solidFill>
              </a:rPr>
              <a:t>Our simulation, Stage 1</a:t>
            </a:r>
            <a:endParaRPr lang="en-US" sz="1200" dirty="0"/>
          </a:p>
        </p:txBody>
      </p:sp>
      <p:sp>
        <p:nvSpPr>
          <p:cNvPr id="20" name="Shape 18"/>
          <p:cNvSpPr/>
          <p:nvPr/>
        </p:nvSpPr>
        <p:spPr>
          <a:xfrm>
            <a:off x="4322978" y="4069080"/>
            <a:ext cx="3545738" cy="2011680"/>
          </a:xfrm>
          <a:prstGeom prst="roundRect">
            <a:avLst>
              <a:gd name="adj" fmla="val 4545"/>
            </a:avLst>
          </a:prstGeom>
          <a:solidFill>
            <a:srgbClr val="1E3557"/>
          </a:solidFill>
          <a:ln/>
        </p:spPr>
      </p:sp>
      <p:sp>
        <p:nvSpPr>
          <p:cNvPr id="21" name="Text 19"/>
          <p:cNvSpPr txBox="1"/>
          <p:nvPr/>
        </p:nvSpPr>
        <p:spPr>
          <a:xfrm>
            <a:off x="4597298" y="4270248"/>
            <a:ext cx="2997098" cy="640080"/>
          </a:xfrm>
          <a:prstGeom prst="rect">
            <a:avLst/>
          </a:prstGeom>
          <a:noFill/>
          <a:ln/>
        </p:spPr>
        <p:txBody>
          <a:bodyPr wrap="square" lIns="0" tIns="0" rIns="0" bIns="0" rtlCol="0" anchor="t"/>
          <a:lstStyle/>
          <a:p>
            <a:pPr indent="0" marL="0">
              <a:buNone/>
            </a:pPr>
            <a:r>
              <a:rPr lang="en-US" sz="3600" b="1" dirty="0">
                <a:solidFill>
                  <a:srgbClr val="5FC4B6"/>
                </a:solidFill>
              </a:rPr>
              <a:t>20–90 W</a:t>
            </a:r>
            <a:endParaRPr lang="en-US" sz="3600" dirty="0"/>
          </a:p>
        </p:txBody>
      </p:sp>
      <p:sp>
        <p:nvSpPr>
          <p:cNvPr id="22" name="Text 20"/>
          <p:cNvSpPr txBox="1"/>
          <p:nvPr/>
        </p:nvSpPr>
        <p:spPr>
          <a:xfrm>
            <a:off x="4597298" y="4965192"/>
            <a:ext cx="2997098" cy="640080"/>
          </a:xfrm>
          <a:prstGeom prst="rect">
            <a:avLst/>
          </a:prstGeom>
          <a:noFill/>
          <a:ln/>
        </p:spPr>
        <p:txBody>
          <a:bodyPr wrap="square" lIns="0" tIns="0" rIns="0" bIns="0" rtlCol="0" anchor="t"/>
          <a:lstStyle/>
          <a:p>
            <a:pPr indent="0" marL="0">
              <a:buNone/>
            </a:pPr>
            <a:r>
              <a:rPr lang="en-US" sz="1500" dirty="0">
                <a:solidFill>
                  <a:srgbClr val="E4E8EE"/>
                </a:solidFill>
              </a:rPr>
              <a:t>per coach bogie burned as heat by today’s dampers</a:t>
            </a:r>
            <a:endParaRPr lang="en-US" sz="1500" dirty="0"/>
          </a:p>
        </p:txBody>
      </p:sp>
      <p:sp>
        <p:nvSpPr>
          <p:cNvPr id="23" name="Text 21"/>
          <p:cNvSpPr txBox="1"/>
          <p:nvPr/>
        </p:nvSpPr>
        <p:spPr>
          <a:xfrm>
            <a:off x="4597298" y="5641848"/>
            <a:ext cx="2997098" cy="320040"/>
          </a:xfrm>
          <a:prstGeom prst="rect">
            <a:avLst/>
          </a:prstGeom>
          <a:noFill/>
          <a:ln/>
        </p:spPr>
        <p:txBody>
          <a:bodyPr wrap="square" lIns="0" tIns="0" rIns="0" bIns="0" rtlCol="0" anchor="t"/>
          <a:lstStyle/>
          <a:p>
            <a:pPr indent="0" marL="0">
              <a:buNone/>
            </a:pPr>
            <a:r>
              <a:rPr lang="en-US" sz="1200" dirty="0">
                <a:solidFill>
                  <a:srgbClr val="9AA8BC"/>
                </a:solidFill>
              </a:rPr>
              <a:t>≈ 210 W per loaded wagon bogie · Stage 1</a:t>
            </a:r>
            <a:endParaRPr lang="en-US" sz="1200" dirty="0"/>
          </a:p>
        </p:txBody>
      </p:sp>
      <p:sp>
        <p:nvSpPr>
          <p:cNvPr id="24" name="Shape 22"/>
          <p:cNvSpPr/>
          <p:nvPr/>
        </p:nvSpPr>
        <p:spPr>
          <a:xfrm>
            <a:off x="8097317" y="4069080"/>
            <a:ext cx="3545738" cy="2011680"/>
          </a:xfrm>
          <a:prstGeom prst="roundRect">
            <a:avLst>
              <a:gd name="adj" fmla="val 4545"/>
            </a:avLst>
          </a:prstGeom>
          <a:solidFill>
            <a:srgbClr val="1E3557"/>
          </a:solidFill>
          <a:ln/>
        </p:spPr>
      </p:sp>
      <p:sp>
        <p:nvSpPr>
          <p:cNvPr id="25" name="Text 23"/>
          <p:cNvSpPr txBox="1"/>
          <p:nvPr/>
        </p:nvSpPr>
        <p:spPr>
          <a:xfrm>
            <a:off x="8371637" y="4270248"/>
            <a:ext cx="2997098" cy="640080"/>
          </a:xfrm>
          <a:prstGeom prst="rect">
            <a:avLst/>
          </a:prstGeom>
          <a:noFill/>
          <a:ln/>
        </p:spPr>
        <p:txBody>
          <a:bodyPr wrap="square" lIns="0" tIns="0" rIns="0" bIns="0" rtlCol="0" anchor="t"/>
          <a:lstStyle/>
          <a:p>
            <a:pPr indent="0" marL="0">
              <a:buNone/>
            </a:pPr>
            <a:r>
              <a:rPr lang="en-US" sz="3600" b="1" dirty="0">
                <a:solidFill>
                  <a:srgbClr val="5FC4B6"/>
                </a:solidFill>
              </a:rPr>
              <a:t>0 W</a:t>
            </a:r>
            <a:endParaRPr lang="en-US" sz="3600" dirty="0"/>
          </a:p>
        </p:txBody>
      </p:sp>
      <p:sp>
        <p:nvSpPr>
          <p:cNvPr id="26" name="Text 24"/>
          <p:cNvSpPr txBox="1"/>
          <p:nvPr/>
        </p:nvSpPr>
        <p:spPr>
          <a:xfrm>
            <a:off x="8371637" y="4965192"/>
            <a:ext cx="2997098" cy="640080"/>
          </a:xfrm>
          <a:prstGeom prst="rect">
            <a:avLst/>
          </a:prstGeom>
          <a:noFill/>
          <a:ln/>
        </p:spPr>
        <p:txBody>
          <a:bodyPr wrap="square" lIns="0" tIns="0" rIns="0" bIns="0" rtlCol="0" anchor="t"/>
          <a:lstStyle/>
          <a:p>
            <a:pPr indent="0" marL="0">
              <a:buNone/>
            </a:pPr>
            <a:r>
              <a:rPr lang="en-US" sz="1500" dirty="0">
                <a:solidFill>
                  <a:srgbClr val="E4E8EE"/>
                </a:solidFill>
              </a:rPr>
              <a:t>of electricity on goods wagons — so no sensors at all</a:t>
            </a:r>
            <a:endParaRPr lang="en-US" sz="1500" dirty="0"/>
          </a:p>
        </p:txBody>
      </p:sp>
      <p:sp>
        <p:nvSpPr>
          <p:cNvPr id="27" name="Text 25"/>
          <p:cNvSpPr txBox="1"/>
          <p:nvPr/>
        </p:nvSpPr>
        <p:spPr>
          <a:xfrm>
            <a:off x="8371637" y="5641848"/>
            <a:ext cx="2997098" cy="320040"/>
          </a:xfrm>
          <a:prstGeom prst="rect">
            <a:avLst/>
          </a:prstGeom>
          <a:noFill/>
          <a:ln/>
        </p:spPr>
        <p:txBody>
          <a:bodyPr wrap="square" lIns="0" tIns="0" rIns="0" bIns="0" rtlCol="0" anchor="t"/>
          <a:lstStyle/>
          <a:p>
            <a:pPr indent="0" marL="0">
              <a:buNone/>
            </a:pPr>
            <a:r>
              <a:rPr lang="en-US" sz="1200" dirty="0">
                <a:solidFill>
                  <a:srgbClr val="9AA8BC"/>
                </a:solidFill>
              </a:rPr>
              <a:t>Indian Railways freight stock</a:t>
            </a:r>
            <a:endParaRPr lang="en-US" sz="1200" dirty="0"/>
          </a:p>
        </p:txBody>
      </p:sp>
      <p:sp>
        <p:nvSpPr>
          <p:cNvPr id="25" name="Slide Number Placeholder 0"/>
          <p:cNvSpPr>
            <a:spLocks noGrp="1"/>
          </p:cNvSpPr>
          <p:nvPr>
            <p:ph type="sldNum" sz="quarter" idx="4294967295"/>
          </p:nvPr>
        </p:nvSpPr>
        <p:spPr>
          <a:xfrm>
            <a:off x="11155680" y="6419088"/>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8B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310896"/>
          </a:xfrm>
          <a:prstGeom prst="rect">
            <a:avLst/>
          </a:prstGeom>
          <a:noFill/>
          <a:ln/>
        </p:spPr>
        <p:txBody>
          <a:bodyPr wrap="square" lIns="0" tIns="0" rIns="0" bIns="0" rtlCol="0" anchor="ctr"/>
          <a:lstStyle/>
          <a:p>
            <a:pPr indent="0" marL="0">
              <a:buNone/>
            </a:pPr>
            <a:r>
              <a:rPr lang="en-US" sz="1200" b="1" spc="300" kern="0" dirty="0">
                <a:solidFill>
                  <a:srgbClr val="A8520F"/>
                </a:solidFill>
              </a:rPr>
              <a:t>01 · THE PROBLEM</a:t>
            </a:r>
            <a:endParaRPr lang="en-US" sz="1200" dirty="0"/>
          </a:p>
        </p:txBody>
      </p:sp>
      <p:sp>
        <p:nvSpPr>
          <p:cNvPr id="3" name="Text 0"/>
          <p:cNvSpPr/>
          <p:nvPr>
            <p:ph idx="101" type="title" hasCustomPrompt="1"/>
          </p:nvPr>
        </p:nvSpPr>
        <p:spPr>
          <a:xfrm>
            <a:off x="548640" y="713232"/>
            <a:ext cx="11094415" cy="713232"/>
          </a:xfrm>
          <a:prstGeom prst="rect">
            <a:avLst/>
          </a:prstGeom>
          <a:noFill/>
          <a:ln/>
        </p:spPr>
        <p:txBody>
          <a:bodyPr wrap="square" lIns="0" tIns="0" rIns="0" bIns="0" rtlCol="0" anchor="t"/>
          <a:lstStyle/>
          <a:p>
            <a:pPr algn="l" indent="0" marL="0">
              <a:buNone/>
            </a:pPr>
            <a:r>
              <a:rPr lang="en-US" sz="3000" b="1" dirty="0">
                <a:solidFill>
                  <a:srgbClr val="13233A"/>
                </a:solidFill>
              </a:rPr>
              <a:t>Today’s bogie: a passive damper tuned for one load</a:t>
            </a:r>
            <a:endParaRPr lang="en-US" sz="3000" dirty="0"/>
          </a:p>
        </p:txBody>
      </p:sp>
      <p:pic>
        <p:nvPicPr>
          <p:cNvPr id="4" name="casnub" descr="Casnub bogie of a BOXN goods wagon">    </p:cNvPr>
          <p:cNvPicPr>
            <a:picLocks noChangeAspect="1"/>
          </p:cNvPicPr>
          <p:nvPr/>
        </p:nvPicPr>
        <p:blipFill>
          <a:blip r:embed="rId1"/>
          <a:srcRect l="0" r="0" t="0" b="0"/>
          <a:stretch/>
        </p:blipFill>
        <p:spPr>
          <a:xfrm>
            <a:off x="548640" y="1600200"/>
            <a:ext cx="3576218" cy="1828800"/>
          </a:xfrm>
          <a:prstGeom prst="rect">
            <a:avLst/>
          </a:prstGeom>
        </p:spPr>
      </p:pic>
      <p:pic>
        <p:nvPicPr>
          <p:cNvPr id="5" name="goods" descr="Indian goods train">    </p:cNvPr>
          <p:cNvPicPr>
            <a:picLocks noChangeAspect="1"/>
          </p:cNvPicPr>
          <p:nvPr/>
        </p:nvPicPr>
        <p:blipFill>
          <a:blip r:embed="rId2"/>
          <a:srcRect l="0" r="0" t="0" b="0"/>
          <a:stretch/>
        </p:blipFill>
        <p:spPr>
          <a:xfrm>
            <a:off x="4307738" y="1600200"/>
            <a:ext cx="3576218" cy="1828800"/>
          </a:xfrm>
          <a:prstGeom prst="rect">
            <a:avLst/>
          </a:prstGeom>
        </p:spPr>
      </p:pic>
      <p:pic>
        <p:nvPicPr>
          <p:cNvPr id="6" name="air" descr="LHB coach bogie air spring">    </p:cNvPr>
          <p:cNvPicPr>
            <a:picLocks noChangeAspect="1"/>
          </p:cNvPicPr>
          <p:nvPr/>
        </p:nvPicPr>
        <p:blipFill>
          <a:blip r:embed="rId3"/>
          <a:srcRect l="0" r="0" t="0" b="0"/>
          <a:stretch/>
        </p:blipFill>
        <p:spPr>
          <a:xfrm>
            <a:off x="8066837" y="1600200"/>
            <a:ext cx="3576218" cy="1828800"/>
          </a:xfrm>
          <a:prstGeom prst="rect">
            <a:avLst/>
          </a:prstGeom>
        </p:spPr>
      </p:pic>
      <p:sp>
        <p:nvSpPr>
          <p:cNvPr id="7" name="zeta frame"/>
          <p:cNvSpPr/>
          <p:nvPr/>
        </p:nvSpPr>
        <p:spPr>
          <a:xfrm>
            <a:off x="548640" y="3611880"/>
            <a:ext cx="5410048" cy="2240280"/>
          </a:xfrm>
          <a:prstGeom prst="roundRect">
            <a:avLst>
              <a:gd name="adj" fmla="val 3265"/>
            </a:avLst>
          </a:prstGeom>
          <a:solidFill>
            <a:srgbClr val="FFFFFF"/>
          </a:solidFill>
          <a:ln w="9525">
            <a:solidFill>
              <a:srgbClr val="E3E0D6"/>
            </a:solidFill>
            <a:prstDash val="solid"/>
          </a:ln>
        </p:spPr>
      </p:sp>
      <p:pic>
        <p:nvPicPr>
          <p:cNvPr id="8" name="zeta" descr="Damping ratio falls as load rises on LHB, Vande Bharat and ICF">    </p:cNvPr>
          <p:cNvPicPr>
            <a:picLocks noChangeAspect="1"/>
          </p:cNvPicPr>
          <p:nvPr/>
        </p:nvPicPr>
        <p:blipFill>
          <a:blip r:embed="rId4"/>
          <a:stretch>
            <a:fillRect/>
          </a:stretch>
        </p:blipFill>
        <p:spPr>
          <a:xfrm>
            <a:off x="1287653" y="3685032"/>
            <a:ext cx="3932022" cy="2093976"/>
          </a:xfrm>
          <a:prstGeom prst="rect">
            <a:avLst/>
          </a:prstGeom>
        </p:spPr>
      </p:pic>
      <p:sp>
        <p:nvSpPr>
          <p:cNvPr id="9" name="heat frame"/>
          <p:cNvSpPr/>
          <p:nvPr/>
        </p:nvSpPr>
        <p:spPr>
          <a:xfrm>
            <a:off x="6233008" y="3611880"/>
            <a:ext cx="5410048" cy="2240280"/>
          </a:xfrm>
          <a:prstGeom prst="roundRect">
            <a:avLst>
              <a:gd name="adj" fmla="val 3265"/>
            </a:avLst>
          </a:prstGeom>
          <a:solidFill>
            <a:srgbClr val="FFFFFF"/>
          </a:solidFill>
          <a:ln w="9525">
            <a:solidFill>
              <a:srgbClr val="E3E0D6"/>
            </a:solidFill>
            <a:prstDash val="solid"/>
          </a:ln>
        </p:spPr>
      </p:sp>
      <p:pic>
        <p:nvPicPr>
          <p:cNvPr id="10" name="heat" descr="Heat wasted by today's dampers per bogie">    </p:cNvPr>
          <p:cNvPicPr>
            <a:picLocks noChangeAspect="1"/>
          </p:cNvPicPr>
          <p:nvPr/>
        </p:nvPicPr>
        <p:blipFill>
          <a:blip r:embed="rId5"/>
          <a:stretch>
            <a:fillRect/>
          </a:stretch>
        </p:blipFill>
        <p:spPr>
          <a:xfrm>
            <a:off x="6886287" y="3685032"/>
            <a:ext cx="4103489" cy="2093976"/>
          </a:xfrm>
          <a:prstGeom prst="rect">
            <a:avLst/>
          </a:prstGeom>
        </p:spPr>
      </p:pic>
      <p:sp>
        <p:nvSpPr>
          <p:cNvPr id="11" name="Text 4"/>
          <p:cNvSpPr txBox="1"/>
          <p:nvPr/>
        </p:nvSpPr>
        <p:spPr>
          <a:xfrm>
            <a:off x="548640" y="5943600"/>
            <a:ext cx="5410048" cy="365760"/>
          </a:xfrm>
          <a:prstGeom prst="rect">
            <a:avLst/>
          </a:prstGeom>
          <a:noFill/>
          <a:ln/>
        </p:spPr>
        <p:txBody>
          <a:bodyPr wrap="square" lIns="0" tIns="0" rIns="0" bIns="0" rtlCol="0" anchor="t"/>
          <a:lstStyle/>
          <a:p>
            <a:pPr indent="0" marL="0">
              <a:buNone/>
            </a:pPr>
            <a:r>
              <a:rPr lang="en-US" sz="1400" b="1" dirty="0">
                <a:solidFill>
                  <a:srgbClr val="13233A"/>
                </a:solidFill>
              </a:rPr>
              <a:t>Comfort falls with load: </a:t>
            </a:r>
            <a:pPr indent="0" marL="0">
              <a:buNone/>
            </a:pPr>
            <a:r>
              <a:rPr lang="en-US" sz="1400" dirty="0">
                <a:solidFill>
                  <a:srgbClr val="3D4A5C"/>
                </a:solidFill>
              </a:rPr>
              <a:t>damping ratio 0.14 → 0.10 on LHB as passengers board.</a:t>
            </a:r>
            <a:endParaRPr lang="en-US" sz="1400" dirty="0"/>
          </a:p>
        </p:txBody>
      </p:sp>
      <p:sp>
        <p:nvSpPr>
          <p:cNvPr id="12" name="Text 5"/>
          <p:cNvSpPr txBox="1"/>
          <p:nvPr/>
        </p:nvSpPr>
        <p:spPr>
          <a:xfrm>
            <a:off x="6233008" y="5943600"/>
            <a:ext cx="5410048" cy="365760"/>
          </a:xfrm>
          <a:prstGeom prst="rect">
            <a:avLst/>
          </a:prstGeom>
          <a:noFill/>
          <a:ln/>
        </p:spPr>
        <p:txBody>
          <a:bodyPr wrap="square" lIns="0" tIns="0" rIns="0" bIns="0" rtlCol="0" anchor="t"/>
          <a:lstStyle/>
          <a:p>
            <a:pPr indent="0" marL="0">
              <a:buNone/>
            </a:pPr>
            <a:r>
              <a:rPr lang="en-US" sz="1400" b="1" dirty="0">
                <a:solidFill>
                  <a:srgbClr val="13233A"/>
                </a:solidFill>
              </a:rPr>
              <a:t>Energy thrown away: </a:t>
            </a:r>
            <a:pPr indent="0" marL="0">
              <a:buNone/>
            </a:pPr>
            <a:r>
              <a:rPr lang="en-US" sz="1400" dirty="0">
                <a:solidFill>
                  <a:srgbClr val="3D4A5C"/>
                </a:solidFill>
              </a:rPr>
              <a:t>64–73 W per LHB bogie, 214 W per loaded BOXN bogie.</a:t>
            </a:r>
            <a:endParaRPr lang="en-US" sz="1400" dirty="0"/>
          </a:p>
        </p:txBody>
      </p:sp>
      <p:sp>
        <p:nvSpPr>
          <p:cNvPr id="25" name="Slide Number Placeholder 0"/>
          <p:cNvSpPr>
            <a:spLocks noGrp="1"/>
          </p:cNvSpPr>
          <p:nvPr>
            <p:ph type="sldNum" sz="quarter" idx="4294967295"/>
          </p:nvPr>
        </p:nvSpPr>
        <p:spPr>
          <a:xfrm>
            <a:off x="11155680" y="6419088"/>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310896"/>
          </a:xfrm>
          <a:prstGeom prst="rect">
            <a:avLst/>
          </a:prstGeom>
          <a:noFill/>
          <a:ln/>
        </p:spPr>
        <p:txBody>
          <a:bodyPr wrap="square" lIns="0" tIns="0" rIns="0" bIns="0" rtlCol="0" anchor="ctr"/>
          <a:lstStyle/>
          <a:p>
            <a:pPr indent="0" marL="0">
              <a:buNone/>
            </a:pPr>
            <a:r>
              <a:rPr lang="en-US" sz="1200" b="1" spc="300" kern="0" dirty="0">
                <a:solidFill>
                  <a:srgbClr val="A8520F"/>
                </a:solidFill>
              </a:rPr>
              <a:t>02 · THE SOLUTION</a:t>
            </a:r>
            <a:endParaRPr lang="en-US" sz="1200" dirty="0"/>
          </a:p>
        </p:txBody>
      </p:sp>
      <p:sp>
        <p:nvSpPr>
          <p:cNvPr id="3" name="Text 0"/>
          <p:cNvSpPr/>
          <p:nvPr>
            <p:ph idx="101" type="title" hasCustomPrompt="1"/>
          </p:nvPr>
        </p:nvSpPr>
        <p:spPr>
          <a:xfrm>
            <a:off x="548640" y="713232"/>
            <a:ext cx="11094415" cy="713232"/>
          </a:xfrm>
          <a:prstGeom prst="rect">
            <a:avLst/>
          </a:prstGeom>
          <a:noFill/>
          <a:ln/>
        </p:spPr>
        <p:txBody>
          <a:bodyPr wrap="square" lIns="0" tIns="0" rIns="0" bIns="0" rtlCol="0" anchor="t"/>
          <a:lstStyle/>
          <a:p>
            <a:pPr algn="l" indent="0" marL="0">
              <a:buNone/>
            </a:pPr>
            <a:r>
              <a:rPr lang="en-US" sz="3000" b="1" dirty="0">
                <a:solidFill>
                  <a:srgbClr val="13233A"/>
                </a:solidFill>
              </a:rPr>
              <a:t>One smart electromagnetic damper. Five jobs.</a:t>
            </a:r>
            <a:endParaRPr lang="en-US" sz="3000" dirty="0"/>
          </a:p>
        </p:txBody>
      </p:sp>
      <p:sp>
        <p:nvSpPr>
          <p:cNvPr id="4" name="damper frame"/>
          <p:cNvSpPr/>
          <p:nvPr/>
        </p:nvSpPr>
        <p:spPr>
          <a:xfrm>
            <a:off x="548640" y="1417320"/>
            <a:ext cx="5212080" cy="3611880"/>
          </a:xfrm>
          <a:prstGeom prst="roundRect">
            <a:avLst>
              <a:gd name="adj" fmla="val 2025"/>
            </a:avLst>
          </a:prstGeom>
          <a:solidFill>
            <a:srgbClr val="FFFFFF"/>
          </a:solidFill>
          <a:ln w="9525">
            <a:solidFill>
              <a:srgbClr val="E3E0D6"/>
            </a:solidFill>
            <a:prstDash val="solid"/>
          </a:ln>
        </p:spPr>
      </p:sp>
      <p:pic>
        <p:nvPicPr>
          <p:cNvPr id="5" name="damper" descr="Smart damper concept: magnet stack moving through a fixed copper coil">    </p:cNvPr>
          <p:cNvPicPr>
            <a:picLocks noChangeAspect="1"/>
          </p:cNvPicPr>
          <p:nvPr/>
        </p:nvPicPr>
        <p:blipFill>
          <a:blip r:embed="rId1"/>
          <a:stretch>
            <a:fillRect/>
          </a:stretch>
        </p:blipFill>
        <p:spPr>
          <a:xfrm>
            <a:off x="703623" y="1490472"/>
            <a:ext cx="4902113" cy="3465576"/>
          </a:xfrm>
          <a:prstGeom prst="rect">
            <a:avLst/>
          </a:prstGeom>
        </p:spPr>
      </p:pic>
      <p:sp>
        <p:nvSpPr>
          <p:cNvPr id="6" name="phys frame"/>
          <p:cNvSpPr/>
          <p:nvPr/>
        </p:nvSpPr>
        <p:spPr>
          <a:xfrm>
            <a:off x="5943600" y="1417320"/>
            <a:ext cx="5699455" cy="3611880"/>
          </a:xfrm>
          <a:prstGeom prst="roundRect">
            <a:avLst>
              <a:gd name="adj" fmla="val 2025"/>
            </a:avLst>
          </a:prstGeom>
          <a:solidFill>
            <a:srgbClr val="FFFFFF"/>
          </a:solidFill>
          <a:ln w="9525">
            <a:solidFill>
              <a:srgbClr val="E3E0D6"/>
            </a:solidFill>
            <a:prstDash val="solid"/>
          </a:ln>
        </p:spPr>
      </p:sp>
      <p:pic>
        <p:nvPicPr>
          <p:cNvPr id="7" name="phys" descr="Physical model: LHB half-coach with the smart electromagnetic damper in parallel with the air spring on each bogie">    </p:cNvPr>
          <p:cNvPicPr>
            <a:picLocks noChangeAspect="1"/>
          </p:cNvPicPr>
          <p:nvPr/>
        </p:nvPicPr>
        <p:blipFill>
          <a:blip r:embed="rId2"/>
          <a:stretch>
            <a:fillRect/>
          </a:stretch>
        </p:blipFill>
        <p:spPr>
          <a:xfrm>
            <a:off x="6104519" y="1490472"/>
            <a:ext cx="5377618" cy="3465576"/>
          </a:xfrm>
          <a:prstGeom prst="rect">
            <a:avLst/>
          </a:prstGeom>
        </p:spPr>
      </p:pic>
      <p:sp>
        <p:nvSpPr>
          <p:cNvPr id="8" name="Text 4"/>
          <p:cNvSpPr txBox="1"/>
          <p:nvPr/>
        </p:nvSpPr>
        <p:spPr>
          <a:xfrm>
            <a:off x="548640" y="5074920"/>
            <a:ext cx="5212080" cy="274320"/>
          </a:xfrm>
          <a:prstGeom prst="rect">
            <a:avLst/>
          </a:prstGeom>
          <a:noFill/>
          <a:ln/>
        </p:spPr>
        <p:txBody>
          <a:bodyPr wrap="square" lIns="0" tIns="0" rIns="0" bIns="0" rtlCol="0" anchor="t"/>
          <a:lstStyle/>
          <a:p>
            <a:pPr indent="0" marL="0">
              <a:buNone/>
            </a:pPr>
            <a:r>
              <a:rPr lang="en-US" sz="1200" b="1" dirty="0">
                <a:solidFill>
                  <a:srgbClr val="13233A"/>
                </a:solidFill>
              </a:rPr>
              <a:t>Concept: </a:t>
            </a:r>
            <a:pPr indent="0" marL="0">
              <a:buNone/>
            </a:pPr>
            <a:r>
              <a:rPr lang="en-US" sz="1200" dirty="0">
                <a:solidFill>
                  <a:srgbClr val="3D4A5C"/>
                </a:solidFill>
              </a:rPr>
              <a:t>a magnet moving through a coil</a:t>
            </a:r>
            <a:endParaRPr lang="en-US" sz="1200" dirty="0"/>
          </a:p>
        </p:txBody>
      </p:sp>
      <p:sp>
        <p:nvSpPr>
          <p:cNvPr id="9" name="Text 5"/>
          <p:cNvSpPr txBox="1"/>
          <p:nvPr/>
        </p:nvSpPr>
        <p:spPr>
          <a:xfrm>
            <a:off x="5943600" y="5074920"/>
            <a:ext cx="5699455" cy="274320"/>
          </a:xfrm>
          <a:prstGeom prst="rect">
            <a:avLst/>
          </a:prstGeom>
          <a:noFill/>
          <a:ln/>
        </p:spPr>
        <p:txBody>
          <a:bodyPr wrap="square" lIns="0" tIns="0" rIns="0" bIns="0" rtlCol="0" anchor="t"/>
          <a:lstStyle/>
          <a:p>
            <a:pPr indent="0" marL="0">
              <a:buNone/>
            </a:pPr>
            <a:r>
              <a:rPr lang="en-US" sz="1200" b="1" dirty="0">
                <a:solidFill>
                  <a:srgbClr val="13233A"/>
                </a:solidFill>
              </a:rPr>
              <a:t>Physical model: </a:t>
            </a:r>
            <a:pPr indent="0" marL="0">
              <a:buNone/>
            </a:pPr>
            <a:r>
              <a:rPr lang="en-US" sz="1200" dirty="0">
                <a:solidFill>
                  <a:srgbClr val="3D4A5C"/>
                </a:solidFill>
              </a:rPr>
              <a:t>the smart damper takes the oil damper’s place, beside the air spring</a:t>
            </a:r>
            <a:endParaRPr lang="en-US" sz="1200" dirty="0"/>
          </a:p>
        </p:txBody>
      </p:sp>
      <p:sp>
        <p:nvSpPr>
          <p:cNvPr id="10" name="Shape 6"/>
          <p:cNvSpPr/>
          <p:nvPr/>
        </p:nvSpPr>
        <p:spPr>
          <a:xfrm>
            <a:off x="548640" y="5440680"/>
            <a:ext cx="2145731" cy="658368"/>
          </a:xfrm>
          <a:prstGeom prst="roundRect">
            <a:avLst>
              <a:gd name="adj" fmla="val 13889"/>
            </a:avLst>
          </a:prstGeom>
          <a:solidFill>
            <a:srgbClr val="FDFCF9"/>
          </a:solidFill>
          <a:ln w="9525">
            <a:solidFill>
              <a:srgbClr val="E3E0D6"/>
            </a:solidFill>
            <a:prstDash val="solid"/>
          </a:ln>
        </p:spPr>
      </p:sp>
      <p:sp>
        <p:nvSpPr>
          <p:cNvPr id="11" name="Text 7"/>
          <p:cNvSpPr txBox="1"/>
          <p:nvPr/>
        </p:nvSpPr>
        <p:spPr>
          <a:xfrm>
            <a:off x="685800" y="5495544"/>
            <a:ext cx="1871411" cy="292608"/>
          </a:xfrm>
          <a:prstGeom prst="rect">
            <a:avLst/>
          </a:prstGeom>
          <a:noFill/>
          <a:ln/>
        </p:spPr>
        <p:txBody>
          <a:bodyPr wrap="square" lIns="0" tIns="0" rIns="0" bIns="0" rtlCol="0" anchor="t"/>
          <a:lstStyle/>
          <a:p>
            <a:pPr indent="0" marL="0">
              <a:buNone/>
            </a:pPr>
            <a:r>
              <a:rPr lang="en-US" sz="1400" b="1" dirty="0">
                <a:solidFill>
                  <a:srgbClr val="13233A"/>
                </a:solidFill>
              </a:rPr>
              <a:t>1 · Harvest</a:t>
            </a:r>
            <a:endParaRPr lang="en-US" sz="1400" dirty="0"/>
          </a:p>
        </p:txBody>
      </p:sp>
      <p:sp>
        <p:nvSpPr>
          <p:cNvPr id="12" name="Text 8"/>
          <p:cNvSpPr txBox="1"/>
          <p:nvPr/>
        </p:nvSpPr>
        <p:spPr>
          <a:xfrm>
            <a:off x="685800" y="5769864"/>
            <a:ext cx="1871411" cy="274320"/>
          </a:xfrm>
          <a:prstGeom prst="rect">
            <a:avLst/>
          </a:prstGeom>
          <a:noFill/>
          <a:ln/>
        </p:spPr>
        <p:txBody>
          <a:bodyPr wrap="square" lIns="0" tIns="0" rIns="0" bIns="0" rtlCol="0" anchor="t"/>
          <a:lstStyle/>
          <a:p>
            <a:pPr indent="0" marL="0">
              <a:buNone/>
            </a:pPr>
            <a:r>
              <a:rPr lang="en-US" sz="1200" dirty="0">
                <a:solidFill>
                  <a:srgbClr val="3D4A5C"/>
                </a:solidFill>
              </a:rPr>
              <a:t>bounce → power bank</a:t>
            </a:r>
            <a:endParaRPr lang="en-US" sz="1200" dirty="0"/>
          </a:p>
        </p:txBody>
      </p:sp>
      <p:sp>
        <p:nvSpPr>
          <p:cNvPr id="13" name="Shape 9"/>
          <p:cNvSpPr/>
          <p:nvPr/>
        </p:nvSpPr>
        <p:spPr>
          <a:xfrm>
            <a:off x="2785811" y="5440680"/>
            <a:ext cx="2145731" cy="658368"/>
          </a:xfrm>
          <a:prstGeom prst="roundRect">
            <a:avLst>
              <a:gd name="adj" fmla="val 13889"/>
            </a:avLst>
          </a:prstGeom>
          <a:solidFill>
            <a:srgbClr val="FDFCF9"/>
          </a:solidFill>
          <a:ln w="9525">
            <a:solidFill>
              <a:srgbClr val="E3E0D6"/>
            </a:solidFill>
            <a:prstDash val="solid"/>
          </a:ln>
        </p:spPr>
      </p:sp>
      <p:sp>
        <p:nvSpPr>
          <p:cNvPr id="14" name="Text 10"/>
          <p:cNvSpPr txBox="1"/>
          <p:nvPr/>
        </p:nvSpPr>
        <p:spPr>
          <a:xfrm>
            <a:off x="2922971" y="5495544"/>
            <a:ext cx="1871411" cy="292608"/>
          </a:xfrm>
          <a:prstGeom prst="rect">
            <a:avLst/>
          </a:prstGeom>
          <a:noFill/>
          <a:ln/>
        </p:spPr>
        <p:txBody>
          <a:bodyPr wrap="square" lIns="0" tIns="0" rIns="0" bIns="0" rtlCol="0" anchor="t"/>
          <a:lstStyle/>
          <a:p>
            <a:pPr indent="0" marL="0">
              <a:buNone/>
            </a:pPr>
            <a:r>
              <a:rPr lang="en-US" sz="1400" b="1" dirty="0">
                <a:solidFill>
                  <a:srgbClr val="13233A"/>
                </a:solidFill>
              </a:rPr>
              <a:t>2 · Control</a:t>
            </a:r>
            <a:endParaRPr lang="en-US" sz="1400" dirty="0"/>
          </a:p>
        </p:txBody>
      </p:sp>
      <p:sp>
        <p:nvSpPr>
          <p:cNvPr id="15" name="Text 11"/>
          <p:cNvSpPr txBox="1"/>
          <p:nvPr/>
        </p:nvSpPr>
        <p:spPr>
          <a:xfrm>
            <a:off x="2922971" y="5769864"/>
            <a:ext cx="1871411" cy="274320"/>
          </a:xfrm>
          <a:prstGeom prst="rect">
            <a:avLst/>
          </a:prstGeom>
          <a:noFill/>
          <a:ln/>
        </p:spPr>
        <p:txBody>
          <a:bodyPr wrap="square" lIns="0" tIns="0" rIns="0" bIns="0" rtlCol="0" anchor="t"/>
          <a:lstStyle/>
          <a:p>
            <a:pPr indent="0" marL="0">
              <a:buNone/>
            </a:pPr>
            <a:r>
              <a:rPr lang="en-US" sz="1200" dirty="0">
                <a:solidFill>
                  <a:srgbClr val="3D4A5C"/>
                </a:solidFill>
              </a:rPr>
              <a:t>current sets damping</a:t>
            </a:r>
            <a:endParaRPr lang="en-US" sz="1200" dirty="0"/>
          </a:p>
        </p:txBody>
      </p:sp>
      <p:sp>
        <p:nvSpPr>
          <p:cNvPr id="16" name="Shape 12"/>
          <p:cNvSpPr/>
          <p:nvPr/>
        </p:nvSpPr>
        <p:spPr>
          <a:xfrm>
            <a:off x="5022982" y="5440680"/>
            <a:ext cx="2145731" cy="658368"/>
          </a:xfrm>
          <a:prstGeom prst="roundRect">
            <a:avLst>
              <a:gd name="adj" fmla="val 13889"/>
            </a:avLst>
          </a:prstGeom>
          <a:solidFill>
            <a:srgbClr val="FDFCF9"/>
          </a:solidFill>
          <a:ln w="9525">
            <a:solidFill>
              <a:srgbClr val="E3E0D6"/>
            </a:solidFill>
            <a:prstDash val="solid"/>
          </a:ln>
        </p:spPr>
      </p:sp>
      <p:sp>
        <p:nvSpPr>
          <p:cNvPr id="17" name="Text 13"/>
          <p:cNvSpPr txBox="1"/>
          <p:nvPr/>
        </p:nvSpPr>
        <p:spPr>
          <a:xfrm>
            <a:off x="5160142" y="5495544"/>
            <a:ext cx="1871411" cy="292608"/>
          </a:xfrm>
          <a:prstGeom prst="rect">
            <a:avLst/>
          </a:prstGeom>
          <a:noFill/>
          <a:ln/>
        </p:spPr>
        <p:txBody>
          <a:bodyPr wrap="square" lIns="0" tIns="0" rIns="0" bIns="0" rtlCol="0" anchor="t"/>
          <a:lstStyle/>
          <a:p>
            <a:pPr indent="0" marL="0">
              <a:buNone/>
            </a:pPr>
            <a:r>
              <a:rPr lang="en-US" sz="1400" b="1" dirty="0">
                <a:solidFill>
                  <a:srgbClr val="13233A"/>
                </a:solidFill>
              </a:rPr>
              <a:t>3 · Preview</a:t>
            </a:r>
            <a:endParaRPr lang="en-US" sz="1400" dirty="0"/>
          </a:p>
        </p:txBody>
      </p:sp>
      <p:sp>
        <p:nvSpPr>
          <p:cNvPr id="18" name="Text 14"/>
          <p:cNvSpPr txBox="1"/>
          <p:nvPr/>
        </p:nvSpPr>
        <p:spPr>
          <a:xfrm>
            <a:off x="5160142" y="5769864"/>
            <a:ext cx="1871411" cy="274320"/>
          </a:xfrm>
          <a:prstGeom prst="rect">
            <a:avLst/>
          </a:prstGeom>
          <a:noFill/>
          <a:ln/>
        </p:spPr>
        <p:txBody>
          <a:bodyPr wrap="square" lIns="0" tIns="0" rIns="0" bIns="0" rtlCol="0" anchor="t"/>
          <a:lstStyle/>
          <a:p>
            <a:pPr indent="0" marL="0">
              <a:buNone/>
            </a:pPr>
            <a:r>
              <a:rPr lang="en-US" sz="1200" dirty="0">
                <a:solidFill>
                  <a:srgbClr val="3D4A5C"/>
                </a:solidFill>
              </a:rPr>
              <a:t>loco warns each coach</a:t>
            </a:r>
            <a:endParaRPr lang="en-US" sz="1200" dirty="0"/>
          </a:p>
        </p:txBody>
      </p:sp>
      <p:sp>
        <p:nvSpPr>
          <p:cNvPr id="19" name="Shape 15"/>
          <p:cNvSpPr/>
          <p:nvPr/>
        </p:nvSpPr>
        <p:spPr>
          <a:xfrm>
            <a:off x="7260153" y="5440680"/>
            <a:ext cx="2145731" cy="658368"/>
          </a:xfrm>
          <a:prstGeom prst="roundRect">
            <a:avLst>
              <a:gd name="adj" fmla="val 13889"/>
            </a:avLst>
          </a:prstGeom>
          <a:solidFill>
            <a:srgbClr val="FDFCF9"/>
          </a:solidFill>
          <a:ln w="9525">
            <a:solidFill>
              <a:srgbClr val="E3E0D6"/>
            </a:solidFill>
            <a:prstDash val="solid"/>
          </a:ln>
        </p:spPr>
      </p:sp>
      <p:sp>
        <p:nvSpPr>
          <p:cNvPr id="20" name="Text 16"/>
          <p:cNvSpPr txBox="1"/>
          <p:nvPr/>
        </p:nvSpPr>
        <p:spPr>
          <a:xfrm>
            <a:off x="7397313" y="5495544"/>
            <a:ext cx="1871411" cy="292608"/>
          </a:xfrm>
          <a:prstGeom prst="rect">
            <a:avLst/>
          </a:prstGeom>
          <a:noFill/>
          <a:ln/>
        </p:spPr>
        <p:txBody>
          <a:bodyPr wrap="square" lIns="0" tIns="0" rIns="0" bIns="0" rtlCol="0" anchor="t"/>
          <a:lstStyle/>
          <a:p>
            <a:pPr indent="0" marL="0">
              <a:buNone/>
            </a:pPr>
            <a:r>
              <a:rPr lang="en-US" sz="1400" b="1" dirty="0">
                <a:solidFill>
                  <a:srgbClr val="13233A"/>
                </a:solidFill>
              </a:rPr>
              <a:t>4 · Protect</a:t>
            </a:r>
            <a:endParaRPr lang="en-US" sz="1400" dirty="0"/>
          </a:p>
        </p:txBody>
      </p:sp>
      <p:sp>
        <p:nvSpPr>
          <p:cNvPr id="21" name="Text 17"/>
          <p:cNvSpPr txBox="1"/>
          <p:nvPr/>
        </p:nvSpPr>
        <p:spPr>
          <a:xfrm>
            <a:off x="7397313" y="5769864"/>
            <a:ext cx="1871411" cy="274320"/>
          </a:xfrm>
          <a:prstGeom prst="rect">
            <a:avLst/>
          </a:prstGeom>
          <a:noFill/>
          <a:ln/>
        </p:spPr>
        <p:txBody>
          <a:bodyPr wrap="square" lIns="0" tIns="0" rIns="0" bIns="0" rtlCol="0" anchor="t"/>
          <a:lstStyle/>
          <a:p>
            <a:pPr indent="0" marL="0">
              <a:buNone/>
            </a:pPr>
            <a:r>
              <a:rPr lang="en-US" sz="1200" dirty="0">
                <a:solidFill>
                  <a:srgbClr val="3D4A5C"/>
                </a:solidFill>
              </a:rPr>
              <a:t>powers safety sensors</a:t>
            </a:r>
            <a:endParaRPr lang="en-US" sz="1200" dirty="0"/>
          </a:p>
        </p:txBody>
      </p:sp>
      <p:sp>
        <p:nvSpPr>
          <p:cNvPr id="22" name="Shape 18"/>
          <p:cNvSpPr/>
          <p:nvPr/>
        </p:nvSpPr>
        <p:spPr>
          <a:xfrm>
            <a:off x="9497324" y="5440680"/>
            <a:ext cx="2145731" cy="658368"/>
          </a:xfrm>
          <a:prstGeom prst="roundRect">
            <a:avLst>
              <a:gd name="adj" fmla="val 13889"/>
            </a:avLst>
          </a:prstGeom>
          <a:solidFill>
            <a:srgbClr val="FDFCF9"/>
          </a:solidFill>
          <a:ln w="9525">
            <a:solidFill>
              <a:srgbClr val="E3E0D6"/>
            </a:solidFill>
            <a:prstDash val="solid"/>
          </a:ln>
        </p:spPr>
      </p:sp>
      <p:sp>
        <p:nvSpPr>
          <p:cNvPr id="23" name="Text 19"/>
          <p:cNvSpPr txBox="1"/>
          <p:nvPr/>
        </p:nvSpPr>
        <p:spPr>
          <a:xfrm>
            <a:off x="9634484" y="5495544"/>
            <a:ext cx="1871411" cy="292608"/>
          </a:xfrm>
          <a:prstGeom prst="rect">
            <a:avLst/>
          </a:prstGeom>
          <a:noFill/>
          <a:ln/>
        </p:spPr>
        <p:txBody>
          <a:bodyPr wrap="square" lIns="0" tIns="0" rIns="0" bIns="0" rtlCol="0" anchor="t"/>
          <a:lstStyle/>
          <a:p>
            <a:pPr indent="0" marL="0">
              <a:buNone/>
            </a:pPr>
            <a:r>
              <a:rPr lang="en-US" sz="1400" b="1" dirty="0">
                <a:solidFill>
                  <a:srgbClr val="13233A"/>
                </a:solidFill>
              </a:rPr>
              <a:t>5 · Fail-safe</a:t>
            </a:r>
            <a:endParaRPr lang="en-US" sz="1400" dirty="0"/>
          </a:p>
        </p:txBody>
      </p:sp>
      <p:sp>
        <p:nvSpPr>
          <p:cNvPr id="24" name="Text 20"/>
          <p:cNvSpPr txBox="1"/>
          <p:nvPr/>
        </p:nvSpPr>
        <p:spPr>
          <a:xfrm>
            <a:off x="9634484" y="5769864"/>
            <a:ext cx="1871411" cy="274320"/>
          </a:xfrm>
          <a:prstGeom prst="rect">
            <a:avLst/>
          </a:prstGeom>
          <a:noFill/>
          <a:ln/>
        </p:spPr>
        <p:txBody>
          <a:bodyPr wrap="square" lIns="0" tIns="0" rIns="0" bIns="0" rtlCol="0" anchor="t"/>
          <a:lstStyle/>
          <a:p>
            <a:pPr indent="0" marL="0">
              <a:buNone/>
            </a:pPr>
            <a:r>
              <a:rPr lang="en-US" sz="1200" dirty="0">
                <a:solidFill>
                  <a:srgbClr val="3D4A5C"/>
                </a:solidFill>
              </a:rPr>
              <a:t>relay → today’s damper</a:t>
            </a:r>
            <a:endParaRPr lang="en-US" sz="1200" dirty="0"/>
          </a:p>
        </p:txBody>
      </p:sp>
      <p:sp>
        <p:nvSpPr>
          <p:cNvPr id="25" name="Slide Number Placeholder 0"/>
          <p:cNvSpPr>
            <a:spLocks noGrp="1"/>
          </p:cNvSpPr>
          <p:nvPr>
            <p:ph type="sldNum" sz="quarter" idx="4294967295"/>
          </p:nvPr>
        </p:nvSpPr>
        <p:spPr>
          <a:xfrm>
            <a:off x="11155680" y="6419088"/>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310896"/>
          </a:xfrm>
          <a:prstGeom prst="rect">
            <a:avLst/>
          </a:prstGeom>
          <a:noFill/>
          <a:ln/>
        </p:spPr>
        <p:txBody>
          <a:bodyPr wrap="square" lIns="0" tIns="0" rIns="0" bIns="0" rtlCol="0" anchor="ctr"/>
          <a:lstStyle/>
          <a:p>
            <a:pPr indent="0" marL="0">
              <a:buNone/>
            </a:pPr>
            <a:r>
              <a:rPr lang="en-US" sz="1200" b="1" spc="300" kern="0" dirty="0">
                <a:solidFill>
                  <a:srgbClr val="A8520F"/>
                </a:solidFill>
              </a:rPr>
              <a:t>02 · THE SOLUTION</a:t>
            </a:r>
            <a:endParaRPr lang="en-US" sz="1200" dirty="0"/>
          </a:p>
        </p:txBody>
      </p:sp>
      <p:sp>
        <p:nvSpPr>
          <p:cNvPr id="3" name="Text 0"/>
          <p:cNvSpPr/>
          <p:nvPr>
            <p:ph idx="101" type="title" hasCustomPrompt="1"/>
          </p:nvPr>
        </p:nvSpPr>
        <p:spPr>
          <a:xfrm>
            <a:off x="548640" y="713232"/>
            <a:ext cx="11094415" cy="713232"/>
          </a:xfrm>
          <a:prstGeom prst="rect">
            <a:avLst/>
          </a:prstGeom>
          <a:noFill/>
          <a:ln/>
        </p:spPr>
        <p:txBody>
          <a:bodyPr wrap="square" lIns="0" tIns="0" rIns="0" bIns="0" rtlCol="0" anchor="t"/>
          <a:lstStyle/>
          <a:p>
            <a:pPr algn="l" indent="0" marL="0">
              <a:buNone/>
            </a:pPr>
            <a:r>
              <a:rPr lang="en-US" sz="3000" b="1" dirty="0">
                <a:solidFill>
                  <a:srgbClr val="13233A"/>
                </a:solidFill>
              </a:rPr>
              <a:t>Train Brain: the loco warns every coach before the bump</a:t>
            </a:r>
            <a:endParaRPr lang="en-US" sz="3000" dirty="0"/>
          </a:p>
        </p:txBody>
      </p:sp>
      <p:sp>
        <p:nvSpPr>
          <p:cNvPr id="4" name="preview frame"/>
          <p:cNvSpPr/>
          <p:nvPr/>
        </p:nvSpPr>
        <p:spPr>
          <a:xfrm>
            <a:off x="548640" y="1600200"/>
            <a:ext cx="6309360" cy="4526280"/>
          </a:xfrm>
          <a:prstGeom prst="roundRect">
            <a:avLst>
              <a:gd name="adj" fmla="val 1616"/>
            </a:avLst>
          </a:prstGeom>
          <a:solidFill>
            <a:srgbClr val="FFFFFF"/>
          </a:solidFill>
          <a:ln w="9525">
            <a:solidFill>
              <a:srgbClr val="E3E0D6"/>
            </a:solidFill>
            <a:prstDash val="solid"/>
          </a:ln>
        </p:spPr>
      </p:sp>
      <p:pic>
        <p:nvPicPr>
          <p:cNvPr id="5" name="preview" descr="The locomotive warns every coach; today's bogie compared with the SwarmRide bogie">    </p:cNvPr>
          <p:cNvPicPr>
            <a:picLocks noChangeAspect="1"/>
          </p:cNvPicPr>
          <p:nvPr/>
        </p:nvPicPr>
        <p:blipFill>
          <a:blip r:embed="rId1"/>
          <a:stretch>
            <a:fillRect/>
          </a:stretch>
        </p:blipFill>
        <p:spPr>
          <a:xfrm>
            <a:off x="621792" y="1684837"/>
            <a:ext cx="6163056" cy="4357007"/>
          </a:xfrm>
          <a:prstGeom prst="rect">
            <a:avLst/>
          </a:prstGeom>
        </p:spPr>
      </p:pic>
      <p:sp>
        <p:nvSpPr>
          <p:cNvPr id="6" name="Text 3"/>
          <p:cNvSpPr txBox="1"/>
          <p:nvPr/>
        </p:nvSpPr>
        <p:spPr>
          <a:xfrm>
            <a:off x="7132320" y="1645920"/>
            <a:ext cx="4510735" cy="1097280"/>
          </a:xfrm>
          <a:prstGeom prst="rect">
            <a:avLst/>
          </a:prstGeom>
          <a:noFill/>
          <a:ln/>
        </p:spPr>
        <p:txBody>
          <a:bodyPr wrap="square" lIns="0" tIns="0" rIns="0" bIns="0" rtlCol="0" anchor="t"/>
          <a:lstStyle/>
          <a:p>
            <a:pPr indent="0" marL="0">
              <a:buNone/>
            </a:pPr>
            <a:r>
              <a:rPr lang="en-US" sz="1600" dirty="0">
                <a:solidFill>
                  <a:srgbClr val="3D4A5C"/>
                </a:solidFill>
              </a:rPr>
              <a:t>The loco’s front bogie feels every bump first. Every coach behind reaches the same spot a little later, so it is warned in advance.</a:t>
            </a:r>
            <a:endParaRPr lang="en-US" sz="16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7132320" y="2926080"/>
          <a:ext cx="4510735" cy="914400"/>
        </p:xfrm>
        <a:graphic>
          <a:graphicData uri="http://schemas.openxmlformats.org/drawingml/2006/table">
            <a:tbl>
              <a:tblPr/>
              <a:tblGrid>
                <a:gridCol w="1894509"/>
                <a:gridCol w="2616226"/>
              </a:tblGrid>
              <a:tr h="438912">
                <a:tc>
                  <a:txBody>
                    <a:bodyPr/>
                    <a:lstStyle/>
                    <a:p>
                      <a:pPr indent="0" marL="0">
                        <a:buNone/>
                      </a:pPr>
                      <a:r>
                        <a:rPr lang="en-US" sz="1200" b="1" dirty="0">
                          <a:solidFill>
                            <a:srgbClr val="6B7686"/>
                          </a:solidFill>
                          <a:latin typeface="Calibri" pitchFamily="34" charset="0"/>
                          <a:ea typeface="Calibri" pitchFamily="34" charset="-122"/>
                          <a:cs typeface="Calibri" pitchFamily="34" charset="-120"/>
                        </a:rPr>
                        <a:t>At 160 km/h</a:t>
                      </a:r>
                      <a:endParaRPr lang="en-US" sz="12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7F5F0"/>
                    </a:solidFill>
                  </a:tcPr>
                </a:tc>
                <a:tc>
                  <a:txBody>
                    <a:bodyPr/>
                    <a:lstStyle/>
                    <a:p>
                      <a:pPr indent="0" marL="0">
                        <a:buNone/>
                      </a:pPr>
                      <a:r>
                        <a:rPr lang="en-US" sz="1200" b="1" dirty="0">
                          <a:solidFill>
                            <a:srgbClr val="6B7686"/>
                          </a:solidFill>
                          <a:latin typeface="Calibri" pitchFamily="34" charset="0"/>
                          <a:ea typeface="Calibri" pitchFamily="34" charset="-122"/>
                          <a:cs typeface="Calibri" pitchFamily="34" charset="-120"/>
                        </a:rPr>
                        <a:t>Warning before the bump</a:t>
                      </a:r>
                      <a:endParaRPr lang="en-US" sz="12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7F5F0"/>
                    </a:solidFill>
                  </a:tcPr>
                </a:tc>
              </a:tr>
              <a:tr h="438912">
                <a:tc>
                  <a:txBody>
                    <a:bodyPr/>
                    <a:lstStyle/>
                    <a:p>
                      <a:pPr indent="0" marL="0">
                        <a:buNone/>
                      </a:pPr>
                      <a:r>
                        <a:rPr lang="en-US" sz="1500" dirty="0">
                          <a:solidFill>
                            <a:srgbClr val="1F2A37"/>
                          </a:solidFill>
                          <a:latin typeface="Calibri" pitchFamily="34" charset="0"/>
                          <a:ea typeface="Calibri" pitchFamily="34" charset="-122"/>
                          <a:cs typeface="Calibri" pitchFamily="34" charset="-120"/>
                        </a:rPr>
                        <a:t>Coach 1</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500" b="1" dirty="0">
                          <a:solidFill>
                            <a:srgbClr val="1F2A37"/>
                          </a:solidFill>
                          <a:latin typeface="Calibri" pitchFamily="34" charset="0"/>
                          <a:ea typeface="Calibri" pitchFamily="34" charset="-122"/>
                          <a:cs typeface="Calibri" pitchFamily="34" charset="-120"/>
                        </a:rPr>
                        <a:t>0.5 s</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r>
              <a:tr h="438912">
                <a:tc>
                  <a:txBody>
                    <a:bodyPr/>
                    <a:lstStyle/>
                    <a:p>
                      <a:pPr indent="0" marL="0">
                        <a:buNone/>
                      </a:pPr>
                      <a:r>
                        <a:rPr lang="en-US" sz="1500" dirty="0">
                          <a:solidFill>
                            <a:srgbClr val="1F2A37"/>
                          </a:solidFill>
                          <a:latin typeface="Calibri" pitchFamily="34" charset="0"/>
                          <a:ea typeface="Calibri" pitchFamily="34" charset="-122"/>
                          <a:cs typeface="Calibri" pitchFamily="34" charset="-120"/>
                        </a:rPr>
                        <a:t>Coach 5</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500" b="1" dirty="0">
                          <a:solidFill>
                            <a:srgbClr val="1F2A37"/>
                          </a:solidFill>
                          <a:latin typeface="Calibri" pitchFamily="34" charset="0"/>
                          <a:ea typeface="Calibri" pitchFamily="34" charset="-122"/>
                          <a:cs typeface="Calibri" pitchFamily="34" charset="-120"/>
                        </a:rPr>
                        <a:t>2.6 s</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r>
              <a:tr h="438912">
                <a:tc>
                  <a:txBody>
                    <a:bodyPr/>
                    <a:lstStyle/>
                    <a:p>
                      <a:pPr indent="0" marL="0">
                        <a:buNone/>
                      </a:pPr>
                      <a:r>
                        <a:rPr lang="en-US" sz="1500" dirty="0">
                          <a:solidFill>
                            <a:srgbClr val="1F2A37"/>
                          </a:solidFill>
                          <a:latin typeface="Calibri" pitchFamily="34" charset="0"/>
                          <a:ea typeface="Calibri" pitchFamily="34" charset="-122"/>
                          <a:cs typeface="Calibri" pitchFamily="34" charset="-120"/>
                        </a:rPr>
                        <a:t>Coach 10</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500" b="1" dirty="0">
                          <a:solidFill>
                            <a:srgbClr val="1F2A37"/>
                          </a:solidFill>
                          <a:latin typeface="Calibri" pitchFamily="34" charset="0"/>
                          <a:ea typeface="Calibri" pitchFamily="34" charset="-122"/>
                          <a:cs typeface="Calibri" pitchFamily="34" charset="-120"/>
                        </a:rPr>
                        <a:t>5.3 s</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r>
            </a:tbl>
          </a:graphicData>
        </a:graphic>
      </p:graphicFrame>
      <p:sp>
        <p:nvSpPr>
          <p:cNvPr id="8" name="Text 4"/>
          <p:cNvSpPr txBox="1"/>
          <p:nvPr/>
        </p:nvSpPr>
        <p:spPr>
          <a:xfrm>
            <a:off x="7132320" y="5120640"/>
            <a:ext cx="4510735" cy="914400"/>
          </a:xfrm>
          <a:prstGeom prst="rect">
            <a:avLst/>
          </a:prstGeom>
          <a:noFill/>
          <a:ln/>
        </p:spPr>
        <p:txBody>
          <a:bodyPr wrap="square" lIns="0" tIns="0" rIns="0" bIns="0" rtlCol="0" anchor="t"/>
          <a:lstStyle/>
          <a:p>
            <a:pPr indent="0" marL="0">
              <a:buNone/>
            </a:pPr>
            <a:r>
              <a:rPr lang="en-US" sz="1500" dirty="0">
                <a:solidFill>
                  <a:srgbClr val="3D4A5C"/>
                </a:solidFill>
              </a:rPr>
              <a:t>Tested robust to a ±20 ms late warning. The Train Brain also keeps a map of known bad spots for the push (C4).</a:t>
            </a:r>
            <a:endParaRPr lang="en-US" sz="1500" dirty="0"/>
          </a:p>
        </p:txBody>
      </p:sp>
      <p:sp>
        <p:nvSpPr>
          <p:cNvPr id="25" name="Slide Number Placeholder 0"/>
          <p:cNvSpPr>
            <a:spLocks noGrp="1"/>
          </p:cNvSpPr>
          <p:nvPr>
            <p:ph type="sldNum" sz="quarter" idx="4294967295"/>
          </p:nvPr>
        </p:nvSpPr>
        <p:spPr>
          <a:xfrm>
            <a:off x="11155680" y="6419088"/>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310896"/>
          </a:xfrm>
          <a:prstGeom prst="rect">
            <a:avLst/>
          </a:prstGeom>
          <a:noFill/>
          <a:ln/>
        </p:spPr>
        <p:txBody>
          <a:bodyPr wrap="square" lIns="0" tIns="0" rIns="0" bIns="0" rtlCol="0" anchor="ctr"/>
          <a:lstStyle/>
          <a:p>
            <a:pPr indent="0" marL="0">
              <a:buNone/>
            </a:pPr>
            <a:r>
              <a:rPr lang="en-US" sz="1200" b="1" spc="300" kern="0" dirty="0">
                <a:solidFill>
                  <a:srgbClr val="A8520F"/>
                </a:solidFill>
              </a:rPr>
              <a:t>03 · LITERATURE REVIEW</a:t>
            </a:r>
            <a:endParaRPr lang="en-US" sz="1200" dirty="0"/>
          </a:p>
        </p:txBody>
      </p:sp>
      <p:sp>
        <p:nvSpPr>
          <p:cNvPr id="3" name="Text 0"/>
          <p:cNvSpPr/>
          <p:nvPr>
            <p:ph idx="101" type="title" hasCustomPrompt="1"/>
          </p:nvPr>
        </p:nvSpPr>
        <p:spPr>
          <a:xfrm>
            <a:off x="548640" y="713232"/>
            <a:ext cx="11094415" cy="713232"/>
          </a:xfrm>
          <a:prstGeom prst="rect">
            <a:avLst/>
          </a:prstGeom>
          <a:noFill/>
          <a:ln/>
        </p:spPr>
        <p:txBody>
          <a:bodyPr wrap="square" lIns="0" tIns="0" rIns="0" bIns="0" rtlCol="0" anchor="t"/>
          <a:lstStyle/>
          <a:p>
            <a:pPr algn="l" indent="0" marL="0">
              <a:buNone/>
            </a:pPr>
            <a:r>
              <a:rPr lang="en-US" sz="3000" b="1" dirty="0">
                <a:solidFill>
                  <a:srgbClr val="13233A"/>
                </a:solidFill>
              </a:rPr>
              <a:t>Regenerative dampers: from cars to trains</a:t>
            </a:r>
            <a:endParaRPr lang="en-US" sz="3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94415" cy="914400"/>
        </p:xfrm>
        <a:graphic>
          <a:graphicData uri="http://schemas.openxmlformats.org/drawingml/2006/table">
            <a:tbl>
              <a:tblPr/>
              <a:tblGrid>
                <a:gridCol w="685800"/>
                <a:gridCol w="4114800"/>
                <a:gridCol w="3429000"/>
                <a:gridCol w="2864815"/>
              </a:tblGrid>
              <a:tr h="0">
                <a:tc>
                  <a:txBody>
                    <a:bodyPr/>
                    <a:lstStyle/>
                    <a:p>
                      <a:pPr indent="0" marL="0">
                        <a:buNone/>
                      </a:pPr>
                      <a:r>
                        <a:rPr lang="en-US" sz="1200" b="1" dirty="0">
                          <a:solidFill>
                            <a:srgbClr val="6B7686"/>
                          </a:solidFill>
                          <a:latin typeface="Calibri" pitchFamily="34" charset="0"/>
                          <a:ea typeface="Calibri" pitchFamily="34" charset="-122"/>
                          <a:cs typeface="Calibri" pitchFamily="34" charset="-120"/>
                        </a:rPr>
                        <a:t>Year</a:t>
                      </a:r>
                      <a:endParaRPr lang="en-US" sz="12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7F5F0"/>
                    </a:solidFill>
                  </a:tcPr>
                </a:tc>
                <a:tc>
                  <a:txBody>
                    <a:bodyPr/>
                    <a:lstStyle/>
                    <a:p>
                      <a:pPr indent="0" marL="0">
                        <a:buNone/>
                      </a:pPr>
                      <a:r>
                        <a:rPr lang="en-US" sz="1200" b="1" dirty="0">
                          <a:solidFill>
                            <a:srgbClr val="6B7686"/>
                          </a:solidFill>
                          <a:latin typeface="Calibri" pitchFamily="34" charset="0"/>
                          <a:ea typeface="Calibri" pitchFamily="34" charset="-122"/>
                          <a:cs typeface="Calibri" pitchFamily="34" charset="-120"/>
                        </a:rPr>
                        <a:t>Paper · venue</a:t>
                      </a:r>
                      <a:endParaRPr lang="en-US" sz="12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7F5F0"/>
                    </a:solidFill>
                  </a:tcPr>
                </a:tc>
                <a:tc>
                  <a:txBody>
                    <a:bodyPr/>
                    <a:lstStyle/>
                    <a:p>
                      <a:pPr indent="0" marL="0">
                        <a:buNone/>
                      </a:pPr>
                      <a:r>
                        <a:rPr lang="en-US" sz="1200" b="1" dirty="0">
                          <a:solidFill>
                            <a:srgbClr val="6B7686"/>
                          </a:solidFill>
                          <a:latin typeface="Calibri" pitchFamily="34" charset="0"/>
                          <a:ea typeface="Calibri" pitchFamily="34" charset="-122"/>
                          <a:cs typeface="Calibri" pitchFamily="34" charset="-120"/>
                        </a:rPr>
                        <a:t>Key idea</a:t>
                      </a:r>
                      <a:endParaRPr lang="en-US" sz="12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7F5F0"/>
                    </a:solidFill>
                  </a:tcPr>
                </a:tc>
                <a:tc>
                  <a:txBody>
                    <a:bodyPr/>
                    <a:lstStyle/>
                    <a:p>
                      <a:pPr indent="0" marL="0">
                        <a:buNone/>
                      </a:pPr>
                      <a:r>
                        <a:rPr lang="en-US" sz="1200" b="1" dirty="0">
                          <a:solidFill>
                            <a:srgbClr val="6B7686"/>
                          </a:solidFill>
                          <a:latin typeface="Calibri" pitchFamily="34" charset="0"/>
                          <a:ea typeface="Calibri" pitchFamily="34" charset="-122"/>
                          <a:cs typeface="Calibri" pitchFamily="34" charset="-120"/>
                        </a:rPr>
                        <a:t>SwarmRide adds</a:t>
                      </a:r>
                      <a:endParaRPr lang="en-US" sz="12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7F5F0"/>
                    </a:solidFill>
                  </a:tcPr>
                </a:tc>
              </a:tr>
              <a:tr h="0">
                <a:tc>
                  <a:txBody>
                    <a:bodyPr/>
                    <a:lstStyle/>
                    <a:p>
                      <a:pPr indent="0" marL="0">
                        <a:buNone/>
                      </a:pPr>
                      <a:r>
                        <a:rPr lang="en-US" sz="1350" dirty="0">
                          <a:solidFill>
                            <a:srgbClr val="1F2A37"/>
                          </a:solidFill>
                          <a:latin typeface="Calibri" pitchFamily="34" charset="0"/>
                          <a:ea typeface="Calibri" pitchFamily="34" charset="-122"/>
                          <a:cs typeface="Calibri" pitchFamily="34" charset="-120"/>
                        </a:rPr>
                        <a:t>2013</a:t>
                      </a:r>
                      <a:endParaRPr lang="en-US" sz="135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350" dirty="0">
                          <a:solidFill>
                            <a:srgbClr val="1F2A37"/>
                          </a:solidFill>
                          <a:latin typeface="Calibri" pitchFamily="34" charset="0"/>
                          <a:ea typeface="Calibri" pitchFamily="34" charset="-122"/>
                          <a:cs typeface="Calibri" pitchFamily="34" charset="-120"/>
                        </a:rPr>
                        <a:t>Li, Zuo et al. · IEEE Trans. Vehicular Technology</a:t>
                      </a:r>
                      <a:endParaRPr lang="en-US" sz="135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350" dirty="0">
                          <a:solidFill>
                            <a:srgbClr val="1F2A37"/>
                          </a:solidFill>
                          <a:latin typeface="Calibri" pitchFamily="34" charset="0"/>
                          <a:ea typeface="Calibri" pitchFamily="34" charset="-122"/>
                          <a:cs typeface="Calibri" pitchFamily="34" charset="-120"/>
                        </a:rPr>
                        <a:t>Energy-harvesting shock absorber, road tests (cars)</a:t>
                      </a:r>
                      <a:endParaRPr lang="en-US" sz="135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350" dirty="0">
                          <a:solidFill>
                            <a:srgbClr val="1F2A37"/>
                          </a:solidFill>
                          <a:latin typeface="Calibri" pitchFamily="34" charset="0"/>
                          <a:ea typeface="Calibri" pitchFamily="34" charset="-122"/>
                          <a:cs typeface="Calibri" pitchFamily="34" charset="-120"/>
                        </a:rPr>
                        <a:t>Train suspension, control</a:t>
                      </a:r>
                      <a:endParaRPr lang="en-US" sz="135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r>
              <a:tr h="0">
                <a:tc>
                  <a:txBody>
                    <a:bodyPr/>
                    <a:lstStyle/>
                    <a:p>
                      <a:pPr indent="0" marL="0">
                        <a:buNone/>
                      </a:pPr>
                      <a:r>
                        <a:rPr lang="en-US" sz="1350" b="1" dirty="0">
                          <a:solidFill>
                            <a:srgbClr val="1F2A37"/>
                          </a:solidFill>
                          <a:latin typeface="Calibri" pitchFamily="34" charset="0"/>
                          <a:ea typeface="Calibri" pitchFamily="34" charset="-122"/>
                          <a:cs typeface="Calibri" pitchFamily="34" charset="-120"/>
                        </a:rPr>
                        <a:t>2022</a:t>
                      </a:r>
                      <a:endParaRPr lang="en-US" sz="135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CEBD9"/>
                    </a:solidFill>
                  </a:tcPr>
                </a:tc>
                <a:tc>
                  <a:txBody>
                    <a:bodyPr/>
                    <a:lstStyle/>
                    <a:p>
                      <a:pPr indent="0" marL="0">
                        <a:buNone/>
                      </a:pPr>
                      <a:r>
                        <a:rPr lang="en-US" sz="1350" b="1" dirty="0">
                          <a:solidFill>
                            <a:srgbClr val="1F2A37"/>
                          </a:solidFill>
                          <a:latin typeface="Calibri" pitchFamily="34" charset="0"/>
                          <a:ea typeface="Calibri" pitchFamily="34" charset="-122"/>
                          <a:cs typeface="Calibri" pitchFamily="34" charset="-120"/>
                        </a:rPr>
                        <a:t>Hua, Cai, Zhu · IEEE Trans. Vehicular Technology — BASE PAPER</a:t>
                      </a:r>
                      <a:endParaRPr lang="en-US" sz="135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CEBD9"/>
                    </a:solidFill>
                  </a:tcPr>
                </a:tc>
                <a:tc>
                  <a:txBody>
                    <a:bodyPr/>
                    <a:lstStyle/>
                    <a:p>
                      <a:pPr indent="0" marL="0">
                        <a:buNone/>
                      </a:pPr>
                      <a:r>
                        <a:rPr lang="en-US" sz="1350" dirty="0">
                          <a:solidFill>
                            <a:srgbClr val="1F2A37"/>
                          </a:solidFill>
                          <a:latin typeface="Calibri" pitchFamily="34" charset="0"/>
                          <a:ea typeface="Calibri" pitchFamily="34" charset="-122"/>
                          <a:cs typeface="Calibri" pitchFamily="34" charset="-120"/>
                        </a:rPr>
                        <a:t>EM damper cum harvester, semi-active, high-speed train (lateral)</a:t>
                      </a:r>
                      <a:endParaRPr lang="en-US" sz="135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CEBD9"/>
                    </a:solidFill>
                  </a:tcPr>
                </a:tc>
                <a:tc>
                  <a:txBody>
                    <a:bodyPr/>
                    <a:lstStyle/>
                    <a:p>
                      <a:pPr indent="0" marL="0">
                        <a:buNone/>
                      </a:pPr>
                      <a:r>
                        <a:rPr lang="en-US" sz="1350" dirty="0">
                          <a:solidFill>
                            <a:srgbClr val="1F2A37"/>
                          </a:solidFill>
                          <a:latin typeface="Calibri" pitchFamily="34" charset="0"/>
                          <a:ea typeface="Calibri" pitchFamily="34" charset="-122"/>
                          <a:cs typeface="Calibri" pitchFamily="34" charset="-120"/>
                        </a:rPr>
                        <a:t>Load scheduling, preview, push, power bank</a:t>
                      </a:r>
                      <a:endParaRPr lang="en-US" sz="135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CEBD9"/>
                    </a:solidFill>
                  </a:tcPr>
                </a:tc>
              </a:tr>
              <a:tr h="0">
                <a:tc>
                  <a:txBody>
                    <a:bodyPr/>
                    <a:lstStyle/>
                    <a:p>
                      <a:pPr indent="0" marL="0">
                        <a:buNone/>
                      </a:pPr>
                      <a:r>
                        <a:rPr lang="en-US" sz="1350" dirty="0">
                          <a:solidFill>
                            <a:srgbClr val="1F2A37"/>
                          </a:solidFill>
                          <a:latin typeface="Calibri" pitchFamily="34" charset="0"/>
                          <a:ea typeface="Calibri" pitchFamily="34" charset="-122"/>
                          <a:cs typeface="Calibri" pitchFamily="34" charset="-120"/>
                        </a:rPr>
                        <a:t>2024</a:t>
                      </a:r>
                      <a:endParaRPr lang="en-US" sz="135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350" dirty="0">
                          <a:solidFill>
                            <a:srgbClr val="1F2A37"/>
                          </a:solidFill>
                          <a:latin typeface="Calibri" pitchFamily="34" charset="0"/>
                          <a:ea typeface="Calibri" pitchFamily="34" charset="-122"/>
                          <a:cs typeface="Calibri" pitchFamily="34" charset="-120"/>
                        </a:rPr>
                        <a:t>Dong et al. · J. Intell. Mater. Syst. Struct.</a:t>
                      </a:r>
                      <a:endParaRPr lang="en-US" sz="135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350" dirty="0">
                          <a:solidFill>
                            <a:srgbClr val="1F2A37"/>
                          </a:solidFill>
                          <a:latin typeface="Calibri" pitchFamily="34" charset="0"/>
                          <a:ea typeface="Calibri" pitchFamily="34" charset="-122"/>
                          <a:cs typeface="Calibri" pitchFamily="34" charset="-120"/>
                        </a:rPr>
                        <a:t>Harvest potential on freight wagons: 33–960 W per absorber</a:t>
                      </a:r>
                      <a:endParaRPr lang="en-US" sz="135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350" dirty="0">
                          <a:solidFill>
                            <a:srgbClr val="1F2A37"/>
                          </a:solidFill>
                          <a:latin typeface="Calibri" pitchFamily="34" charset="0"/>
                          <a:ea typeface="Calibri" pitchFamily="34" charset="-122"/>
                          <a:cs typeface="Calibri" pitchFamily="34" charset="-120"/>
                        </a:rPr>
                        <a:t>A controller that uses it</a:t>
                      </a:r>
                      <a:endParaRPr lang="en-US" sz="135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r>
              <a:tr h="0">
                <a:tc>
                  <a:txBody>
                    <a:bodyPr/>
                    <a:lstStyle/>
                    <a:p>
                      <a:pPr indent="0" marL="0">
                        <a:buNone/>
                      </a:pPr>
                      <a:r>
                        <a:rPr lang="en-US" sz="1350" dirty="0">
                          <a:solidFill>
                            <a:srgbClr val="1F2A37"/>
                          </a:solidFill>
                          <a:latin typeface="Calibri" pitchFamily="34" charset="0"/>
                          <a:ea typeface="Calibri" pitchFamily="34" charset="-122"/>
                          <a:cs typeface="Calibri" pitchFamily="34" charset="-120"/>
                        </a:rPr>
                        <a:t>2024</a:t>
                      </a:r>
                      <a:endParaRPr lang="en-US" sz="135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350" dirty="0">
                          <a:solidFill>
                            <a:srgbClr val="1F2A37"/>
                          </a:solidFill>
                          <a:latin typeface="Calibri" pitchFamily="34" charset="0"/>
                          <a:ea typeface="Calibri" pitchFamily="34" charset="-122"/>
                          <a:cs typeface="Calibri" pitchFamily="34" charset="-120"/>
                        </a:rPr>
                        <a:t>Tao et al. · IEEE Trans. Transportation Electrification</a:t>
                      </a:r>
                      <a:endParaRPr lang="en-US" sz="135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350" dirty="0">
                          <a:solidFill>
                            <a:srgbClr val="1F2A37"/>
                          </a:solidFill>
                          <a:latin typeface="Calibri" pitchFamily="34" charset="0"/>
                          <a:ea typeface="Calibri" pitchFamily="34" charset="-122"/>
                          <a:cs typeface="Calibri" pitchFamily="34" charset="-120"/>
                        </a:rPr>
                        <a:t>Energy harvesting for freight-train sensors</a:t>
                      </a:r>
                      <a:endParaRPr lang="en-US" sz="135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350" dirty="0">
                          <a:solidFill>
                            <a:srgbClr val="1F2A37"/>
                          </a:solidFill>
                          <a:latin typeface="Calibri" pitchFamily="34" charset="0"/>
                          <a:ea typeface="Calibri" pitchFamily="34" charset="-122"/>
                          <a:cs typeface="Calibri" pitchFamily="34" charset="-120"/>
                        </a:rPr>
                        <a:t>Sensors powered by the damper</a:t>
                      </a:r>
                      <a:endParaRPr lang="en-US" sz="135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r>
              <a:tr h="0">
                <a:tc>
                  <a:txBody>
                    <a:bodyPr/>
                    <a:lstStyle/>
                    <a:p>
                      <a:pPr indent="0" marL="0">
                        <a:buNone/>
                      </a:pPr>
                      <a:r>
                        <a:rPr lang="en-US" sz="1350" dirty="0">
                          <a:solidFill>
                            <a:srgbClr val="1F2A37"/>
                          </a:solidFill>
                          <a:latin typeface="Calibri" pitchFamily="34" charset="0"/>
                          <a:ea typeface="Calibri" pitchFamily="34" charset="-122"/>
                          <a:cs typeface="Calibri" pitchFamily="34" charset="-120"/>
                        </a:rPr>
                        <a:t>2025</a:t>
                      </a:r>
                      <a:endParaRPr lang="en-US" sz="135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350" dirty="0">
                          <a:solidFill>
                            <a:srgbClr val="1F2A37"/>
                          </a:solidFill>
                          <a:latin typeface="Calibri" pitchFamily="34" charset="0"/>
                          <a:ea typeface="Calibri" pitchFamily="34" charset="-122"/>
                          <a:cs typeface="Calibri" pitchFamily="34" charset="-120"/>
                        </a:rPr>
                        <a:t>Cheng et al. · IEEE Trans. Transportation Electrification</a:t>
                      </a:r>
                      <a:endParaRPr lang="en-US" sz="135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350" dirty="0">
                          <a:solidFill>
                            <a:srgbClr val="1F2A37"/>
                          </a:solidFill>
                          <a:latin typeface="Calibri" pitchFamily="34" charset="0"/>
                          <a:ea typeface="Calibri" pitchFamily="34" charset="-122"/>
                          <a:cs typeface="Calibri" pitchFamily="34" charset="-120"/>
                        </a:rPr>
                        <a:t>Self-powered PMSM damper, economic MPC</a:t>
                      </a:r>
                      <a:endParaRPr lang="en-US" sz="135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350" dirty="0">
                          <a:solidFill>
                            <a:srgbClr val="1F2A37"/>
                          </a:solidFill>
                          <a:latin typeface="Calibri" pitchFamily="34" charset="0"/>
                          <a:ea typeface="Calibri" pitchFamily="34" charset="-122"/>
                          <a:cs typeface="Calibri" pitchFamily="34" charset="-120"/>
                        </a:rPr>
                        <a:t>Railway duty, fail-safe</a:t>
                      </a:r>
                      <a:endParaRPr lang="en-US" sz="135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r>
              <a:tr h="0">
                <a:tc>
                  <a:txBody>
                    <a:bodyPr/>
                    <a:lstStyle/>
                    <a:p>
                      <a:pPr indent="0" marL="0">
                        <a:buNone/>
                      </a:pPr>
                      <a:r>
                        <a:rPr lang="en-US" sz="1350" dirty="0">
                          <a:solidFill>
                            <a:srgbClr val="1F2A37"/>
                          </a:solidFill>
                          <a:latin typeface="Calibri" pitchFamily="34" charset="0"/>
                          <a:ea typeface="Calibri" pitchFamily="34" charset="-122"/>
                          <a:cs typeface="Calibri" pitchFamily="34" charset="-120"/>
                        </a:rPr>
                        <a:t>2025</a:t>
                      </a:r>
                      <a:endParaRPr lang="en-US" sz="135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350" dirty="0">
                          <a:solidFill>
                            <a:srgbClr val="1F2A37"/>
                          </a:solidFill>
                          <a:latin typeface="Calibri" pitchFamily="34" charset="0"/>
                          <a:ea typeface="Calibri" pitchFamily="34" charset="-122"/>
                          <a:cs typeface="Calibri" pitchFamily="34" charset="-120"/>
                        </a:rPr>
                        <a:t>Xia, Ning et al. · IEEE/ASME Trans. Mechatronics</a:t>
                      </a:r>
                      <a:endParaRPr lang="en-US" sz="135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350" dirty="0">
                          <a:solidFill>
                            <a:srgbClr val="1F2A37"/>
                          </a:solidFill>
                          <a:latin typeface="Calibri" pitchFamily="34" charset="0"/>
                          <a:ea typeface="Calibri" pitchFamily="34" charset="-122"/>
                          <a:cs typeface="Calibri" pitchFamily="34" charset="-120"/>
                        </a:rPr>
                        <a:t>Supercapacitor-voltage control in an EM damper</a:t>
                      </a:r>
                      <a:endParaRPr lang="en-US" sz="135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350" dirty="0">
                          <a:solidFill>
                            <a:srgbClr val="1F2A37"/>
                          </a:solidFill>
                          <a:latin typeface="Calibri" pitchFamily="34" charset="0"/>
                          <a:ea typeface="Calibri" pitchFamily="34" charset="-122"/>
                          <a:cs typeface="Calibri" pitchFamily="34" charset="-120"/>
                        </a:rPr>
                        <a:t>Full-day bank on a train</a:t>
                      </a:r>
                      <a:endParaRPr lang="en-US" sz="135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48640" y="5989320"/>
            <a:ext cx="11094415" cy="274320"/>
          </a:xfrm>
          <a:prstGeom prst="rect">
            <a:avLst/>
          </a:prstGeom>
          <a:noFill/>
          <a:ln/>
        </p:spPr>
        <p:txBody>
          <a:bodyPr wrap="square" lIns="0" tIns="0" rIns="0" bIns="0" rtlCol="0" anchor="t"/>
          <a:lstStyle/>
          <a:p>
            <a:pPr indent="0" marL="0">
              <a:buNone/>
            </a:pPr>
            <a:r>
              <a:rPr lang="en-US" sz="1200" dirty="0">
                <a:solidFill>
                  <a:srgbClr val="6B7686"/>
                </a:solidFill>
              </a:rPr>
              <a:t>All six verified in Crossref · DOIs in the speaker notes</a:t>
            </a:r>
            <a:endParaRPr lang="en-US" sz="1200" dirty="0"/>
          </a:p>
        </p:txBody>
      </p:sp>
      <p:sp>
        <p:nvSpPr>
          <p:cNvPr id="25" name="Slide Number Placeholder 0"/>
          <p:cNvSpPr>
            <a:spLocks noGrp="1"/>
          </p:cNvSpPr>
          <p:nvPr>
            <p:ph type="sldNum" sz="quarter" idx="4294967295"/>
          </p:nvPr>
        </p:nvSpPr>
        <p:spPr>
          <a:xfrm>
            <a:off x="11155680" y="6419088"/>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310896"/>
          </a:xfrm>
          <a:prstGeom prst="rect">
            <a:avLst/>
          </a:prstGeom>
          <a:noFill/>
          <a:ln/>
        </p:spPr>
        <p:txBody>
          <a:bodyPr wrap="square" lIns="0" tIns="0" rIns="0" bIns="0" rtlCol="0" anchor="ctr"/>
          <a:lstStyle/>
          <a:p>
            <a:pPr indent="0" marL="0">
              <a:buNone/>
            </a:pPr>
            <a:r>
              <a:rPr lang="en-US" sz="1200" b="1" spc="300" kern="0" dirty="0">
                <a:solidFill>
                  <a:srgbClr val="A8520F"/>
                </a:solidFill>
              </a:rPr>
              <a:t>03 · BASE PAPER</a:t>
            </a:r>
            <a:endParaRPr lang="en-US" sz="1200" dirty="0"/>
          </a:p>
        </p:txBody>
      </p:sp>
      <p:sp>
        <p:nvSpPr>
          <p:cNvPr id="3" name="Text 0"/>
          <p:cNvSpPr/>
          <p:nvPr>
            <p:ph idx="101" type="title" hasCustomPrompt="1"/>
          </p:nvPr>
        </p:nvSpPr>
        <p:spPr>
          <a:xfrm>
            <a:off x="548640" y="713232"/>
            <a:ext cx="11094415" cy="713232"/>
          </a:xfrm>
          <a:prstGeom prst="rect">
            <a:avLst/>
          </a:prstGeom>
          <a:noFill/>
          <a:ln/>
        </p:spPr>
        <p:txBody>
          <a:bodyPr wrap="square" lIns="0" tIns="0" rIns="0" bIns="0" rtlCol="0" anchor="t"/>
          <a:lstStyle/>
          <a:p>
            <a:pPr algn="l" indent="0" marL="0">
              <a:buNone/>
            </a:pPr>
            <a:r>
              <a:rPr lang="en-US" sz="3000" b="1" dirty="0">
                <a:solidFill>
                  <a:srgbClr val="13233A"/>
                </a:solidFill>
              </a:rPr>
              <a:t>Hua, Cai &amp; Zhu, IEEE Trans. Vehicular Technology 71(5), 2022</a:t>
            </a:r>
            <a:endParaRPr lang="en-US" sz="3000" dirty="0"/>
          </a:p>
        </p:txBody>
      </p:sp>
      <p:sp>
        <p:nvSpPr>
          <p:cNvPr id="4" name="Text 2"/>
          <p:cNvSpPr txBox="1"/>
          <p:nvPr/>
        </p:nvSpPr>
        <p:spPr>
          <a:xfrm>
            <a:off x="548640" y="1481328"/>
            <a:ext cx="11094415" cy="457200"/>
          </a:xfrm>
          <a:prstGeom prst="rect">
            <a:avLst/>
          </a:prstGeom>
          <a:noFill/>
          <a:ln/>
        </p:spPr>
        <p:txBody>
          <a:bodyPr wrap="square" lIns="0" tIns="0" rIns="0" bIns="0" rtlCol="0" anchor="t"/>
          <a:lstStyle/>
          <a:p>
            <a:pPr indent="0" marL="0">
              <a:buNone/>
            </a:pPr>
            <a:r>
              <a:rPr lang="en-US" sz="1500" i="1" dirty="0">
                <a:solidFill>
                  <a:srgbClr val="3D4A5C"/>
                </a:solidFill>
              </a:rPr>
              <a:t>“Energy-Regenerative Semiactive Lateral Suspension Control in High-Speed Trains Using Electromagnetic Damper Cum Energy Harvester”</a:t>
            </a:r>
            <a:endParaRPr lang="en-US" sz="1500" dirty="0"/>
          </a:p>
        </p:txBody>
      </p:sp>
      <p:sp>
        <p:nvSpPr>
          <p:cNvPr id="5" name="Shape 3"/>
          <p:cNvSpPr/>
          <p:nvPr/>
        </p:nvSpPr>
        <p:spPr>
          <a:xfrm>
            <a:off x="548640" y="2103120"/>
            <a:ext cx="5410048" cy="4069080"/>
          </a:xfrm>
          <a:prstGeom prst="roundRect">
            <a:avLst>
              <a:gd name="adj" fmla="val 2247"/>
            </a:avLst>
          </a:prstGeom>
          <a:solidFill>
            <a:srgbClr val="FDFCF9"/>
          </a:solidFill>
          <a:ln w="9525">
            <a:solidFill>
              <a:srgbClr val="E3E0D6"/>
            </a:solidFill>
            <a:prstDash val="solid"/>
          </a:ln>
        </p:spPr>
      </p:sp>
      <p:sp>
        <p:nvSpPr>
          <p:cNvPr id="6" name="Text 4"/>
          <p:cNvSpPr txBox="1"/>
          <p:nvPr/>
        </p:nvSpPr>
        <p:spPr>
          <a:xfrm>
            <a:off x="822960" y="2286000"/>
            <a:ext cx="4861408" cy="411480"/>
          </a:xfrm>
          <a:prstGeom prst="rect">
            <a:avLst/>
          </a:prstGeom>
          <a:noFill/>
          <a:ln/>
        </p:spPr>
        <p:txBody>
          <a:bodyPr wrap="square" lIns="0" tIns="0" rIns="0" bIns="0" rtlCol="0" anchor="t"/>
          <a:lstStyle/>
          <a:p>
            <a:pPr indent="0" marL="0">
              <a:buNone/>
            </a:pPr>
            <a:r>
              <a:rPr lang="en-US" sz="2000" b="1" dirty="0">
                <a:solidFill>
                  <a:srgbClr val="13233A"/>
                </a:solidFill>
              </a:rPr>
              <a:t>What they did</a:t>
            </a:r>
            <a:endParaRPr lang="en-US" sz="2000" dirty="0"/>
          </a:p>
        </p:txBody>
      </p:sp>
      <p:sp>
        <p:nvSpPr>
          <p:cNvPr id="7" name="Text 5"/>
          <p:cNvSpPr txBox="1"/>
          <p:nvPr/>
        </p:nvSpPr>
        <p:spPr>
          <a:xfrm>
            <a:off x="822960" y="2788920"/>
            <a:ext cx="4861408" cy="320040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3D4A5C"/>
                </a:solidFill>
              </a:rPr>
              <a:t>Full-scale EM damper cum harvester (EMDEH), tested in cyclic tests</a:t>
            </a:r>
            <a:endParaRPr lang="en-US" sz="1500" dirty="0"/>
          </a:p>
          <a:p>
            <a:pPr marL="342900" indent="-342900">
              <a:spcAft>
                <a:spcPts val="800"/>
              </a:spcAft>
              <a:buSzPct val="100000"/>
              <a:buChar char="•"/>
            </a:pPr>
            <a:r>
              <a:rPr lang="en-US" sz="1500" dirty="0">
                <a:solidFill>
                  <a:srgbClr val="3D4A5C"/>
                </a:solidFill>
              </a:rPr>
              <a:t>Damping tuned by the duty cycle of the harvesting circuit</a:t>
            </a:r>
            <a:endParaRPr lang="en-US" sz="1500" dirty="0"/>
          </a:p>
          <a:p>
            <a:pPr marL="342900" indent="-342900">
              <a:spcAft>
                <a:spcPts val="800"/>
              </a:spcAft>
              <a:buSzPct val="100000"/>
              <a:buChar char="•"/>
            </a:pPr>
            <a:r>
              <a:rPr lang="en-US" sz="1500" dirty="0">
                <a:solidFill>
                  <a:srgbClr val="3D4A5C"/>
                </a:solidFill>
              </a:rPr>
              <a:t>Semi-active tracking of an LQG target force</a:t>
            </a:r>
            <a:endParaRPr lang="en-US" sz="1500" dirty="0"/>
          </a:p>
          <a:p>
            <a:pPr marL="342900" indent="-342900">
              <a:spcAft>
                <a:spcPts val="800"/>
              </a:spcAft>
              <a:buSzPct val="100000"/>
              <a:buChar char="•"/>
            </a:pPr>
            <a:r>
              <a:rPr lang="en-US" sz="1500" dirty="0">
                <a:solidFill>
                  <a:srgbClr val="3D4A5C"/>
                </a:solidFill>
              </a:rPr>
              <a:t>Lateral secondary suspension, high-speed train, 200–350 km/h</a:t>
            </a:r>
            <a:endParaRPr lang="en-US" sz="1500" dirty="0"/>
          </a:p>
          <a:p>
            <a:pPr marL="342900" indent="-342900">
              <a:spcAft>
                <a:spcPts val="800"/>
              </a:spcAft>
              <a:buSzPct val="100000"/>
              <a:buChar char="•"/>
            </a:pPr>
            <a:r>
              <a:rPr lang="en-US" sz="1500" dirty="0">
                <a:solidFill>
                  <a:srgbClr val="3D4A5C"/>
                </a:solidFill>
              </a:rPr>
              <a:t>Beat passive and fixed-duty dampers on car-body vibration; harvested 25.89–153.19 W</a:t>
            </a:r>
            <a:endParaRPr lang="en-US" sz="1500" dirty="0"/>
          </a:p>
        </p:txBody>
      </p:sp>
      <p:sp>
        <p:nvSpPr>
          <p:cNvPr id="8" name="Shape 6"/>
          <p:cNvSpPr/>
          <p:nvPr/>
        </p:nvSpPr>
        <p:spPr>
          <a:xfrm>
            <a:off x="6233008" y="2103120"/>
            <a:ext cx="5410048" cy="4069080"/>
          </a:xfrm>
          <a:prstGeom prst="roundRect">
            <a:avLst>
              <a:gd name="adj" fmla="val 2247"/>
            </a:avLst>
          </a:prstGeom>
          <a:solidFill>
            <a:srgbClr val="13233A"/>
          </a:solidFill>
          <a:ln/>
        </p:spPr>
      </p:sp>
      <p:sp>
        <p:nvSpPr>
          <p:cNvPr id="9" name="Text 7"/>
          <p:cNvSpPr txBox="1"/>
          <p:nvPr/>
        </p:nvSpPr>
        <p:spPr>
          <a:xfrm>
            <a:off x="6507328" y="2286000"/>
            <a:ext cx="4861408" cy="411480"/>
          </a:xfrm>
          <a:prstGeom prst="rect">
            <a:avLst/>
          </a:prstGeom>
          <a:noFill/>
          <a:ln/>
        </p:spPr>
        <p:txBody>
          <a:bodyPr wrap="square" lIns="0" tIns="0" rIns="0" bIns="0" rtlCol="0" anchor="t"/>
          <a:lstStyle/>
          <a:p>
            <a:pPr indent="0" marL="0">
              <a:buNone/>
            </a:pPr>
            <a:r>
              <a:rPr lang="en-US" sz="2000" b="1" dirty="0">
                <a:solidFill>
                  <a:srgbClr val="F0974A"/>
                </a:solidFill>
              </a:rPr>
              <a:t>Where SwarmRide goes further</a:t>
            </a:r>
            <a:endParaRPr lang="en-US" sz="2000" dirty="0"/>
          </a:p>
        </p:txBody>
      </p:sp>
      <p:sp>
        <p:nvSpPr>
          <p:cNvPr id="10" name="Text 8"/>
          <p:cNvSpPr txBox="1"/>
          <p:nvPr/>
        </p:nvSpPr>
        <p:spPr>
          <a:xfrm>
            <a:off x="6507328" y="2788920"/>
            <a:ext cx="4861408" cy="320040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E4E8EE"/>
                </a:solidFill>
              </a:rPr>
              <a:t>Vertical ride on LHB, Vande Bharat, ICF and BOXN freight</a:t>
            </a:r>
            <a:endParaRPr lang="en-US" sz="1500" dirty="0"/>
          </a:p>
          <a:p>
            <a:pPr marL="342900" indent="-342900">
              <a:spcAft>
                <a:spcPts val="800"/>
              </a:spcAft>
              <a:buSzPct val="100000"/>
              <a:buChar char="•"/>
            </a:pPr>
            <a:r>
              <a:rPr lang="en-US" sz="1500" dirty="0">
                <a:solidFill>
                  <a:srgbClr val="E4E8EE"/>
                </a:solidFill>
              </a:rPr>
              <a:t>LPV gains scheduled on the measured load</a:t>
            </a:r>
            <a:endParaRPr lang="en-US" sz="1500" dirty="0"/>
          </a:p>
          <a:p>
            <a:pPr marL="342900" indent="-342900">
              <a:spcAft>
                <a:spcPts val="800"/>
              </a:spcAft>
              <a:buSzPct val="100000"/>
              <a:buChar char="•"/>
            </a:pPr>
            <a:r>
              <a:rPr lang="en-US" sz="1500" dirty="0">
                <a:solidFill>
                  <a:srgbClr val="E4E8EE"/>
                </a:solidFill>
              </a:rPr>
              <a:t>Train Brain preview shared along the train</a:t>
            </a:r>
            <a:endParaRPr lang="en-US" sz="1500" dirty="0"/>
          </a:p>
          <a:p>
            <a:pPr marL="342900" indent="-342900">
              <a:spcAft>
                <a:spcPts val="800"/>
              </a:spcAft>
              <a:buSzPct val="100000"/>
              <a:buChar char="•"/>
            </a:pPr>
            <a:r>
              <a:rPr lang="en-US" sz="1500" dirty="0">
                <a:solidFill>
                  <a:srgbClr val="E4E8EE"/>
                </a:solidFill>
              </a:rPr>
              <a:t>Active push (C4) from the bogie’s own bank</a:t>
            </a:r>
            <a:endParaRPr lang="en-US" sz="1500" dirty="0"/>
          </a:p>
          <a:p>
            <a:pPr marL="342900" indent="-342900">
              <a:spcAft>
                <a:spcPts val="800"/>
              </a:spcAft>
              <a:buSzPct val="100000"/>
              <a:buChar char="•"/>
            </a:pPr>
            <a:r>
              <a:rPr lang="en-US" sz="1500" dirty="0">
                <a:solidFill>
                  <a:srgbClr val="E4E8EE"/>
                </a:solidFill>
              </a:rPr>
              <a:t>Full-day power bank + self-powered health sensing</a:t>
            </a:r>
            <a:endParaRPr lang="en-US" sz="1500" dirty="0"/>
          </a:p>
          <a:p>
            <a:pPr marL="342900" indent="-342900">
              <a:spcAft>
                <a:spcPts val="800"/>
              </a:spcAft>
              <a:buSzPct val="100000"/>
              <a:buChar char="•"/>
            </a:pPr>
            <a:r>
              <a:rPr lang="en-US" sz="1500" dirty="0">
                <a:solidFill>
                  <a:srgbClr val="E4E8EE"/>
                </a:solidFill>
              </a:rPr>
              <a:t>Fail-safe, C firmware, bench design, 85 checks</a:t>
            </a:r>
            <a:endParaRPr lang="en-US" sz="1500" dirty="0"/>
          </a:p>
        </p:txBody>
      </p:sp>
      <p:sp>
        <p:nvSpPr>
          <p:cNvPr id="25" name="Slide Number Placeholder 0"/>
          <p:cNvSpPr>
            <a:spLocks noGrp="1"/>
          </p:cNvSpPr>
          <p:nvPr>
            <p:ph type="sldNum" sz="quarter" idx="4294967295"/>
          </p:nvPr>
        </p:nvSpPr>
        <p:spPr>
          <a:xfrm>
            <a:off x="11155680" y="6419088"/>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310896"/>
          </a:xfrm>
          <a:prstGeom prst="rect">
            <a:avLst/>
          </a:prstGeom>
          <a:noFill/>
          <a:ln/>
        </p:spPr>
        <p:txBody>
          <a:bodyPr wrap="square" lIns="0" tIns="0" rIns="0" bIns="0" rtlCol="0" anchor="ctr"/>
          <a:lstStyle/>
          <a:p>
            <a:pPr indent="0" marL="0">
              <a:buNone/>
            </a:pPr>
            <a:r>
              <a:rPr lang="en-US" sz="1200" b="1" spc="300" kern="0" dirty="0">
                <a:solidFill>
                  <a:srgbClr val="A8520F"/>
                </a:solidFill>
              </a:rPr>
              <a:t>04 · ARCHITECTURE</a:t>
            </a:r>
            <a:endParaRPr lang="en-US" sz="1200" dirty="0"/>
          </a:p>
        </p:txBody>
      </p:sp>
      <p:sp>
        <p:nvSpPr>
          <p:cNvPr id="3" name="Text 0"/>
          <p:cNvSpPr/>
          <p:nvPr>
            <p:ph idx="101" type="title" hasCustomPrompt="1"/>
          </p:nvPr>
        </p:nvSpPr>
        <p:spPr>
          <a:xfrm>
            <a:off x="548640" y="713232"/>
            <a:ext cx="11094415" cy="713232"/>
          </a:xfrm>
          <a:prstGeom prst="rect">
            <a:avLst/>
          </a:prstGeom>
          <a:noFill/>
          <a:ln/>
        </p:spPr>
        <p:txBody>
          <a:bodyPr wrap="square" lIns="0" tIns="0" rIns="0" bIns="0" rtlCol="0" anchor="t"/>
          <a:lstStyle/>
          <a:p>
            <a:pPr algn="l" indent="0" marL="0">
              <a:buNone/>
            </a:pPr>
            <a:r>
              <a:rPr lang="en-US" sz="3000" b="1" dirty="0">
                <a:solidFill>
                  <a:srgbClr val="13233A"/>
                </a:solidFill>
              </a:rPr>
              <a:t>Three levels: train, vehicle, self-powered bogie</a:t>
            </a:r>
            <a:endParaRPr lang="en-US" sz="3000" dirty="0"/>
          </a:p>
        </p:txBody>
      </p:sp>
      <p:sp>
        <p:nvSpPr>
          <p:cNvPr id="4" name="archS frame"/>
          <p:cNvSpPr/>
          <p:nvPr/>
        </p:nvSpPr>
        <p:spPr>
          <a:xfrm>
            <a:off x="548640" y="1371600"/>
            <a:ext cx="7589520" cy="4846320"/>
          </a:xfrm>
          <a:prstGeom prst="roundRect">
            <a:avLst>
              <a:gd name="adj" fmla="val 1509"/>
            </a:avLst>
          </a:prstGeom>
          <a:solidFill>
            <a:srgbClr val="FFFFFF"/>
          </a:solidFill>
          <a:ln w="9525">
            <a:solidFill>
              <a:srgbClr val="E3E0D6"/>
            </a:solidFill>
            <a:prstDash val="solid"/>
          </a:ln>
        </p:spPr>
      </p:sp>
      <p:pic>
        <p:nvPicPr>
          <p:cNvPr id="5" name="archS" descr="SwarmRide end-to-end system architecture: Train Brain, vehicle controller, bogie unit">    </p:cNvPr>
          <p:cNvPicPr>
            <a:picLocks noChangeAspect="1"/>
          </p:cNvPicPr>
          <p:nvPr/>
        </p:nvPicPr>
        <p:blipFill>
          <a:blip r:embed="rId1"/>
          <a:stretch>
            <a:fillRect/>
          </a:stretch>
        </p:blipFill>
        <p:spPr>
          <a:xfrm>
            <a:off x="655047" y="1444752"/>
            <a:ext cx="7376707" cy="4700016"/>
          </a:xfrm>
          <a:prstGeom prst="rect">
            <a:avLst/>
          </a:prstGeom>
        </p:spPr>
      </p:pic>
      <p:sp>
        <p:nvSpPr>
          <p:cNvPr id="6" name="Shape 3"/>
          <p:cNvSpPr/>
          <p:nvPr/>
        </p:nvSpPr>
        <p:spPr>
          <a:xfrm>
            <a:off x="8366760" y="1371600"/>
            <a:ext cx="3276295" cy="1078992"/>
          </a:xfrm>
          <a:prstGeom prst="roundRect">
            <a:avLst>
              <a:gd name="adj" fmla="val 8475"/>
            </a:avLst>
          </a:prstGeom>
          <a:solidFill>
            <a:srgbClr val="FDFCF9"/>
          </a:solidFill>
          <a:ln w="9525">
            <a:solidFill>
              <a:srgbClr val="E3E0D6"/>
            </a:solidFill>
            <a:prstDash val="solid"/>
          </a:ln>
        </p:spPr>
      </p:sp>
      <p:sp>
        <p:nvSpPr>
          <p:cNvPr id="7" name="Shape 4"/>
          <p:cNvSpPr/>
          <p:nvPr/>
        </p:nvSpPr>
        <p:spPr>
          <a:xfrm>
            <a:off x="8366760" y="1481328"/>
            <a:ext cx="54864" cy="859536"/>
          </a:xfrm>
          <a:prstGeom prst="rect">
            <a:avLst/>
          </a:prstGeom>
          <a:solidFill>
            <a:srgbClr val="13233A"/>
          </a:solidFill>
          <a:ln/>
        </p:spPr>
      </p:sp>
      <p:sp>
        <p:nvSpPr>
          <p:cNvPr id="8" name="Text 5"/>
          <p:cNvSpPr txBox="1"/>
          <p:nvPr/>
        </p:nvSpPr>
        <p:spPr>
          <a:xfrm>
            <a:off x="8549640" y="1463040"/>
            <a:ext cx="3001975" cy="329184"/>
          </a:xfrm>
          <a:prstGeom prst="rect">
            <a:avLst/>
          </a:prstGeom>
          <a:noFill/>
          <a:ln/>
        </p:spPr>
        <p:txBody>
          <a:bodyPr wrap="square" lIns="0" tIns="0" rIns="0" bIns="0" rtlCol="0" anchor="t"/>
          <a:lstStyle/>
          <a:p>
            <a:pPr indent="0" marL="0">
              <a:buNone/>
            </a:pPr>
            <a:r>
              <a:rPr lang="en-US" sz="1300" b="1" dirty="0">
                <a:solidFill>
                  <a:srgbClr val="13233A"/>
                </a:solidFill>
              </a:rPr>
              <a:t>Train Brain · loco</a:t>
            </a:r>
            <a:endParaRPr lang="en-US" sz="1300" dirty="0"/>
          </a:p>
        </p:txBody>
      </p:sp>
      <p:sp>
        <p:nvSpPr>
          <p:cNvPr id="9" name="Text 6"/>
          <p:cNvSpPr txBox="1"/>
          <p:nvPr/>
        </p:nvSpPr>
        <p:spPr>
          <a:xfrm>
            <a:off x="8549640" y="1792224"/>
            <a:ext cx="3001975" cy="585216"/>
          </a:xfrm>
          <a:prstGeom prst="rect">
            <a:avLst/>
          </a:prstGeom>
          <a:noFill/>
          <a:ln/>
        </p:spPr>
        <p:txBody>
          <a:bodyPr wrap="square" lIns="0" tIns="0" rIns="0" bIns="0" rtlCol="0" anchor="t"/>
          <a:lstStyle/>
          <a:p>
            <a:pPr indent="0" marL="0">
              <a:buNone/>
            </a:pPr>
            <a:r>
              <a:rPr lang="en-US" sz="1100" dirty="0">
                <a:solidFill>
                  <a:srgbClr val="3D4A5C"/>
                </a:solidFill>
              </a:rPr>
              <a:t>Feels each bump first, keeps the track map, warns every coach</a:t>
            </a:r>
            <a:endParaRPr lang="en-US" sz="1100" dirty="0"/>
          </a:p>
        </p:txBody>
      </p:sp>
      <p:sp>
        <p:nvSpPr>
          <p:cNvPr id="10" name="Shape 7"/>
          <p:cNvSpPr/>
          <p:nvPr/>
        </p:nvSpPr>
        <p:spPr>
          <a:xfrm>
            <a:off x="8366760" y="2560320"/>
            <a:ext cx="3276295" cy="1078992"/>
          </a:xfrm>
          <a:prstGeom prst="roundRect">
            <a:avLst>
              <a:gd name="adj" fmla="val 8475"/>
            </a:avLst>
          </a:prstGeom>
          <a:solidFill>
            <a:srgbClr val="FDFCF9"/>
          </a:solidFill>
          <a:ln w="9525">
            <a:solidFill>
              <a:srgbClr val="E3E0D6"/>
            </a:solidFill>
            <a:prstDash val="solid"/>
          </a:ln>
        </p:spPr>
      </p:sp>
      <p:sp>
        <p:nvSpPr>
          <p:cNvPr id="11" name="Shape 8"/>
          <p:cNvSpPr/>
          <p:nvPr/>
        </p:nvSpPr>
        <p:spPr>
          <a:xfrm>
            <a:off x="8366760" y="2670048"/>
            <a:ext cx="54864" cy="859536"/>
          </a:xfrm>
          <a:prstGeom prst="rect">
            <a:avLst/>
          </a:prstGeom>
          <a:solidFill>
            <a:srgbClr val="1F6F66"/>
          </a:solidFill>
          <a:ln/>
        </p:spPr>
      </p:sp>
      <p:sp>
        <p:nvSpPr>
          <p:cNvPr id="12" name="Text 9"/>
          <p:cNvSpPr txBox="1"/>
          <p:nvPr/>
        </p:nvSpPr>
        <p:spPr>
          <a:xfrm>
            <a:off x="8549640" y="2651760"/>
            <a:ext cx="3001975" cy="329184"/>
          </a:xfrm>
          <a:prstGeom prst="rect">
            <a:avLst/>
          </a:prstGeom>
          <a:noFill/>
          <a:ln/>
        </p:spPr>
        <p:txBody>
          <a:bodyPr wrap="square" lIns="0" tIns="0" rIns="0" bIns="0" rtlCol="0" anchor="t"/>
          <a:lstStyle/>
          <a:p>
            <a:pPr indent="0" marL="0">
              <a:buNone/>
            </a:pPr>
            <a:r>
              <a:rPr lang="en-US" sz="1300" b="1" dirty="0">
                <a:solidFill>
                  <a:srgbClr val="1F6F66"/>
                </a:solidFill>
              </a:rPr>
              <a:t>Vehicle controller</a:t>
            </a:r>
            <a:endParaRPr lang="en-US" sz="1300" dirty="0"/>
          </a:p>
        </p:txBody>
      </p:sp>
      <p:sp>
        <p:nvSpPr>
          <p:cNvPr id="13" name="Text 10"/>
          <p:cNvSpPr txBox="1"/>
          <p:nvPr/>
        </p:nvSpPr>
        <p:spPr>
          <a:xfrm>
            <a:off x="8549640" y="2980944"/>
            <a:ext cx="3001975" cy="585216"/>
          </a:xfrm>
          <a:prstGeom prst="rect">
            <a:avLst/>
          </a:prstGeom>
          <a:noFill/>
          <a:ln/>
        </p:spPr>
        <p:txBody>
          <a:bodyPr wrap="square" lIns="0" tIns="0" rIns="0" bIns="0" rtlCol="0" anchor="t"/>
          <a:lstStyle/>
          <a:p>
            <a:pPr indent="0" marL="0">
              <a:buNone/>
            </a:pPr>
            <a:r>
              <a:rPr lang="en-US" sz="1100" dirty="0">
                <a:solidFill>
                  <a:srgbClr val="3D4A5C"/>
                </a:solidFill>
              </a:rPr>
              <a:t>One per coach, 100 Hz: load estimate, LPV-LQR + preview, health</a:t>
            </a:r>
            <a:endParaRPr lang="en-US" sz="1100" dirty="0"/>
          </a:p>
        </p:txBody>
      </p:sp>
      <p:sp>
        <p:nvSpPr>
          <p:cNvPr id="14" name="Shape 11"/>
          <p:cNvSpPr/>
          <p:nvPr/>
        </p:nvSpPr>
        <p:spPr>
          <a:xfrm>
            <a:off x="8366760" y="3749040"/>
            <a:ext cx="3276295" cy="1078992"/>
          </a:xfrm>
          <a:prstGeom prst="roundRect">
            <a:avLst>
              <a:gd name="adj" fmla="val 8475"/>
            </a:avLst>
          </a:prstGeom>
          <a:solidFill>
            <a:srgbClr val="FDFCF9"/>
          </a:solidFill>
          <a:ln w="9525">
            <a:solidFill>
              <a:srgbClr val="E3E0D6"/>
            </a:solidFill>
            <a:prstDash val="solid"/>
          </a:ln>
        </p:spPr>
      </p:sp>
      <p:sp>
        <p:nvSpPr>
          <p:cNvPr id="15" name="Shape 12"/>
          <p:cNvSpPr/>
          <p:nvPr/>
        </p:nvSpPr>
        <p:spPr>
          <a:xfrm>
            <a:off x="8366760" y="3858768"/>
            <a:ext cx="54864" cy="859536"/>
          </a:xfrm>
          <a:prstGeom prst="rect">
            <a:avLst/>
          </a:prstGeom>
          <a:solidFill>
            <a:srgbClr val="A8520F"/>
          </a:solidFill>
          <a:ln/>
        </p:spPr>
      </p:sp>
      <p:sp>
        <p:nvSpPr>
          <p:cNvPr id="16" name="Text 13"/>
          <p:cNvSpPr txBox="1"/>
          <p:nvPr/>
        </p:nvSpPr>
        <p:spPr>
          <a:xfrm>
            <a:off x="8549640" y="3840480"/>
            <a:ext cx="3001975" cy="329184"/>
          </a:xfrm>
          <a:prstGeom prst="rect">
            <a:avLst/>
          </a:prstGeom>
          <a:noFill/>
          <a:ln/>
        </p:spPr>
        <p:txBody>
          <a:bodyPr wrap="square" lIns="0" tIns="0" rIns="0" bIns="0" rtlCol="0" anchor="t"/>
          <a:lstStyle/>
          <a:p>
            <a:pPr indent="0" marL="0">
              <a:buNone/>
            </a:pPr>
            <a:r>
              <a:rPr lang="en-US" sz="1300" b="1" dirty="0">
                <a:solidFill>
                  <a:srgbClr val="A8520F"/>
                </a:solidFill>
              </a:rPr>
              <a:t>Bogie unit</a:t>
            </a:r>
            <a:endParaRPr lang="en-US" sz="1300" dirty="0"/>
          </a:p>
        </p:txBody>
      </p:sp>
      <p:sp>
        <p:nvSpPr>
          <p:cNvPr id="17" name="Text 14"/>
          <p:cNvSpPr txBox="1"/>
          <p:nvPr/>
        </p:nvSpPr>
        <p:spPr>
          <a:xfrm>
            <a:off x="8549640" y="4169664"/>
            <a:ext cx="3001975" cy="585216"/>
          </a:xfrm>
          <a:prstGeom prst="rect">
            <a:avLst/>
          </a:prstGeom>
          <a:noFill/>
          <a:ln/>
        </p:spPr>
        <p:txBody>
          <a:bodyPr wrap="square" lIns="0" tIns="0" rIns="0" bIns="0" rtlCol="0" anchor="t"/>
          <a:lstStyle/>
          <a:p>
            <a:pPr indent="0" marL="0">
              <a:buNone/>
            </a:pPr>
            <a:r>
              <a:rPr lang="en-US" sz="1100" dirty="0">
                <a:solidFill>
                  <a:srgbClr val="3D4A5C"/>
                </a:solidFill>
              </a:rPr>
              <a:t>Self-powered: smart dampers, 10 kHz drive, power bank, sensors, fail-safe</a:t>
            </a:r>
            <a:endParaRPr lang="en-US" sz="1100" dirty="0"/>
          </a:p>
        </p:txBody>
      </p:sp>
      <p:sp>
        <p:nvSpPr>
          <p:cNvPr id="18" name="Shape 15"/>
          <p:cNvSpPr/>
          <p:nvPr/>
        </p:nvSpPr>
        <p:spPr>
          <a:xfrm>
            <a:off x="8366760" y="4983480"/>
            <a:ext cx="3276295" cy="1234440"/>
          </a:xfrm>
          <a:prstGeom prst="roundRect">
            <a:avLst>
              <a:gd name="adj" fmla="val 7407"/>
            </a:avLst>
          </a:prstGeom>
          <a:solidFill>
            <a:srgbClr val="13233A"/>
          </a:solidFill>
          <a:ln/>
        </p:spPr>
      </p:sp>
      <p:sp>
        <p:nvSpPr>
          <p:cNvPr id="19" name="Text 16"/>
          <p:cNvSpPr txBox="1"/>
          <p:nvPr/>
        </p:nvSpPr>
        <p:spPr>
          <a:xfrm>
            <a:off x="8549640" y="5074920"/>
            <a:ext cx="2910535" cy="1051560"/>
          </a:xfrm>
          <a:prstGeom prst="rect">
            <a:avLst/>
          </a:prstGeom>
          <a:noFill/>
          <a:ln/>
        </p:spPr>
        <p:txBody>
          <a:bodyPr wrap="square" lIns="0" tIns="0" rIns="0" bIns="0" rtlCol="0" anchor="ctr"/>
          <a:lstStyle/>
          <a:p>
            <a:pPr indent="0" marL="0">
              <a:buNone/>
            </a:pPr>
            <a:r>
              <a:rPr lang="en-US" sz="1250" b="1" dirty="0">
                <a:solidFill>
                  <a:srgbClr val="E4E8EE"/>
                </a:solidFill>
              </a:rPr>
              <a:t>Energy stays on the bogie; only data travels along the train.</a:t>
            </a:r>
            <a:endParaRPr lang="en-US" sz="1250" dirty="0"/>
          </a:p>
        </p:txBody>
      </p:sp>
      <p:sp>
        <p:nvSpPr>
          <p:cNvPr id="25" name="Slide Number Placeholder 0"/>
          <p:cNvSpPr>
            <a:spLocks noGrp="1"/>
          </p:cNvSpPr>
          <p:nvPr>
            <p:ph type="sldNum" sz="quarter" idx="4294967295"/>
          </p:nvPr>
        </p:nvSpPr>
        <p:spPr>
          <a:xfrm>
            <a:off x="11155680" y="6419088"/>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310896"/>
          </a:xfrm>
          <a:prstGeom prst="rect">
            <a:avLst/>
          </a:prstGeom>
          <a:noFill/>
          <a:ln/>
        </p:spPr>
        <p:txBody>
          <a:bodyPr wrap="square" lIns="0" tIns="0" rIns="0" bIns="0" rtlCol="0" anchor="ctr"/>
          <a:lstStyle/>
          <a:p>
            <a:pPr indent="0" marL="0">
              <a:buNone/>
            </a:pPr>
            <a:r>
              <a:rPr lang="en-US" sz="1200" b="1" spc="300" kern="0" dirty="0">
                <a:solidFill>
                  <a:srgbClr val="A8520F"/>
                </a:solidFill>
              </a:rPr>
              <a:t>04 · ARCHITECTURE</a:t>
            </a:r>
            <a:endParaRPr lang="en-US" sz="1200" dirty="0"/>
          </a:p>
        </p:txBody>
      </p:sp>
      <p:sp>
        <p:nvSpPr>
          <p:cNvPr id="3" name="Text 0"/>
          <p:cNvSpPr/>
          <p:nvPr>
            <p:ph idx="101" type="title" hasCustomPrompt="1"/>
          </p:nvPr>
        </p:nvSpPr>
        <p:spPr>
          <a:xfrm>
            <a:off x="548640" y="713232"/>
            <a:ext cx="11094415" cy="713232"/>
          </a:xfrm>
          <a:prstGeom prst="rect">
            <a:avLst/>
          </a:prstGeom>
          <a:noFill/>
          <a:ln/>
        </p:spPr>
        <p:txBody>
          <a:bodyPr wrap="square" lIns="0" tIns="0" rIns="0" bIns="0" rtlCol="0" anchor="t"/>
          <a:lstStyle/>
          <a:p>
            <a:pPr algn="l" indent="0" marL="0">
              <a:buNone/>
            </a:pPr>
            <a:r>
              <a:rPr lang="en-US" sz="3000" b="1" dirty="0">
                <a:solidFill>
                  <a:srgbClr val="13233A"/>
                </a:solidFill>
              </a:rPr>
              <a:t>On a real bogie: no new bogie, no new cables</a:t>
            </a:r>
            <a:endParaRPr lang="en-US" sz="3000" dirty="0"/>
          </a:p>
        </p:txBody>
      </p:sp>
      <p:pic>
        <p:nvPicPr>
          <p:cNvPr id="4" name="casnub_ann" descr="Casnub bogie of a BOXN wagon annotated with SwarmRide components">    </p:cNvPr>
          <p:cNvPicPr>
            <a:picLocks noChangeAspect="1"/>
          </p:cNvPicPr>
          <p:nvPr/>
        </p:nvPicPr>
        <p:blipFill>
          <a:blip r:embed="rId1"/>
          <a:srcRect l="0" r="0" t="0" b="0"/>
          <a:stretch/>
        </p:blipFill>
        <p:spPr>
          <a:xfrm>
            <a:off x="548640" y="1600200"/>
            <a:ext cx="5410048" cy="4023360"/>
          </a:xfrm>
          <a:prstGeom prst="rect">
            <a:avLst/>
          </a:prstGeom>
        </p:spPr>
      </p:pic>
      <p:sp>
        <p:nvSpPr>
          <p:cNvPr id="5" name="bogies frame"/>
          <p:cNvSpPr/>
          <p:nvPr/>
        </p:nvSpPr>
        <p:spPr>
          <a:xfrm>
            <a:off x="6233008" y="1600200"/>
            <a:ext cx="5410048" cy="4023360"/>
          </a:xfrm>
          <a:prstGeom prst="roundRect">
            <a:avLst>
              <a:gd name="adj" fmla="val 1818"/>
            </a:avLst>
          </a:prstGeom>
          <a:solidFill>
            <a:srgbClr val="FFFFFF"/>
          </a:solidFill>
          <a:ln w="9525">
            <a:solidFill>
              <a:srgbClr val="E3E0D6"/>
            </a:solidFill>
            <a:prstDash val="solid"/>
          </a:ln>
        </p:spPr>
      </p:sp>
      <p:pic>
        <p:nvPicPr>
          <p:cNvPr id="6" name="bogies" descr="LHB, ICF and Casnub bogies with the smart damper swapped in">    </p:cNvPr>
          <p:cNvPicPr>
            <a:picLocks noChangeAspect="1"/>
          </p:cNvPicPr>
          <p:nvPr/>
        </p:nvPicPr>
        <p:blipFill>
          <a:blip r:embed="rId2"/>
          <a:stretch>
            <a:fillRect/>
          </a:stretch>
        </p:blipFill>
        <p:spPr>
          <a:xfrm>
            <a:off x="6306160" y="1751264"/>
            <a:ext cx="5263744" cy="3721233"/>
          </a:xfrm>
          <a:prstGeom prst="rect">
            <a:avLst/>
          </a:prstGeom>
        </p:spPr>
      </p:pic>
      <p:sp>
        <p:nvSpPr>
          <p:cNvPr id="7" name="Text 3"/>
          <p:cNvSpPr txBox="1"/>
          <p:nvPr/>
        </p:nvSpPr>
        <p:spPr>
          <a:xfrm>
            <a:off x="548640" y="5760720"/>
            <a:ext cx="5410048" cy="365760"/>
          </a:xfrm>
          <a:prstGeom prst="rect">
            <a:avLst/>
          </a:prstGeom>
          <a:noFill/>
          <a:ln/>
        </p:spPr>
        <p:txBody>
          <a:bodyPr wrap="square" lIns="0" tIns="0" rIns="0" bIns="0" rtlCol="0" anchor="t"/>
          <a:lstStyle/>
          <a:p>
            <a:pPr indent="0" marL="0">
              <a:buNone/>
            </a:pPr>
            <a:r>
              <a:rPr lang="en-US" sz="1500" b="1" dirty="0">
                <a:solidFill>
                  <a:srgbClr val="13233A"/>
                </a:solidFill>
              </a:rPr>
              <a:t>Casnub (BOXN wagon): </a:t>
            </a:r>
            <a:pPr indent="0" marL="0">
              <a:buNone/>
            </a:pPr>
            <a:r>
              <a:rPr lang="en-US" sz="1500" dirty="0">
                <a:solidFill>
                  <a:srgbClr val="3D4A5C"/>
                </a:solidFill>
              </a:rPr>
              <a:t>where each SwarmRide part goes</a:t>
            </a:r>
            <a:endParaRPr lang="en-US" sz="1500" dirty="0"/>
          </a:p>
        </p:txBody>
      </p:sp>
      <p:sp>
        <p:nvSpPr>
          <p:cNvPr id="8" name="Text 4"/>
          <p:cNvSpPr txBox="1"/>
          <p:nvPr/>
        </p:nvSpPr>
        <p:spPr>
          <a:xfrm>
            <a:off x="6233008" y="5760720"/>
            <a:ext cx="5410048" cy="365760"/>
          </a:xfrm>
          <a:prstGeom prst="rect">
            <a:avLst/>
          </a:prstGeom>
          <a:noFill/>
          <a:ln/>
        </p:spPr>
        <p:txBody>
          <a:bodyPr wrap="square" lIns="0" tIns="0" rIns="0" bIns="0" rtlCol="0" anchor="t"/>
          <a:lstStyle/>
          <a:p>
            <a:pPr indent="0" marL="0">
              <a:buNone/>
            </a:pPr>
            <a:r>
              <a:rPr lang="en-US" sz="1500" b="1" dirty="0">
                <a:solidFill>
                  <a:srgbClr val="13233A"/>
                </a:solidFill>
              </a:rPr>
              <a:t>LHB · ICF · Casnub: </a:t>
            </a:r>
            <a:pPr indent="0" marL="0">
              <a:buNone/>
            </a:pPr>
            <a:r>
              <a:rPr lang="en-US" sz="1500" dirty="0">
                <a:solidFill>
                  <a:srgbClr val="3D4A5C"/>
                </a:solidFill>
              </a:rPr>
              <a:t>one part swapped, same mounts</a:t>
            </a:r>
            <a:endParaRPr lang="en-US" sz="1500" dirty="0"/>
          </a:p>
        </p:txBody>
      </p:sp>
      <p:sp>
        <p:nvSpPr>
          <p:cNvPr id="25" name="Slide Number Placeholder 0"/>
          <p:cNvSpPr>
            <a:spLocks noGrp="1"/>
          </p:cNvSpPr>
          <p:nvPr>
            <p:ph type="sldNum" sz="quarter" idx="4294967295"/>
          </p:nvPr>
        </p:nvSpPr>
        <p:spPr>
          <a:xfrm>
            <a:off x="11155680" y="6419088"/>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310896"/>
          </a:xfrm>
          <a:prstGeom prst="rect">
            <a:avLst/>
          </a:prstGeom>
          <a:noFill/>
          <a:ln/>
        </p:spPr>
        <p:txBody>
          <a:bodyPr wrap="square" lIns="0" tIns="0" rIns="0" bIns="0" rtlCol="0" anchor="ctr"/>
          <a:lstStyle/>
          <a:p>
            <a:pPr indent="0" marL="0">
              <a:buNone/>
            </a:pPr>
            <a:r>
              <a:rPr lang="en-US" sz="1200" b="1" spc="300" kern="0" dirty="0">
                <a:solidFill>
                  <a:srgbClr val="A8520F"/>
                </a:solidFill>
              </a:rPr>
              <a:t>05 · CONTROL SYSTEM DESIGN</a:t>
            </a:r>
            <a:endParaRPr lang="en-US" sz="1200" dirty="0"/>
          </a:p>
        </p:txBody>
      </p:sp>
      <p:sp>
        <p:nvSpPr>
          <p:cNvPr id="3" name="Text 0"/>
          <p:cNvSpPr/>
          <p:nvPr>
            <p:ph idx="101" type="title" hasCustomPrompt="1"/>
          </p:nvPr>
        </p:nvSpPr>
        <p:spPr>
          <a:xfrm>
            <a:off x="548640" y="713232"/>
            <a:ext cx="11094415" cy="713232"/>
          </a:xfrm>
          <a:prstGeom prst="rect">
            <a:avLst/>
          </a:prstGeom>
          <a:noFill/>
          <a:ln/>
        </p:spPr>
        <p:txBody>
          <a:bodyPr wrap="square" lIns="0" tIns="0" rIns="0" bIns="0" rtlCol="0" anchor="t"/>
          <a:lstStyle/>
          <a:p>
            <a:pPr algn="l" indent="0" marL="0">
              <a:buNone/>
            </a:pPr>
            <a:r>
              <a:rPr lang="en-US" sz="3000" b="1" dirty="0">
                <a:solidFill>
                  <a:srgbClr val="13233A"/>
                </a:solidFill>
              </a:rPr>
              <a:t>Four controllers, each adds one idea</a:t>
            </a:r>
            <a:endParaRPr lang="en-US" sz="3000" dirty="0"/>
          </a:p>
        </p:txBody>
      </p:sp>
      <p:sp>
        <p:nvSpPr>
          <p:cNvPr id="4" name="Shape 2"/>
          <p:cNvSpPr/>
          <p:nvPr/>
        </p:nvSpPr>
        <p:spPr>
          <a:xfrm>
            <a:off x="548640" y="1645920"/>
            <a:ext cx="2636444" cy="3017520"/>
          </a:xfrm>
          <a:prstGeom prst="roundRect">
            <a:avLst>
              <a:gd name="adj" fmla="val 3468"/>
            </a:avLst>
          </a:prstGeom>
          <a:solidFill>
            <a:srgbClr val="FDFCF9"/>
          </a:solidFill>
          <a:ln w="9525">
            <a:solidFill>
              <a:srgbClr val="E3E0D6"/>
            </a:solidFill>
            <a:prstDash val="solid"/>
          </a:ln>
        </p:spPr>
      </p:sp>
      <p:sp>
        <p:nvSpPr>
          <p:cNvPr id="5" name="Shape 3"/>
          <p:cNvSpPr/>
          <p:nvPr/>
        </p:nvSpPr>
        <p:spPr>
          <a:xfrm>
            <a:off x="548640" y="1645920"/>
            <a:ext cx="2636444" cy="73152"/>
          </a:xfrm>
          <a:prstGeom prst="rect">
            <a:avLst/>
          </a:prstGeom>
          <a:solidFill>
            <a:srgbClr val="6B7686"/>
          </a:solidFill>
          <a:ln/>
        </p:spPr>
      </p:sp>
      <p:sp>
        <p:nvSpPr>
          <p:cNvPr id="6" name="Text 4"/>
          <p:cNvSpPr txBox="1"/>
          <p:nvPr/>
        </p:nvSpPr>
        <p:spPr>
          <a:xfrm>
            <a:off x="777240" y="1920240"/>
            <a:ext cx="2179244" cy="548640"/>
          </a:xfrm>
          <a:prstGeom prst="rect">
            <a:avLst/>
          </a:prstGeom>
          <a:noFill/>
          <a:ln/>
        </p:spPr>
        <p:txBody>
          <a:bodyPr wrap="square" lIns="0" tIns="0" rIns="0" bIns="0" rtlCol="0" anchor="t"/>
          <a:lstStyle/>
          <a:p>
            <a:pPr indent="0" marL="0">
              <a:buNone/>
            </a:pPr>
            <a:r>
              <a:rPr lang="en-US" sz="3000" b="1" dirty="0">
                <a:solidFill>
                  <a:srgbClr val="6B7686"/>
                </a:solidFill>
              </a:rPr>
              <a:t>C1</a:t>
            </a:r>
            <a:endParaRPr lang="en-US" sz="3000" dirty="0"/>
          </a:p>
        </p:txBody>
      </p:sp>
      <p:sp>
        <p:nvSpPr>
          <p:cNvPr id="7" name="Text 5"/>
          <p:cNvSpPr txBox="1"/>
          <p:nvPr/>
        </p:nvSpPr>
        <p:spPr>
          <a:xfrm>
            <a:off x="777240" y="2514600"/>
            <a:ext cx="2179244" cy="685800"/>
          </a:xfrm>
          <a:prstGeom prst="rect">
            <a:avLst/>
          </a:prstGeom>
          <a:noFill/>
          <a:ln/>
        </p:spPr>
        <p:txBody>
          <a:bodyPr wrap="square" lIns="0" tIns="0" rIns="0" bIns="0" rtlCol="0" anchor="t"/>
          <a:lstStyle/>
          <a:p>
            <a:pPr indent="0" marL="0">
              <a:buNone/>
            </a:pPr>
            <a:r>
              <a:rPr lang="en-US" sz="1800" b="1" dirty="0">
                <a:solidFill>
                  <a:srgbClr val="13233A"/>
                </a:solidFill>
              </a:rPr>
              <a:t>Fixed harvester</a:t>
            </a:r>
            <a:endParaRPr lang="en-US" sz="1800" dirty="0"/>
          </a:p>
        </p:txBody>
      </p:sp>
      <p:sp>
        <p:nvSpPr>
          <p:cNvPr id="8" name="Text 6"/>
          <p:cNvSpPr txBox="1"/>
          <p:nvPr/>
        </p:nvSpPr>
        <p:spPr>
          <a:xfrm>
            <a:off x="777240" y="3200400"/>
            <a:ext cx="2179244" cy="1325880"/>
          </a:xfrm>
          <a:prstGeom prst="rect">
            <a:avLst/>
          </a:prstGeom>
          <a:noFill/>
          <a:ln/>
        </p:spPr>
        <p:txBody>
          <a:bodyPr wrap="square" lIns="0" tIns="0" rIns="0" bIns="0" rtlCol="0" anchor="t"/>
          <a:lstStyle/>
          <a:p>
            <a:pPr indent="0" marL="0">
              <a:buNone/>
            </a:pPr>
            <a:r>
              <a:rPr lang="en-US" sz="1400" dirty="0">
                <a:solidFill>
                  <a:srgbClr val="3D4A5C"/>
                </a:solidFill>
              </a:rPr>
              <a:t>One fixed setting, like the base paper. Harvests, but cannot adapt.</a:t>
            </a:r>
            <a:endParaRPr lang="en-US" sz="1400" dirty="0"/>
          </a:p>
        </p:txBody>
      </p:sp>
      <p:sp>
        <p:nvSpPr>
          <p:cNvPr id="9" name="Shape 7"/>
          <p:cNvSpPr/>
          <p:nvPr/>
        </p:nvSpPr>
        <p:spPr>
          <a:xfrm>
            <a:off x="3367964" y="1645920"/>
            <a:ext cx="2636444" cy="3017520"/>
          </a:xfrm>
          <a:prstGeom prst="roundRect">
            <a:avLst>
              <a:gd name="adj" fmla="val 3468"/>
            </a:avLst>
          </a:prstGeom>
          <a:solidFill>
            <a:srgbClr val="FDFCF9"/>
          </a:solidFill>
          <a:ln w="9525">
            <a:solidFill>
              <a:srgbClr val="E3E0D6"/>
            </a:solidFill>
            <a:prstDash val="solid"/>
          </a:ln>
        </p:spPr>
      </p:sp>
      <p:sp>
        <p:nvSpPr>
          <p:cNvPr id="10" name="Shape 8"/>
          <p:cNvSpPr/>
          <p:nvPr/>
        </p:nvSpPr>
        <p:spPr>
          <a:xfrm>
            <a:off x="3367964" y="1645920"/>
            <a:ext cx="2636444" cy="73152"/>
          </a:xfrm>
          <a:prstGeom prst="rect">
            <a:avLst/>
          </a:prstGeom>
          <a:solidFill>
            <a:srgbClr val="1F6F66"/>
          </a:solidFill>
          <a:ln/>
        </p:spPr>
      </p:sp>
      <p:sp>
        <p:nvSpPr>
          <p:cNvPr id="11" name="Text 9"/>
          <p:cNvSpPr txBox="1"/>
          <p:nvPr/>
        </p:nvSpPr>
        <p:spPr>
          <a:xfrm>
            <a:off x="3596564" y="1920240"/>
            <a:ext cx="2179244" cy="548640"/>
          </a:xfrm>
          <a:prstGeom prst="rect">
            <a:avLst/>
          </a:prstGeom>
          <a:noFill/>
          <a:ln/>
        </p:spPr>
        <p:txBody>
          <a:bodyPr wrap="square" lIns="0" tIns="0" rIns="0" bIns="0" rtlCol="0" anchor="t"/>
          <a:lstStyle/>
          <a:p>
            <a:pPr indent="0" marL="0">
              <a:buNone/>
            </a:pPr>
            <a:r>
              <a:rPr lang="en-US" sz="3000" b="1" dirty="0">
                <a:solidFill>
                  <a:srgbClr val="1F6F66"/>
                </a:solidFill>
              </a:rPr>
              <a:t>C2</a:t>
            </a:r>
            <a:endParaRPr lang="en-US" sz="3000" dirty="0"/>
          </a:p>
        </p:txBody>
      </p:sp>
      <p:sp>
        <p:nvSpPr>
          <p:cNvPr id="12" name="Text 10"/>
          <p:cNvSpPr txBox="1"/>
          <p:nvPr/>
        </p:nvSpPr>
        <p:spPr>
          <a:xfrm>
            <a:off x="3596564" y="2514600"/>
            <a:ext cx="2179244" cy="685800"/>
          </a:xfrm>
          <a:prstGeom prst="rect">
            <a:avLst/>
          </a:prstGeom>
          <a:noFill/>
          <a:ln/>
        </p:spPr>
        <p:txBody>
          <a:bodyPr wrap="square" lIns="0" tIns="0" rIns="0" bIns="0" rtlCol="0" anchor="t"/>
          <a:lstStyle/>
          <a:p>
            <a:pPr indent="0" marL="0">
              <a:buNone/>
            </a:pPr>
            <a:r>
              <a:rPr lang="en-US" sz="1800" b="1" dirty="0">
                <a:solidFill>
                  <a:srgbClr val="13233A"/>
                </a:solidFill>
              </a:rPr>
              <a:t>Load-adaptive</a:t>
            </a:r>
            <a:endParaRPr lang="en-US" sz="1800" dirty="0"/>
          </a:p>
        </p:txBody>
      </p:sp>
      <p:sp>
        <p:nvSpPr>
          <p:cNvPr id="13" name="Text 11"/>
          <p:cNvSpPr txBox="1"/>
          <p:nvPr/>
        </p:nvSpPr>
        <p:spPr>
          <a:xfrm>
            <a:off x="3596564" y="3200400"/>
            <a:ext cx="2179244" cy="1325880"/>
          </a:xfrm>
          <a:prstGeom prst="rect">
            <a:avLst/>
          </a:prstGeom>
          <a:noFill/>
          <a:ln/>
        </p:spPr>
        <p:txBody>
          <a:bodyPr wrap="square" lIns="0" tIns="0" rIns="0" bIns="0" rtlCol="0" anchor="t"/>
          <a:lstStyle/>
          <a:p>
            <a:pPr indent="0" marL="0">
              <a:buNone/>
            </a:pPr>
            <a:r>
              <a:rPr lang="en-US" sz="1400" dirty="0">
                <a:solidFill>
                  <a:srgbClr val="3D4A5C"/>
                </a:solidFill>
              </a:rPr>
              <a:t>Optimal (LQR) control, re-tuned to the passenger load. Same ride, empty or crowded.</a:t>
            </a:r>
            <a:endParaRPr lang="en-US" sz="1400" dirty="0"/>
          </a:p>
        </p:txBody>
      </p:sp>
      <p:sp>
        <p:nvSpPr>
          <p:cNvPr id="14" name="Shape 12"/>
          <p:cNvSpPr/>
          <p:nvPr/>
        </p:nvSpPr>
        <p:spPr>
          <a:xfrm>
            <a:off x="6187288" y="1645920"/>
            <a:ext cx="2636444" cy="3017520"/>
          </a:xfrm>
          <a:prstGeom prst="roundRect">
            <a:avLst>
              <a:gd name="adj" fmla="val 3468"/>
            </a:avLst>
          </a:prstGeom>
          <a:solidFill>
            <a:srgbClr val="FDFCF9"/>
          </a:solidFill>
          <a:ln w="9525">
            <a:solidFill>
              <a:srgbClr val="E3E0D6"/>
            </a:solidFill>
            <a:prstDash val="solid"/>
          </a:ln>
        </p:spPr>
      </p:sp>
      <p:sp>
        <p:nvSpPr>
          <p:cNvPr id="15" name="Shape 13"/>
          <p:cNvSpPr/>
          <p:nvPr/>
        </p:nvSpPr>
        <p:spPr>
          <a:xfrm>
            <a:off x="6187288" y="1645920"/>
            <a:ext cx="2636444" cy="73152"/>
          </a:xfrm>
          <a:prstGeom prst="rect">
            <a:avLst/>
          </a:prstGeom>
          <a:solidFill>
            <a:srgbClr val="1F6F66"/>
          </a:solidFill>
          <a:ln/>
        </p:spPr>
      </p:sp>
      <p:sp>
        <p:nvSpPr>
          <p:cNvPr id="16" name="Text 14"/>
          <p:cNvSpPr txBox="1"/>
          <p:nvPr/>
        </p:nvSpPr>
        <p:spPr>
          <a:xfrm>
            <a:off x="6415888" y="1920240"/>
            <a:ext cx="2179244" cy="548640"/>
          </a:xfrm>
          <a:prstGeom prst="rect">
            <a:avLst/>
          </a:prstGeom>
          <a:noFill/>
          <a:ln/>
        </p:spPr>
        <p:txBody>
          <a:bodyPr wrap="square" lIns="0" tIns="0" rIns="0" bIns="0" rtlCol="0" anchor="t"/>
          <a:lstStyle/>
          <a:p>
            <a:pPr indent="0" marL="0">
              <a:buNone/>
            </a:pPr>
            <a:r>
              <a:rPr lang="en-US" sz="3000" b="1" dirty="0">
                <a:solidFill>
                  <a:srgbClr val="1F6F66"/>
                </a:solidFill>
              </a:rPr>
              <a:t>C3</a:t>
            </a:r>
            <a:endParaRPr lang="en-US" sz="3000" dirty="0"/>
          </a:p>
        </p:txBody>
      </p:sp>
      <p:sp>
        <p:nvSpPr>
          <p:cNvPr id="17" name="Text 15"/>
          <p:cNvSpPr txBox="1"/>
          <p:nvPr/>
        </p:nvSpPr>
        <p:spPr>
          <a:xfrm>
            <a:off x="6415888" y="2514600"/>
            <a:ext cx="2179244" cy="685800"/>
          </a:xfrm>
          <a:prstGeom prst="rect">
            <a:avLst/>
          </a:prstGeom>
          <a:noFill/>
          <a:ln/>
        </p:spPr>
        <p:txBody>
          <a:bodyPr wrap="square" lIns="0" tIns="0" rIns="0" bIns="0" rtlCol="0" anchor="t"/>
          <a:lstStyle/>
          <a:p>
            <a:pPr indent="0" marL="0">
              <a:buNone/>
            </a:pPr>
            <a:r>
              <a:rPr lang="en-US" sz="1800" b="1" dirty="0">
                <a:solidFill>
                  <a:srgbClr val="13233A"/>
                </a:solidFill>
              </a:rPr>
              <a:t>+ Train Brain preview</a:t>
            </a:r>
            <a:endParaRPr lang="en-US" sz="1800" dirty="0"/>
          </a:p>
        </p:txBody>
      </p:sp>
      <p:sp>
        <p:nvSpPr>
          <p:cNvPr id="18" name="Text 16"/>
          <p:cNvSpPr txBox="1"/>
          <p:nvPr/>
        </p:nvSpPr>
        <p:spPr>
          <a:xfrm>
            <a:off x="6415888" y="3200400"/>
            <a:ext cx="2179244" cy="1325880"/>
          </a:xfrm>
          <a:prstGeom prst="rect">
            <a:avLst/>
          </a:prstGeom>
          <a:noFill/>
          <a:ln/>
        </p:spPr>
        <p:txBody>
          <a:bodyPr wrap="square" lIns="0" tIns="0" rIns="0" bIns="0" rtlCol="0" anchor="t"/>
          <a:lstStyle/>
          <a:p>
            <a:pPr indent="0" marL="0">
              <a:buNone/>
            </a:pPr>
            <a:r>
              <a:rPr lang="en-US" sz="1400" dirty="0">
                <a:solidFill>
                  <a:srgbClr val="3D4A5C"/>
                </a:solidFill>
              </a:rPr>
              <a:t>Uses the loco’s warning to prepare before every bump.</a:t>
            </a:r>
            <a:endParaRPr lang="en-US" sz="1400" dirty="0"/>
          </a:p>
        </p:txBody>
      </p:sp>
      <p:sp>
        <p:nvSpPr>
          <p:cNvPr id="19" name="Shape 17"/>
          <p:cNvSpPr/>
          <p:nvPr/>
        </p:nvSpPr>
        <p:spPr>
          <a:xfrm>
            <a:off x="9006611" y="1645920"/>
            <a:ext cx="2636444" cy="3017520"/>
          </a:xfrm>
          <a:prstGeom prst="roundRect">
            <a:avLst>
              <a:gd name="adj" fmla="val 3468"/>
            </a:avLst>
          </a:prstGeom>
          <a:solidFill>
            <a:srgbClr val="FDFCF9"/>
          </a:solidFill>
          <a:ln w="9525">
            <a:solidFill>
              <a:srgbClr val="E3E0D6"/>
            </a:solidFill>
            <a:prstDash val="solid"/>
          </a:ln>
        </p:spPr>
      </p:sp>
      <p:sp>
        <p:nvSpPr>
          <p:cNvPr id="20" name="Shape 18"/>
          <p:cNvSpPr/>
          <p:nvPr/>
        </p:nvSpPr>
        <p:spPr>
          <a:xfrm>
            <a:off x="9006611" y="1645920"/>
            <a:ext cx="2636444" cy="73152"/>
          </a:xfrm>
          <a:prstGeom prst="rect">
            <a:avLst/>
          </a:prstGeom>
          <a:solidFill>
            <a:srgbClr val="A8520F"/>
          </a:solidFill>
          <a:ln/>
        </p:spPr>
      </p:sp>
      <p:sp>
        <p:nvSpPr>
          <p:cNvPr id="21" name="Text 19"/>
          <p:cNvSpPr txBox="1"/>
          <p:nvPr/>
        </p:nvSpPr>
        <p:spPr>
          <a:xfrm>
            <a:off x="9235211" y="1920240"/>
            <a:ext cx="2179244" cy="548640"/>
          </a:xfrm>
          <a:prstGeom prst="rect">
            <a:avLst/>
          </a:prstGeom>
          <a:noFill/>
          <a:ln/>
        </p:spPr>
        <p:txBody>
          <a:bodyPr wrap="square" lIns="0" tIns="0" rIns="0" bIns="0" rtlCol="0" anchor="t"/>
          <a:lstStyle/>
          <a:p>
            <a:pPr indent="0" marL="0">
              <a:buNone/>
            </a:pPr>
            <a:r>
              <a:rPr lang="en-US" sz="3000" b="1" dirty="0">
                <a:solidFill>
                  <a:srgbClr val="A8520F"/>
                </a:solidFill>
              </a:rPr>
              <a:t>C4</a:t>
            </a:r>
            <a:endParaRPr lang="en-US" sz="3000" dirty="0"/>
          </a:p>
        </p:txBody>
      </p:sp>
      <p:sp>
        <p:nvSpPr>
          <p:cNvPr id="22" name="Text 20"/>
          <p:cNvSpPr txBox="1"/>
          <p:nvPr/>
        </p:nvSpPr>
        <p:spPr>
          <a:xfrm>
            <a:off x="9235211" y="2514600"/>
            <a:ext cx="2179244" cy="685800"/>
          </a:xfrm>
          <a:prstGeom prst="rect">
            <a:avLst/>
          </a:prstGeom>
          <a:noFill/>
          <a:ln/>
        </p:spPr>
        <p:txBody>
          <a:bodyPr wrap="square" lIns="0" tIns="0" rIns="0" bIns="0" rtlCol="0" anchor="t"/>
          <a:lstStyle/>
          <a:p>
            <a:pPr indent="0" marL="0">
              <a:buNone/>
            </a:pPr>
            <a:r>
              <a:rPr lang="en-US" sz="1800" b="1" dirty="0">
                <a:solidFill>
                  <a:srgbClr val="13233A"/>
                </a:solidFill>
              </a:rPr>
              <a:t>+ Push at bad spots</a:t>
            </a:r>
            <a:endParaRPr lang="en-US" sz="1800" dirty="0"/>
          </a:p>
        </p:txBody>
      </p:sp>
      <p:sp>
        <p:nvSpPr>
          <p:cNvPr id="23" name="Text 21"/>
          <p:cNvSpPr txBox="1"/>
          <p:nvPr/>
        </p:nvSpPr>
        <p:spPr>
          <a:xfrm>
            <a:off x="9235211" y="3200400"/>
            <a:ext cx="2179244" cy="1325880"/>
          </a:xfrm>
          <a:prstGeom prst="rect">
            <a:avLst/>
          </a:prstGeom>
          <a:noFill/>
          <a:ln/>
        </p:spPr>
        <p:txBody>
          <a:bodyPr wrap="square" lIns="0" tIns="0" rIns="0" bIns="0" rtlCol="0" anchor="t"/>
          <a:lstStyle/>
          <a:p>
            <a:pPr indent="0" marL="0">
              <a:buNone/>
            </a:pPr>
            <a:r>
              <a:rPr lang="en-US" sz="1400" dirty="0">
                <a:solidFill>
                  <a:srgbClr val="3D4A5C"/>
                </a:solidFill>
              </a:rPr>
              <a:t>At known bad spots the damper pushes, using its own stored energy.</a:t>
            </a:r>
            <a:endParaRPr lang="en-US" sz="1400" dirty="0"/>
          </a:p>
        </p:txBody>
      </p:sp>
      <p:sp>
        <p:nvSpPr>
          <p:cNvPr id="24" name="Shape 22"/>
          <p:cNvSpPr/>
          <p:nvPr/>
        </p:nvSpPr>
        <p:spPr>
          <a:xfrm>
            <a:off x="548640" y="4892040"/>
            <a:ext cx="11094415" cy="1097280"/>
          </a:xfrm>
          <a:prstGeom prst="roundRect">
            <a:avLst>
              <a:gd name="adj" fmla="val 8333"/>
            </a:avLst>
          </a:prstGeom>
          <a:solidFill>
            <a:srgbClr val="13233A"/>
          </a:solidFill>
          <a:ln/>
        </p:spPr>
      </p:sp>
      <p:sp>
        <p:nvSpPr>
          <p:cNvPr id="25" name="Text 23"/>
          <p:cNvSpPr txBox="1"/>
          <p:nvPr/>
        </p:nvSpPr>
        <p:spPr>
          <a:xfrm>
            <a:off x="822960" y="4983480"/>
            <a:ext cx="10545775" cy="914400"/>
          </a:xfrm>
          <a:prstGeom prst="rect">
            <a:avLst/>
          </a:prstGeom>
          <a:noFill/>
          <a:ln/>
        </p:spPr>
        <p:txBody>
          <a:bodyPr wrap="square" lIns="0" tIns="0" rIns="0" bIns="0" rtlCol="0" anchor="ctr"/>
          <a:lstStyle/>
          <a:p>
            <a:pPr indent="0" marL="0">
              <a:buNone/>
            </a:pPr>
            <a:r>
              <a:rPr lang="en-US" sz="1500" b="1" dirty="0">
                <a:solidFill>
                  <a:srgbClr val="F0974A"/>
                </a:solidFill>
              </a:rPr>
              <a:t>Inside every damper: </a:t>
            </a:r>
            <a:pPr indent="0" marL="0">
              <a:buNone/>
            </a:pPr>
            <a:r>
              <a:rPr lang="en-US" sz="1500" dirty="0">
                <a:solidFill>
                  <a:srgbClr val="E4E8EE"/>
                </a:solidFill>
              </a:rPr>
              <a:t>a fast current loop, 10,000 times a second, makes the coil follow the controller’s command. Today’s oil damper is the baseline we beat.</a:t>
            </a:r>
            <a:endParaRPr lang="en-US" sz="1500" dirty="0"/>
          </a:p>
        </p:txBody>
      </p:sp>
      <p:sp>
        <p:nvSpPr>
          <p:cNvPr id="25" name="Slide Number Placeholder 0"/>
          <p:cNvSpPr>
            <a:spLocks noGrp="1"/>
          </p:cNvSpPr>
          <p:nvPr>
            <p:ph type="sldNum" sz="quarter" idx="4294967295"/>
          </p:nvPr>
        </p:nvSpPr>
        <p:spPr>
          <a:xfrm>
            <a:off x="11155680" y="6419088"/>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310896"/>
          </a:xfrm>
          <a:prstGeom prst="rect">
            <a:avLst/>
          </a:prstGeom>
          <a:noFill/>
          <a:ln/>
        </p:spPr>
        <p:txBody>
          <a:bodyPr wrap="square" lIns="0" tIns="0" rIns="0" bIns="0" rtlCol="0" anchor="ctr"/>
          <a:lstStyle/>
          <a:p>
            <a:pPr indent="0" marL="0">
              <a:buNone/>
            </a:pPr>
            <a:r>
              <a:rPr lang="en-US" sz="1200" b="1" spc="300" kern="0" dirty="0">
                <a:solidFill>
                  <a:srgbClr val="A8520F"/>
                </a:solidFill>
              </a:rPr>
              <a:t>05 · IMPLEMENTATION</a:t>
            </a:r>
            <a:endParaRPr lang="en-US" sz="1200" dirty="0"/>
          </a:p>
        </p:txBody>
      </p:sp>
      <p:sp>
        <p:nvSpPr>
          <p:cNvPr id="3" name="Text 0"/>
          <p:cNvSpPr/>
          <p:nvPr>
            <p:ph idx="101" type="title" hasCustomPrompt="1"/>
          </p:nvPr>
        </p:nvSpPr>
        <p:spPr>
          <a:xfrm>
            <a:off x="548640" y="713232"/>
            <a:ext cx="11094415" cy="713232"/>
          </a:xfrm>
          <a:prstGeom prst="rect">
            <a:avLst/>
          </a:prstGeom>
          <a:noFill/>
          <a:ln/>
        </p:spPr>
        <p:txBody>
          <a:bodyPr wrap="square" lIns="0" tIns="0" rIns="0" bIns="0" rtlCol="0" anchor="t"/>
          <a:lstStyle/>
          <a:p>
            <a:pPr algn="l" indent="0" marL="0">
              <a:buNone/>
            </a:pPr>
            <a:r>
              <a:rPr lang="en-US" sz="3000" b="1" dirty="0">
                <a:solidFill>
                  <a:srgbClr val="13233A"/>
                </a:solidFill>
              </a:rPr>
              <a:t>Built and run in MATLAB/Simulink R2024b</a:t>
            </a:r>
            <a:endParaRPr lang="en-US" sz="3000" dirty="0"/>
          </a:p>
        </p:txBody>
      </p:sp>
      <p:sp>
        <p:nvSpPr>
          <p:cNvPr id="4" name="m4 frame"/>
          <p:cNvSpPr/>
          <p:nvPr/>
        </p:nvSpPr>
        <p:spPr>
          <a:xfrm>
            <a:off x="548640" y="1554480"/>
            <a:ext cx="6492240" cy="4114800"/>
          </a:xfrm>
          <a:prstGeom prst="roundRect">
            <a:avLst>
              <a:gd name="adj" fmla="val 1778"/>
            </a:avLst>
          </a:prstGeom>
          <a:solidFill>
            <a:srgbClr val="FFFFFF"/>
          </a:solidFill>
          <a:ln w="9525">
            <a:solidFill>
              <a:srgbClr val="E3E0D6"/>
            </a:solidFill>
            <a:prstDash val="solid"/>
          </a:ln>
        </p:spPr>
      </p:sp>
      <p:pic>
        <p:nvPicPr>
          <p:cNvPr id="5" name="m4" descr="Simulink model SR_Stage4: track, Train Brain, controller, smart damper, power electronics, power bank, scopes">    </p:cNvPr>
          <p:cNvPicPr>
            <a:picLocks noChangeAspect="1"/>
          </p:cNvPicPr>
          <p:nvPr/>
        </p:nvPicPr>
        <p:blipFill>
          <a:blip r:embed="rId1"/>
          <a:stretch>
            <a:fillRect/>
          </a:stretch>
        </p:blipFill>
        <p:spPr>
          <a:xfrm>
            <a:off x="621792" y="1942981"/>
            <a:ext cx="6345936" cy="3337798"/>
          </a:xfrm>
          <a:prstGeom prst="rect">
            <a:avLst/>
          </a:prstGeom>
        </p:spPr>
      </p:pic>
      <p:sp>
        <p:nvSpPr>
          <p:cNvPr id="6" name="Text 3"/>
          <p:cNvSpPr txBox="1"/>
          <p:nvPr/>
        </p:nvSpPr>
        <p:spPr>
          <a:xfrm>
            <a:off x="548640" y="5760720"/>
            <a:ext cx="6492240" cy="365760"/>
          </a:xfrm>
          <a:prstGeom prst="rect">
            <a:avLst/>
          </a:prstGeom>
          <a:noFill/>
          <a:ln/>
        </p:spPr>
        <p:txBody>
          <a:bodyPr wrap="square" lIns="0" tIns="0" rIns="0" bIns="0" rtlCol="0" anchor="t"/>
          <a:lstStyle/>
          <a:p>
            <a:pPr indent="0" marL="0">
              <a:buNone/>
            </a:pPr>
            <a:r>
              <a:rPr lang="en-US" sz="1400" b="1" dirty="0">
                <a:solidFill>
                  <a:srgbClr val="13233A"/>
                </a:solidFill>
              </a:rPr>
              <a:t>SR_Stage4: </a:t>
            </a:r>
            <a:pPr indent="0" marL="0">
              <a:buNone/>
            </a:pPr>
            <a:r>
              <a:rPr lang="en-US" sz="1400" dirty="0">
                <a:solidFill>
                  <a:srgbClr val="3D4A5C"/>
                </a:solidFill>
              </a:rPr>
              <a:t>track · Train Brain · controller · damper · bank · 8 live scopes</a:t>
            </a:r>
            <a:endParaRPr lang="en-US" sz="1400" dirty="0"/>
          </a:p>
        </p:txBody>
      </p:sp>
      <p:sp>
        <p:nvSpPr>
          <p:cNvPr id="7" name="mctrl frame"/>
          <p:cNvSpPr/>
          <p:nvPr/>
        </p:nvSpPr>
        <p:spPr>
          <a:xfrm>
            <a:off x="7269480" y="1554480"/>
            <a:ext cx="4373575" cy="1417320"/>
          </a:xfrm>
          <a:prstGeom prst="roundRect">
            <a:avLst>
              <a:gd name="adj" fmla="val 5161"/>
            </a:avLst>
          </a:prstGeom>
          <a:solidFill>
            <a:srgbClr val="FFFFFF"/>
          </a:solidFill>
          <a:ln w="9525">
            <a:solidFill>
              <a:srgbClr val="E3E0D6"/>
            </a:solidFill>
            <a:prstDash val="solid"/>
          </a:ln>
        </p:spPr>
      </p:sp>
      <p:pic>
        <p:nvPicPr>
          <p:cNvPr id="8" name="mctrl" descr="Controller subsystem: LPV state feedback with preview, semi-active conversion, command smoothing">    </p:cNvPr>
          <p:cNvPicPr>
            <a:picLocks noChangeAspect="1"/>
          </p:cNvPicPr>
          <p:nvPr/>
        </p:nvPicPr>
        <p:blipFill>
          <a:blip r:embed="rId2"/>
          <a:stretch>
            <a:fillRect/>
          </a:stretch>
        </p:blipFill>
        <p:spPr>
          <a:xfrm>
            <a:off x="7342632" y="1774777"/>
            <a:ext cx="4227271" cy="976726"/>
          </a:xfrm>
          <a:prstGeom prst="rect">
            <a:avLst/>
          </a:prstGeom>
        </p:spPr>
      </p:pic>
      <p:sp>
        <p:nvSpPr>
          <p:cNvPr id="9" name="Text 5"/>
          <p:cNvSpPr txBox="1"/>
          <p:nvPr/>
        </p:nvSpPr>
        <p:spPr>
          <a:xfrm>
            <a:off x="7269480" y="3035808"/>
            <a:ext cx="4373575" cy="320040"/>
          </a:xfrm>
          <a:prstGeom prst="rect">
            <a:avLst/>
          </a:prstGeom>
          <a:noFill/>
          <a:ln/>
        </p:spPr>
        <p:txBody>
          <a:bodyPr wrap="square" lIns="0" tIns="0" rIns="0" bIns="0" rtlCol="0" anchor="t"/>
          <a:lstStyle/>
          <a:p>
            <a:pPr indent="0" marL="0">
              <a:buNone/>
            </a:pPr>
            <a:r>
              <a:rPr lang="en-US" sz="1400" b="1" dirty="0">
                <a:solidFill>
                  <a:srgbClr val="13233A"/>
                </a:solidFill>
              </a:rPr>
              <a:t>Controller: </a:t>
            </a:r>
            <a:pPr indent="0" marL="0">
              <a:buNone/>
            </a:pPr>
            <a:r>
              <a:rPr lang="en-US" sz="1400" dirty="0">
                <a:solidFill>
                  <a:srgbClr val="3D4A5C"/>
                </a:solidFill>
              </a:rPr>
              <a:t>LPV + preview, semi-active map</a:t>
            </a:r>
            <a:endParaRPr lang="en-US" sz="1400" dirty="0"/>
          </a:p>
        </p:txBody>
      </p:sp>
      <p:sp>
        <p:nvSpPr>
          <p:cNvPr id="10" name="mbench frame"/>
          <p:cNvSpPr/>
          <p:nvPr/>
        </p:nvSpPr>
        <p:spPr>
          <a:xfrm>
            <a:off x="7269480" y="3474720"/>
            <a:ext cx="4373575" cy="2194560"/>
          </a:xfrm>
          <a:prstGeom prst="roundRect">
            <a:avLst>
              <a:gd name="adj" fmla="val 3333"/>
            </a:avLst>
          </a:prstGeom>
          <a:solidFill>
            <a:srgbClr val="FFFFFF"/>
          </a:solidFill>
          <a:ln w="9525">
            <a:solidFill>
              <a:srgbClr val="E3E0D6"/>
            </a:solidFill>
            <a:prstDash val="solid"/>
          </a:ln>
        </p:spPr>
      </p:sp>
      <p:pic>
        <p:nvPicPr>
          <p:cNvPr id="11" name="mbench" descr="Simulink bench model SR_Bench: test rig, drive firmware, damper hardware, power electronics, bank, winding temperature">    </p:cNvPr>
          <p:cNvPicPr>
            <a:picLocks noChangeAspect="1"/>
          </p:cNvPicPr>
          <p:nvPr/>
        </p:nvPicPr>
        <p:blipFill>
          <a:blip r:embed="rId3"/>
          <a:stretch>
            <a:fillRect/>
          </a:stretch>
        </p:blipFill>
        <p:spPr>
          <a:xfrm>
            <a:off x="7632221" y="3547872"/>
            <a:ext cx="3648093" cy="2048256"/>
          </a:xfrm>
          <a:prstGeom prst="rect">
            <a:avLst/>
          </a:prstGeom>
        </p:spPr>
      </p:pic>
      <p:sp>
        <p:nvSpPr>
          <p:cNvPr id="12" name="Text 7"/>
          <p:cNvSpPr txBox="1"/>
          <p:nvPr/>
        </p:nvSpPr>
        <p:spPr>
          <a:xfrm>
            <a:off x="7269480" y="5760720"/>
            <a:ext cx="4373575" cy="365760"/>
          </a:xfrm>
          <a:prstGeom prst="rect">
            <a:avLst/>
          </a:prstGeom>
          <a:noFill/>
          <a:ln/>
        </p:spPr>
        <p:txBody>
          <a:bodyPr wrap="square" lIns="0" tIns="0" rIns="0" bIns="0" rtlCol="0" anchor="t"/>
          <a:lstStyle/>
          <a:p>
            <a:pPr indent="0" marL="0">
              <a:buNone/>
            </a:pPr>
            <a:r>
              <a:rPr lang="en-US" sz="1400" b="1" dirty="0">
                <a:solidFill>
                  <a:srgbClr val="13233A"/>
                </a:solidFill>
              </a:rPr>
              <a:t>SR_Bench: </a:t>
            </a:r>
            <a:pPr indent="0" marL="0">
              <a:buNone/>
            </a:pPr>
            <a:r>
              <a:rPr lang="en-US" sz="1400" dirty="0">
                <a:solidFill>
                  <a:srgbClr val="3D4A5C"/>
                </a:solidFill>
              </a:rPr>
              <a:t>one damper on a test rig</a:t>
            </a:r>
            <a:endParaRPr lang="en-US" sz="1400" dirty="0"/>
          </a:p>
        </p:txBody>
      </p:sp>
      <p:sp>
        <p:nvSpPr>
          <p:cNvPr id="25" name="Slide Number Placeholder 0"/>
          <p:cNvSpPr>
            <a:spLocks noGrp="1"/>
          </p:cNvSpPr>
          <p:nvPr>
            <p:ph type="sldNum" sz="quarter" idx="4294967295"/>
          </p:nvPr>
        </p:nvSpPr>
        <p:spPr>
          <a:xfrm>
            <a:off x="11155680" y="6419088"/>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310896"/>
          </a:xfrm>
          <a:prstGeom prst="rect">
            <a:avLst/>
          </a:prstGeom>
          <a:noFill/>
          <a:ln/>
        </p:spPr>
        <p:txBody>
          <a:bodyPr wrap="square" lIns="0" tIns="0" rIns="0" bIns="0" rtlCol="0" anchor="ctr"/>
          <a:lstStyle/>
          <a:p>
            <a:pPr indent="0" marL="0">
              <a:buNone/>
            </a:pPr>
            <a:r>
              <a:rPr lang="en-US" sz="1200" b="1" spc="300" kern="0" dirty="0">
                <a:solidFill>
                  <a:srgbClr val="A8520F"/>
                </a:solidFill>
              </a:rPr>
              <a:t>06 · RESULTS · RIDE COMFORT</a:t>
            </a:r>
            <a:endParaRPr lang="en-US" sz="1200" dirty="0"/>
          </a:p>
        </p:txBody>
      </p:sp>
      <p:sp>
        <p:nvSpPr>
          <p:cNvPr id="3" name="Text 0"/>
          <p:cNvSpPr/>
          <p:nvPr>
            <p:ph idx="101" type="title" hasCustomPrompt="1"/>
          </p:nvPr>
        </p:nvSpPr>
        <p:spPr>
          <a:xfrm>
            <a:off x="548640" y="713232"/>
            <a:ext cx="11094415" cy="713232"/>
          </a:xfrm>
          <a:prstGeom prst="rect">
            <a:avLst/>
          </a:prstGeom>
          <a:noFill/>
          <a:ln/>
        </p:spPr>
        <p:txBody>
          <a:bodyPr wrap="square" lIns="0" tIns="0" rIns="0" bIns="0" rtlCol="0" anchor="t"/>
          <a:lstStyle/>
          <a:p>
            <a:pPr algn="l" indent="0" marL="0">
              <a:buNone/>
            </a:pPr>
            <a:r>
              <a:rPr lang="en-US" sz="3000" b="1" dirty="0">
                <a:solidFill>
                  <a:srgbClr val="13233A"/>
                </a:solidFill>
              </a:rPr>
              <a:t>Better ride at every load, on every train</a:t>
            </a:r>
            <a:endParaRPr lang="en-US" sz="3000" dirty="0"/>
          </a:p>
        </p:txBody>
      </p:sp>
      <p:sp>
        <p:nvSpPr>
          <p:cNvPr id="4" name="ride frame"/>
          <p:cNvSpPr/>
          <p:nvPr/>
        </p:nvSpPr>
        <p:spPr>
          <a:xfrm>
            <a:off x="548640" y="1554480"/>
            <a:ext cx="6949440" cy="4572000"/>
          </a:xfrm>
          <a:prstGeom prst="roundRect">
            <a:avLst>
              <a:gd name="adj" fmla="val 1600"/>
            </a:avLst>
          </a:prstGeom>
          <a:solidFill>
            <a:srgbClr val="FFFFFF"/>
          </a:solidFill>
          <a:ln w="9525">
            <a:solidFill>
              <a:srgbClr val="E3E0D6"/>
            </a:solidFill>
            <a:prstDash val="solid"/>
          </a:ln>
        </p:spPr>
      </p:sp>
      <p:pic>
        <p:nvPicPr>
          <p:cNvPr id="5" name="ride" descr="Sperling ride index against load for LHB, Vande Bharat, ICF and BOXN: today's damper, fixed harvester, SwarmRide LPV and LPV plus preview">    </p:cNvPr>
          <p:cNvPicPr>
            <a:picLocks noChangeAspect="1"/>
          </p:cNvPicPr>
          <p:nvPr/>
        </p:nvPicPr>
        <p:blipFill>
          <a:blip r:embed="rId1"/>
          <a:stretch>
            <a:fillRect/>
          </a:stretch>
        </p:blipFill>
        <p:spPr>
          <a:xfrm>
            <a:off x="1099532" y="1627632"/>
            <a:ext cx="5847656" cy="4425696"/>
          </a:xfrm>
          <a:prstGeom prst="rect">
            <a:avLst/>
          </a:prstGeom>
        </p:spPr>
      </p:pic>
      <p:sp>
        <p:nvSpPr>
          <p:cNvPr id="6" name="Shape 3"/>
          <p:cNvSpPr/>
          <p:nvPr/>
        </p:nvSpPr>
        <p:spPr>
          <a:xfrm>
            <a:off x="7772400" y="1554480"/>
            <a:ext cx="3870655" cy="1417320"/>
          </a:xfrm>
          <a:prstGeom prst="roundRect">
            <a:avLst>
              <a:gd name="adj" fmla="val 6452"/>
            </a:avLst>
          </a:prstGeom>
          <a:solidFill>
            <a:srgbClr val="13233A"/>
          </a:solidFill>
          <a:ln/>
        </p:spPr>
      </p:sp>
      <p:sp>
        <p:nvSpPr>
          <p:cNvPr id="7" name="Text 4"/>
          <p:cNvSpPr txBox="1"/>
          <p:nvPr/>
        </p:nvSpPr>
        <p:spPr>
          <a:xfrm>
            <a:off x="7973568" y="1700784"/>
            <a:ext cx="3468319" cy="566928"/>
          </a:xfrm>
          <a:prstGeom prst="rect">
            <a:avLst/>
          </a:prstGeom>
          <a:noFill/>
          <a:ln/>
        </p:spPr>
        <p:txBody>
          <a:bodyPr wrap="square" lIns="0" tIns="0" rIns="0" bIns="0" rtlCol="0" anchor="t"/>
          <a:lstStyle/>
          <a:p>
            <a:pPr indent="0" marL="0">
              <a:buNone/>
            </a:pPr>
            <a:r>
              <a:rPr lang="en-US" sz="3200" b="1" dirty="0">
                <a:solidFill>
                  <a:srgbClr val="F0974A"/>
                </a:solidFill>
                <a:latin typeface="Calibri" pitchFamily="34" charset="0"/>
                <a:ea typeface="Calibri" pitchFamily="34" charset="-122"/>
                <a:cs typeface="Calibri" pitchFamily="34" charset="-120"/>
              </a:rPr>
              <a:t>−17%</a:t>
            </a:r>
            <a:endParaRPr lang="en-US" sz="3200" dirty="0"/>
          </a:p>
        </p:txBody>
      </p:sp>
      <p:sp>
        <p:nvSpPr>
          <p:cNvPr id="8" name="Text 5"/>
          <p:cNvSpPr txBox="1"/>
          <p:nvPr/>
        </p:nvSpPr>
        <p:spPr>
          <a:xfrm>
            <a:off x="7973568" y="2286000"/>
            <a:ext cx="3468319" cy="576072"/>
          </a:xfrm>
          <a:prstGeom prst="rect">
            <a:avLst/>
          </a:prstGeom>
          <a:noFill/>
          <a:ln/>
        </p:spPr>
        <p:txBody>
          <a:bodyPr wrap="square" lIns="0" tIns="0" rIns="0" bIns="0" rtlCol="0" anchor="t"/>
          <a:lstStyle/>
          <a:p>
            <a:pPr indent="0" marL="0">
              <a:buNone/>
            </a:pPr>
            <a:r>
              <a:rPr lang="en-US" sz="1400" dirty="0">
                <a:solidFill>
                  <a:srgbClr val="E4E8EE"/>
                </a:solidFill>
              </a:rPr>
              <a:t>Sperling Wz, crowded LHB, 160 km/h · 1.844 → 1.528</a:t>
            </a:r>
            <a:endParaRPr lang="en-US" sz="1400" dirty="0"/>
          </a:p>
        </p:txBody>
      </p:sp>
      <p:sp>
        <p:nvSpPr>
          <p:cNvPr id="9" name="Shape 6"/>
          <p:cNvSpPr/>
          <p:nvPr/>
        </p:nvSpPr>
        <p:spPr>
          <a:xfrm>
            <a:off x="7772400" y="3127248"/>
            <a:ext cx="3870655" cy="1417320"/>
          </a:xfrm>
          <a:prstGeom prst="roundRect">
            <a:avLst>
              <a:gd name="adj" fmla="val 6452"/>
            </a:avLst>
          </a:prstGeom>
          <a:solidFill>
            <a:srgbClr val="FDFCF9"/>
          </a:solidFill>
          <a:ln w="9525">
            <a:solidFill>
              <a:srgbClr val="E3E0D6"/>
            </a:solidFill>
            <a:prstDash val="solid"/>
          </a:ln>
        </p:spPr>
      </p:sp>
      <p:sp>
        <p:nvSpPr>
          <p:cNvPr id="10" name="Text 7"/>
          <p:cNvSpPr txBox="1"/>
          <p:nvPr/>
        </p:nvSpPr>
        <p:spPr>
          <a:xfrm>
            <a:off x="7973568" y="3273552"/>
            <a:ext cx="3468319" cy="566928"/>
          </a:xfrm>
          <a:prstGeom prst="rect">
            <a:avLst/>
          </a:prstGeom>
          <a:noFill/>
          <a:ln/>
        </p:spPr>
        <p:txBody>
          <a:bodyPr wrap="square" lIns="0" tIns="0" rIns="0" bIns="0" rtlCol="0" anchor="t"/>
          <a:lstStyle/>
          <a:p>
            <a:pPr indent="0" marL="0">
              <a:buNone/>
            </a:pPr>
            <a:r>
              <a:rPr lang="en-US" sz="3200" b="1" dirty="0">
                <a:solidFill>
                  <a:srgbClr val="1F6F66"/>
                </a:solidFill>
                <a:latin typeface="Calibri" pitchFamily="34" charset="0"/>
                <a:ea typeface="Calibri" pitchFamily="34" charset="-122"/>
                <a:cs typeface="Calibri" pitchFamily="34" charset="-120"/>
              </a:rPr>
              <a:t>−41%</a:t>
            </a:r>
            <a:endParaRPr lang="en-US" sz="3200" dirty="0"/>
          </a:p>
        </p:txBody>
      </p:sp>
      <p:sp>
        <p:nvSpPr>
          <p:cNvPr id="11" name="Text 8"/>
          <p:cNvSpPr txBox="1"/>
          <p:nvPr/>
        </p:nvSpPr>
        <p:spPr>
          <a:xfrm>
            <a:off x="7973568" y="3858768"/>
            <a:ext cx="3468319" cy="576072"/>
          </a:xfrm>
          <a:prstGeom prst="rect">
            <a:avLst/>
          </a:prstGeom>
          <a:noFill/>
          <a:ln/>
        </p:spPr>
        <p:txBody>
          <a:bodyPr wrap="square" lIns="0" tIns="0" rIns="0" bIns="0" rtlCol="0" anchor="t"/>
          <a:lstStyle/>
          <a:p>
            <a:pPr indent="0" marL="0">
              <a:buNone/>
            </a:pPr>
            <a:r>
              <a:rPr lang="en-US" sz="1400" dirty="0">
                <a:solidFill>
                  <a:srgbClr val="3D4A5C"/>
                </a:solidFill>
              </a:rPr>
              <a:t>body vibration RMS · 0.174 → 0.103 m/s²</a:t>
            </a:r>
            <a:endParaRPr lang="en-US" sz="1400" dirty="0"/>
          </a:p>
        </p:txBody>
      </p:sp>
      <p:sp>
        <p:nvSpPr>
          <p:cNvPr id="12" name="Shape 9"/>
          <p:cNvSpPr/>
          <p:nvPr/>
        </p:nvSpPr>
        <p:spPr>
          <a:xfrm>
            <a:off x="7772400" y="4700016"/>
            <a:ext cx="3870655" cy="1417320"/>
          </a:xfrm>
          <a:prstGeom prst="roundRect">
            <a:avLst>
              <a:gd name="adj" fmla="val 6452"/>
            </a:avLst>
          </a:prstGeom>
          <a:solidFill>
            <a:srgbClr val="FDFCF9"/>
          </a:solidFill>
          <a:ln w="9525">
            <a:solidFill>
              <a:srgbClr val="E3E0D6"/>
            </a:solidFill>
            <a:prstDash val="solid"/>
          </a:ln>
        </p:spPr>
      </p:sp>
      <p:sp>
        <p:nvSpPr>
          <p:cNvPr id="13" name="Text 10"/>
          <p:cNvSpPr txBox="1"/>
          <p:nvPr/>
        </p:nvSpPr>
        <p:spPr>
          <a:xfrm>
            <a:off x="7973568" y="4846320"/>
            <a:ext cx="3468319" cy="566928"/>
          </a:xfrm>
          <a:prstGeom prst="rect">
            <a:avLst/>
          </a:prstGeom>
          <a:noFill/>
          <a:ln/>
        </p:spPr>
        <p:txBody>
          <a:bodyPr wrap="square" lIns="0" tIns="0" rIns="0" bIns="0" rtlCol="0" anchor="t"/>
          <a:lstStyle/>
          <a:p>
            <a:pPr indent="0" marL="0">
              <a:buNone/>
            </a:pPr>
            <a:r>
              <a:rPr lang="en-US" sz="3200" b="1" dirty="0">
                <a:solidFill>
                  <a:srgbClr val="1F6F66"/>
                </a:solidFill>
                <a:latin typeface="Calibri" pitchFamily="34" charset="0"/>
                <a:ea typeface="Calibri" pitchFamily="34" charset="-122"/>
                <a:cs typeface="Calibri" pitchFamily="34" charset="-120"/>
              </a:rPr>
              <a:t>−16% · −23%</a:t>
            </a:r>
            <a:endParaRPr lang="en-US" sz="3200" dirty="0"/>
          </a:p>
        </p:txBody>
      </p:sp>
      <p:sp>
        <p:nvSpPr>
          <p:cNvPr id="14" name="Text 11"/>
          <p:cNvSpPr txBox="1"/>
          <p:nvPr/>
        </p:nvSpPr>
        <p:spPr>
          <a:xfrm>
            <a:off x="7973568" y="5431536"/>
            <a:ext cx="3468319" cy="576072"/>
          </a:xfrm>
          <a:prstGeom prst="rect">
            <a:avLst/>
          </a:prstGeom>
          <a:noFill/>
          <a:ln/>
        </p:spPr>
        <p:txBody>
          <a:bodyPr wrap="square" lIns="0" tIns="0" rIns="0" bIns="0" rtlCol="0" anchor="t"/>
          <a:lstStyle/>
          <a:p>
            <a:pPr indent="0" marL="0">
              <a:buNone/>
            </a:pPr>
            <a:r>
              <a:rPr lang="en-US" sz="1400" dirty="0">
                <a:solidFill>
                  <a:srgbClr val="3D4A5C"/>
                </a:solidFill>
              </a:rPr>
              <a:t>Vande Bharat · loaded BOXN wagon</a:t>
            </a:r>
            <a:endParaRPr lang="en-US" sz="1400" dirty="0"/>
          </a:p>
        </p:txBody>
      </p:sp>
      <p:sp>
        <p:nvSpPr>
          <p:cNvPr id="25" name="Slide Number Placeholder 0"/>
          <p:cNvSpPr>
            <a:spLocks noGrp="1"/>
          </p:cNvSpPr>
          <p:nvPr>
            <p:ph type="sldNum" sz="quarter" idx="4294967295"/>
          </p:nvPr>
        </p:nvSpPr>
        <p:spPr>
          <a:xfrm>
            <a:off x="11155680" y="6419088"/>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310896"/>
          </a:xfrm>
          <a:prstGeom prst="rect">
            <a:avLst/>
          </a:prstGeom>
          <a:noFill/>
          <a:ln/>
        </p:spPr>
        <p:txBody>
          <a:bodyPr wrap="square" lIns="0" tIns="0" rIns="0" bIns="0" rtlCol="0" anchor="ctr"/>
          <a:lstStyle/>
          <a:p>
            <a:pPr indent="0" marL="0">
              <a:buNone/>
            </a:pPr>
            <a:r>
              <a:rPr lang="en-US" sz="1200" b="1" spc="300" kern="0" dirty="0">
                <a:solidFill>
                  <a:srgbClr val="A8520F"/>
                </a:solidFill>
              </a:rPr>
              <a:t>06 · RESULTS · COMFORT AND POWER</a:t>
            </a:r>
            <a:endParaRPr lang="en-US" sz="1200" dirty="0"/>
          </a:p>
        </p:txBody>
      </p:sp>
      <p:sp>
        <p:nvSpPr>
          <p:cNvPr id="3" name="Text 0"/>
          <p:cNvSpPr/>
          <p:nvPr>
            <p:ph idx="101" type="title" hasCustomPrompt="1"/>
          </p:nvPr>
        </p:nvSpPr>
        <p:spPr>
          <a:xfrm>
            <a:off x="548640" y="713232"/>
            <a:ext cx="11094415" cy="713232"/>
          </a:xfrm>
          <a:prstGeom prst="rect">
            <a:avLst/>
          </a:prstGeom>
          <a:noFill/>
          <a:ln/>
        </p:spPr>
        <p:txBody>
          <a:bodyPr wrap="square" lIns="0" tIns="0" rIns="0" bIns="0" rtlCol="0" anchor="t"/>
          <a:lstStyle/>
          <a:p>
            <a:pPr algn="l" indent="0" marL="0">
              <a:buNone/>
            </a:pPr>
            <a:r>
              <a:rPr lang="en-US" sz="3000" b="1" dirty="0">
                <a:solidFill>
                  <a:srgbClr val="13233A"/>
                </a:solidFill>
              </a:rPr>
              <a:t>Each controller step buys comfort — and still makes power</a:t>
            </a:r>
            <a:endParaRPr lang="en-US" sz="30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6309360" cy="914400"/>
        </p:xfrm>
        <a:graphic>
          <a:graphicData uri="http://schemas.openxmlformats.org/drawingml/2006/table">
            <a:tbl>
              <a:tblPr/>
              <a:tblGrid>
                <a:gridCol w="2286000"/>
                <a:gridCol w="914400"/>
                <a:gridCol w="1097280"/>
                <a:gridCol w="1005840"/>
                <a:gridCol w="1005840"/>
              </a:tblGrid>
              <a:tr h="0">
                <a:tc>
                  <a:txBody>
                    <a:bodyPr/>
                    <a:lstStyle/>
                    <a:p>
                      <a:pPr indent="0" marL="0">
                        <a:buNone/>
                      </a:pPr>
                      <a:r>
                        <a:rPr lang="en-US" sz="1200" b="1" dirty="0">
                          <a:solidFill>
                            <a:srgbClr val="6B7686"/>
                          </a:solidFill>
                          <a:latin typeface="Calibri" pitchFamily="34" charset="0"/>
                          <a:ea typeface="Calibri" pitchFamily="34" charset="-122"/>
                          <a:cs typeface="Calibri" pitchFamily="34" charset="-120"/>
                        </a:rPr>
                        <a:t>Crowded LHB, rough track</a:t>
                      </a:r>
                      <a:endParaRPr lang="en-US" sz="12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7F5F0"/>
                    </a:solidFill>
                  </a:tcPr>
                </a:tc>
                <a:tc>
                  <a:txBody>
                    <a:bodyPr/>
                    <a:lstStyle/>
                    <a:p>
                      <a:pPr indent="0" marL="0">
                        <a:buNone/>
                      </a:pPr>
                      <a:r>
                        <a:rPr lang="en-US" sz="1200" b="1" dirty="0">
                          <a:solidFill>
                            <a:srgbClr val="6B7686"/>
                          </a:solidFill>
                          <a:latin typeface="Calibri" pitchFamily="34" charset="0"/>
                          <a:ea typeface="Calibri" pitchFamily="34" charset="-122"/>
                          <a:cs typeface="Calibri" pitchFamily="34" charset="-120"/>
                        </a:rPr>
                        <a:t>Wz</a:t>
                      </a:r>
                      <a:endParaRPr lang="en-US" sz="12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7F5F0"/>
                    </a:solidFill>
                  </a:tcPr>
                </a:tc>
                <a:tc>
                  <a:txBody>
                    <a:bodyPr/>
                    <a:lstStyle/>
                    <a:p>
                      <a:pPr indent="0" marL="0">
                        <a:buNone/>
                      </a:pPr>
                      <a:r>
                        <a:rPr lang="en-US" sz="1200" b="1" dirty="0">
                          <a:solidFill>
                            <a:srgbClr val="6B7686"/>
                          </a:solidFill>
                          <a:latin typeface="Calibri" pitchFamily="34" charset="0"/>
                          <a:ea typeface="Calibri" pitchFamily="34" charset="-122"/>
                          <a:cs typeface="Calibri" pitchFamily="34" charset="-120"/>
                        </a:rPr>
                        <a:t>RMS m/s²</a:t>
                      </a:r>
                      <a:endParaRPr lang="en-US" sz="12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7F5F0"/>
                    </a:solidFill>
                  </a:tcPr>
                </a:tc>
                <a:tc>
                  <a:txBody>
                    <a:bodyPr/>
                    <a:lstStyle/>
                    <a:p>
                      <a:pPr indent="0" marL="0">
                        <a:buNone/>
                      </a:pPr>
                      <a:r>
                        <a:rPr lang="en-US" sz="1200" b="1" dirty="0">
                          <a:solidFill>
                            <a:srgbClr val="6B7686"/>
                          </a:solidFill>
                          <a:latin typeface="Calibri" pitchFamily="34" charset="0"/>
                          <a:ea typeface="Calibri" pitchFamily="34" charset="-122"/>
                          <a:cs typeface="Calibri" pitchFamily="34" charset="-120"/>
                        </a:rPr>
                        <a:t>Stroke</a:t>
                      </a:r>
                      <a:endParaRPr lang="en-US" sz="12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7F5F0"/>
                    </a:solidFill>
                  </a:tcPr>
                </a:tc>
                <a:tc>
                  <a:txBody>
                    <a:bodyPr/>
                    <a:lstStyle/>
                    <a:p>
                      <a:pPr indent="0" marL="0">
                        <a:buNone/>
                      </a:pPr>
                      <a:r>
                        <a:rPr lang="en-US" sz="1200" b="1" dirty="0">
                          <a:solidFill>
                            <a:srgbClr val="6B7686"/>
                          </a:solidFill>
                          <a:latin typeface="Calibri" pitchFamily="34" charset="0"/>
                          <a:ea typeface="Calibri" pitchFamily="34" charset="-122"/>
                          <a:cs typeface="Calibri" pitchFamily="34" charset="-120"/>
                        </a:rPr>
                        <a:t>Bank</a:t>
                      </a:r>
                      <a:endParaRPr lang="en-US" sz="12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7F5F0"/>
                    </a:solidFill>
                  </a:tcPr>
                </a:tc>
              </a:tr>
              <a:tr h="0">
                <a:tc>
                  <a:txBody>
                    <a:bodyPr/>
                    <a:lstStyle/>
                    <a:p>
                      <a:pPr indent="0" marL="0">
                        <a:buNone/>
                      </a:pPr>
                      <a:r>
                        <a:rPr lang="en-US" sz="1500" dirty="0">
                          <a:solidFill>
                            <a:srgbClr val="1F2A37"/>
                          </a:solidFill>
                          <a:latin typeface="Calibri" pitchFamily="34" charset="0"/>
                          <a:ea typeface="Calibri" pitchFamily="34" charset="-122"/>
                          <a:cs typeface="Calibri" pitchFamily="34" charset="-120"/>
                        </a:rPr>
                        <a:t>C0 today’s damper</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500" dirty="0">
                          <a:solidFill>
                            <a:srgbClr val="1F2A37"/>
                          </a:solidFill>
                          <a:latin typeface="Calibri" pitchFamily="34" charset="0"/>
                          <a:ea typeface="Calibri" pitchFamily="34" charset="-122"/>
                          <a:cs typeface="Calibri" pitchFamily="34" charset="-120"/>
                        </a:rPr>
                        <a:t>1.844</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500" dirty="0">
                          <a:solidFill>
                            <a:srgbClr val="1F2A37"/>
                          </a:solidFill>
                          <a:latin typeface="Calibri" pitchFamily="34" charset="0"/>
                          <a:ea typeface="Calibri" pitchFamily="34" charset="-122"/>
                          <a:cs typeface="Calibri" pitchFamily="34" charset="-120"/>
                        </a:rPr>
                        <a:t>0.174</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500" dirty="0">
                          <a:solidFill>
                            <a:srgbClr val="1F2A37"/>
                          </a:solidFill>
                          <a:latin typeface="Calibri" pitchFamily="34" charset="0"/>
                          <a:ea typeface="Calibri" pitchFamily="34" charset="-122"/>
                          <a:cs typeface="Calibri" pitchFamily="34" charset="-120"/>
                        </a:rPr>
                        <a:t>25 mm</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500" dirty="0">
                          <a:solidFill>
                            <a:srgbClr val="1F2A37"/>
                          </a:solidFill>
                          <a:latin typeface="Calibri" pitchFamily="34" charset="0"/>
                          <a:ea typeface="Calibri" pitchFamily="34" charset="-122"/>
                          <a:cs typeface="Calibri" pitchFamily="34" charset="-120"/>
                        </a:rPr>
                        <a:t>0 W</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r>
              <a:tr h="0">
                <a:tc>
                  <a:txBody>
                    <a:bodyPr/>
                    <a:lstStyle/>
                    <a:p>
                      <a:pPr indent="0" marL="0">
                        <a:buNone/>
                      </a:pPr>
                      <a:r>
                        <a:rPr lang="en-US" sz="1500" dirty="0">
                          <a:solidFill>
                            <a:srgbClr val="1F2A37"/>
                          </a:solidFill>
                          <a:latin typeface="Calibri" pitchFamily="34" charset="0"/>
                          <a:ea typeface="Calibri" pitchFamily="34" charset="-122"/>
                          <a:cs typeface="Calibri" pitchFamily="34" charset="-120"/>
                        </a:rPr>
                        <a:t>C1 fixed harvester</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500" dirty="0">
                          <a:solidFill>
                            <a:srgbClr val="1F2A37"/>
                          </a:solidFill>
                          <a:latin typeface="Calibri" pitchFamily="34" charset="0"/>
                          <a:ea typeface="Calibri" pitchFamily="34" charset="-122"/>
                          <a:cs typeface="Calibri" pitchFamily="34" charset="-120"/>
                        </a:rPr>
                        <a:t>1.639</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500" dirty="0">
                          <a:solidFill>
                            <a:srgbClr val="1F2A37"/>
                          </a:solidFill>
                          <a:latin typeface="Calibri" pitchFamily="34" charset="0"/>
                          <a:ea typeface="Calibri" pitchFamily="34" charset="-122"/>
                          <a:cs typeface="Calibri" pitchFamily="34" charset="-120"/>
                        </a:rPr>
                        <a:t>0.124</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500" dirty="0">
                          <a:solidFill>
                            <a:srgbClr val="1F2A37"/>
                          </a:solidFill>
                          <a:latin typeface="Calibri" pitchFamily="34" charset="0"/>
                          <a:ea typeface="Calibri" pitchFamily="34" charset="-122"/>
                          <a:cs typeface="Calibri" pitchFamily="34" charset="-120"/>
                        </a:rPr>
                        <a:t>12 mm</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500" dirty="0">
                          <a:solidFill>
                            <a:srgbClr val="1F2A37"/>
                          </a:solidFill>
                          <a:latin typeface="Calibri" pitchFamily="34" charset="0"/>
                          <a:ea typeface="Calibri" pitchFamily="34" charset="-122"/>
                          <a:cs typeface="Calibri" pitchFamily="34" charset="-120"/>
                        </a:rPr>
                        <a:t>37 W</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r>
              <a:tr h="0">
                <a:tc>
                  <a:txBody>
                    <a:bodyPr/>
                    <a:lstStyle/>
                    <a:p>
                      <a:pPr indent="0" marL="0">
                        <a:buNone/>
                      </a:pPr>
                      <a:r>
                        <a:rPr lang="en-US" sz="1500" dirty="0">
                          <a:solidFill>
                            <a:srgbClr val="1F2A37"/>
                          </a:solidFill>
                          <a:latin typeface="Calibri" pitchFamily="34" charset="0"/>
                          <a:ea typeface="Calibri" pitchFamily="34" charset="-122"/>
                          <a:cs typeface="Calibri" pitchFamily="34" charset="-120"/>
                        </a:rPr>
                        <a:t>C2 LPV-LQR</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500" dirty="0">
                          <a:solidFill>
                            <a:srgbClr val="1F2A37"/>
                          </a:solidFill>
                          <a:latin typeface="Calibri" pitchFamily="34" charset="0"/>
                          <a:ea typeface="Calibri" pitchFamily="34" charset="-122"/>
                          <a:cs typeface="Calibri" pitchFamily="34" charset="-120"/>
                        </a:rPr>
                        <a:t>1.559</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500" dirty="0">
                          <a:solidFill>
                            <a:srgbClr val="1F2A37"/>
                          </a:solidFill>
                          <a:latin typeface="Calibri" pitchFamily="34" charset="0"/>
                          <a:ea typeface="Calibri" pitchFamily="34" charset="-122"/>
                          <a:cs typeface="Calibri" pitchFamily="34" charset="-120"/>
                        </a:rPr>
                        <a:t>0.109</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500" dirty="0">
                          <a:solidFill>
                            <a:srgbClr val="1F2A37"/>
                          </a:solidFill>
                          <a:latin typeface="Calibri" pitchFamily="34" charset="0"/>
                          <a:ea typeface="Calibri" pitchFamily="34" charset="-122"/>
                          <a:cs typeface="Calibri" pitchFamily="34" charset="-120"/>
                        </a:rPr>
                        <a:t>17 mm</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500" dirty="0">
                          <a:solidFill>
                            <a:srgbClr val="1F2A37"/>
                          </a:solidFill>
                          <a:latin typeface="Calibri" pitchFamily="34" charset="0"/>
                          <a:ea typeface="Calibri" pitchFamily="34" charset="-122"/>
                          <a:cs typeface="Calibri" pitchFamily="34" charset="-120"/>
                        </a:rPr>
                        <a:t>37 W</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1F2A37"/>
                          </a:solidFill>
                          <a:latin typeface="Calibri" pitchFamily="34" charset="0"/>
                          <a:ea typeface="Calibri" pitchFamily="34" charset="-122"/>
                          <a:cs typeface="Calibri" pitchFamily="34" charset="-120"/>
                        </a:rPr>
                        <a:t>C3 LPV + preview</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DCEFEA"/>
                    </a:solidFill>
                  </a:tcPr>
                </a:tc>
                <a:tc>
                  <a:txBody>
                    <a:bodyPr/>
                    <a:lstStyle/>
                    <a:p>
                      <a:pPr indent="0" marL="0">
                        <a:buNone/>
                      </a:pPr>
                      <a:r>
                        <a:rPr lang="en-US" sz="1500" b="1" dirty="0">
                          <a:solidFill>
                            <a:srgbClr val="1F2A37"/>
                          </a:solidFill>
                          <a:latin typeface="Calibri" pitchFamily="34" charset="0"/>
                          <a:ea typeface="Calibri" pitchFamily="34" charset="-122"/>
                          <a:cs typeface="Calibri" pitchFamily="34" charset="-120"/>
                        </a:rPr>
                        <a:t>1.528</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DCEFEA"/>
                    </a:solidFill>
                  </a:tcPr>
                </a:tc>
                <a:tc>
                  <a:txBody>
                    <a:bodyPr/>
                    <a:lstStyle/>
                    <a:p>
                      <a:pPr indent="0" marL="0">
                        <a:buNone/>
                      </a:pPr>
                      <a:r>
                        <a:rPr lang="en-US" sz="1500" b="1" dirty="0">
                          <a:solidFill>
                            <a:srgbClr val="1F2A37"/>
                          </a:solidFill>
                          <a:latin typeface="Calibri" pitchFamily="34" charset="0"/>
                          <a:ea typeface="Calibri" pitchFamily="34" charset="-122"/>
                          <a:cs typeface="Calibri" pitchFamily="34" charset="-120"/>
                        </a:rPr>
                        <a:t>0.103</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DCEFEA"/>
                    </a:solidFill>
                  </a:tcPr>
                </a:tc>
                <a:tc>
                  <a:txBody>
                    <a:bodyPr/>
                    <a:lstStyle/>
                    <a:p>
                      <a:pPr indent="0" marL="0">
                        <a:buNone/>
                      </a:pPr>
                      <a:r>
                        <a:rPr lang="en-US" sz="1500" dirty="0">
                          <a:solidFill>
                            <a:srgbClr val="1F2A37"/>
                          </a:solidFill>
                          <a:latin typeface="Calibri" pitchFamily="34" charset="0"/>
                          <a:ea typeface="Calibri" pitchFamily="34" charset="-122"/>
                          <a:cs typeface="Calibri" pitchFamily="34" charset="-120"/>
                        </a:rPr>
                        <a:t>16 mm</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DCEFEA"/>
                    </a:solidFill>
                  </a:tcPr>
                </a:tc>
                <a:tc>
                  <a:txBody>
                    <a:bodyPr/>
                    <a:lstStyle/>
                    <a:p>
                      <a:pPr indent="0" marL="0">
                        <a:buNone/>
                      </a:pPr>
                      <a:r>
                        <a:rPr lang="en-US" sz="1500" b="1" dirty="0">
                          <a:solidFill>
                            <a:srgbClr val="1F2A37"/>
                          </a:solidFill>
                          <a:latin typeface="Calibri" pitchFamily="34" charset="0"/>
                          <a:ea typeface="Calibri" pitchFamily="34" charset="-122"/>
                          <a:cs typeface="Calibri" pitchFamily="34" charset="-120"/>
                        </a:rPr>
                        <a:t>33 W</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DCEFEA"/>
                    </a:solidFill>
                  </a:tcPr>
                </a:tc>
              </a:tr>
            </a:tbl>
          </a:graphicData>
        </a:graphic>
      </p:graphicFrame>
      <p:sp>
        <p:nvSpPr>
          <p:cNvPr id="5" name="cvp frame"/>
          <p:cNvSpPr/>
          <p:nvPr/>
        </p:nvSpPr>
        <p:spPr>
          <a:xfrm>
            <a:off x="7086600" y="1600200"/>
            <a:ext cx="4556455" cy="3566160"/>
          </a:xfrm>
          <a:prstGeom prst="roundRect">
            <a:avLst>
              <a:gd name="adj" fmla="val 2051"/>
            </a:avLst>
          </a:prstGeom>
          <a:solidFill>
            <a:srgbClr val="FFFFFF"/>
          </a:solidFill>
          <a:ln w="9525">
            <a:solidFill>
              <a:srgbClr val="E3E0D6"/>
            </a:solidFill>
            <a:prstDash val="solid"/>
          </a:ln>
        </p:spPr>
      </p:sp>
      <p:pic>
        <p:nvPicPr>
          <p:cNvPr id="6" name="cvp" descr="Comfort against harvested power for fixed settings and SwarmRide controllers">    </p:cNvPr>
          <p:cNvPicPr>
            <a:picLocks noChangeAspect="1"/>
          </p:cNvPicPr>
          <p:nvPr/>
        </p:nvPicPr>
        <p:blipFill>
          <a:blip r:embed="rId1"/>
          <a:stretch>
            <a:fillRect/>
          </a:stretch>
        </p:blipFill>
        <p:spPr>
          <a:xfrm>
            <a:off x="7159752" y="1821274"/>
            <a:ext cx="4410151" cy="3124012"/>
          </a:xfrm>
          <a:prstGeom prst="rect">
            <a:avLst/>
          </a:prstGeom>
        </p:spPr>
      </p:pic>
      <p:sp>
        <p:nvSpPr>
          <p:cNvPr id="7" name="Text 3"/>
          <p:cNvSpPr txBox="1"/>
          <p:nvPr/>
        </p:nvSpPr>
        <p:spPr>
          <a:xfrm>
            <a:off x="7086600" y="5257800"/>
            <a:ext cx="4556455" cy="548640"/>
          </a:xfrm>
          <a:prstGeom prst="rect">
            <a:avLst/>
          </a:prstGeom>
          <a:noFill/>
          <a:ln/>
        </p:spPr>
        <p:txBody>
          <a:bodyPr wrap="square" lIns="0" tIns="0" rIns="0" bIns="0" rtlCol="0" anchor="t"/>
          <a:lstStyle/>
          <a:p>
            <a:pPr indent="0" marL="0">
              <a:buNone/>
            </a:pPr>
            <a:r>
              <a:rPr lang="en-US" sz="1400" dirty="0">
                <a:solidFill>
                  <a:srgbClr val="3D4A5C"/>
                </a:solidFill>
              </a:rPr>
              <a:t>No fixed setting reaches C3 — the best fixed one stops at Wz 1.635.</a:t>
            </a:r>
            <a:endParaRPr lang="en-US" sz="1400" dirty="0"/>
          </a:p>
        </p:txBody>
      </p:sp>
      <p:sp>
        <p:nvSpPr>
          <p:cNvPr id="8" name="Shape 4"/>
          <p:cNvSpPr/>
          <p:nvPr/>
        </p:nvSpPr>
        <p:spPr>
          <a:xfrm>
            <a:off x="548640" y="4206240"/>
            <a:ext cx="6309360" cy="1463040"/>
          </a:xfrm>
          <a:prstGeom prst="roundRect">
            <a:avLst>
              <a:gd name="adj" fmla="val 6250"/>
            </a:avLst>
          </a:prstGeom>
          <a:solidFill>
            <a:srgbClr val="13233A"/>
          </a:solidFill>
          <a:ln/>
        </p:spPr>
      </p:sp>
      <p:sp>
        <p:nvSpPr>
          <p:cNvPr id="9" name="Text 5"/>
          <p:cNvSpPr txBox="1"/>
          <p:nvPr/>
        </p:nvSpPr>
        <p:spPr>
          <a:xfrm>
            <a:off x="822960" y="4389120"/>
            <a:ext cx="5760720" cy="1097280"/>
          </a:xfrm>
          <a:prstGeom prst="rect">
            <a:avLst/>
          </a:prstGeom>
          <a:noFill/>
          <a:ln/>
        </p:spPr>
        <p:txBody>
          <a:bodyPr wrap="square" lIns="0" tIns="0" rIns="0" bIns="0" rtlCol="0" anchor="t"/>
          <a:lstStyle/>
          <a:p>
            <a:pPr indent="0" marL="0">
              <a:buNone/>
            </a:pPr>
            <a:r>
              <a:rPr lang="en-US" sz="1700" b="1" dirty="0">
                <a:solidFill>
                  <a:srgbClr val="F0974A"/>
                </a:solidFill>
              </a:rPr>
              <a:t>33 W into the bank against 8 W needed</a:t>
            </a:r>
            <a:endParaRPr lang="en-US" sz="1700" dirty="0"/>
          </a:p>
          <a:p>
            <a:pPr indent="0" marL="0">
              <a:buNone/>
            </a:pPr>
            <a:r>
              <a:rPr lang="en-US" sz="1700" dirty="0">
                <a:solidFill>
                  <a:srgbClr val="E4E8EE"/>
                </a:solidFill>
              </a:rPr>
              <a:t>by the bogie electronics — the bogie powers itself, with 25 W to spare.</a:t>
            </a:r>
            <a:endParaRPr lang="en-US" sz="1700" dirty="0"/>
          </a:p>
        </p:txBody>
      </p:sp>
      <p:sp>
        <p:nvSpPr>
          <p:cNvPr id="10" name="Text 6"/>
          <p:cNvSpPr txBox="1"/>
          <p:nvPr/>
        </p:nvSpPr>
        <p:spPr>
          <a:xfrm>
            <a:off x="548640" y="6053328"/>
            <a:ext cx="11094415" cy="274320"/>
          </a:xfrm>
          <a:prstGeom prst="rect">
            <a:avLst/>
          </a:prstGeom>
          <a:noFill/>
          <a:ln/>
        </p:spPr>
        <p:txBody>
          <a:bodyPr wrap="square" lIns="0" tIns="0" rIns="0" bIns="0" rtlCol="0" anchor="t"/>
          <a:lstStyle/>
          <a:p>
            <a:pPr indent="0" marL="0">
              <a:buNone/>
            </a:pPr>
            <a:r>
              <a:rPr lang="en-US" sz="1200" dirty="0">
                <a:solidFill>
                  <a:srgbClr val="6B7686"/>
                </a:solidFill>
              </a:rPr>
              <a:t>C1 corresponds to the base paper’s fixed-duty-cycle harvester · design C damper · 160 km/h · poor track</a:t>
            </a:r>
            <a:endParaRPr lang="en-US" sz="1200" dirty="0"/>
          </a:p>
        </p:txBody>
      </p:sp>
      <p:sp>
        <p:nvSpPr>
          <p:cNvPr id="25" name="Slide Number Placeholder 0"/>
          <p:cNvSpPr>
            <a:spLocks noGrp="1"/>
          </p:cNvSpPr>
          <p:nvPr>
            <p:ph type="sldNum" sz="quarter" idx="4294967295"/>
          </p:nvPr>
        </p:nvSpPr>
        <p:spPr>
          <a:xfrm>
            <a:off x="11155680" y="6419088"/>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310896"/>
          </a:xfrm>
          <a:prstGeom prst="rect">
            <a:avLst/>
          </a:prstGeom>
          <a:noFill/>
          <a:ln/>
        </p:spPr>
        <p:txBody>
          <a:bodyPr wrap="square" lIns="0" tIns="0" rIns="0" bIns="0" rtlCol="0" anchor="ctr"/>
          <a:lstStyle/>
          <a:p>
            <a:pPr indent="0" marL="0">
              <a:buNone/>
            </a:pPr>
            <a:r>
              <a:rPr lang="en-US" sz="1200" b="1" spc="300" kern="0" dirty="0">
                <a:solidFill>
                  <a:srgbClr val="A8520F"/>
                </a:solidFill>
              </a:rPr>
              <a:t>06 · RESULTS · ACTIVE PUSH (C4)</a:t>
            </a:r>
            <a:endParaRPr lang="en-US" sz="1200" dirty="0"/>
          </a:p>
        </p:txBody>
      </p:sp>
      <p:sp>
        <p:nvSpPr>
          <p:cNvPr id="3" name="Text 0"/>
          <p:cNvSpPr/>
          <p:nvPr>
            <p:ph idx="101" type="title" hasCustomPrompt="1"/>
          </p:nvPr>
        </p:nvSpPr>
        <p:spPr>
          <a:xfrm>
            <a:off x="548640" y="713232"/>
            <a:ext cx="11094415" cy="713232"/>
          </a:xfrm>
          <a:prstGeom prst="rect">
            <a:avLst/>
          </a:prstGeom>
          <a:noFill/>
          <a:ln/>
        </p:spPr>
        <p:txBody>
          <a:bodyPr wrap="square" lIns="0" tIns="0" rIns="0" bIns="0" rtlCol="0" anchor="t"/>
          <a:lstStyle/>
          <a:p>
            <a:pPr algn="l" indent="0" marL="0">
              <a:buNone/>
            </a:pPr>
            <a:r>
              <a:rPr lang="en-US" sz="3000" b="1" dirty="0">
                <a:solidFill>
                  <a:srgbClr val="13233A"/>
                </a:solidFill>
              </a:rPr>
              <a:t>At a known bad spot, the damper pushes with its own energy</a:t>
            </a:r>
            <a:endParaRPr lang="en-US" sz="3000" dirty="0"/>
          </a:p>
        </p:txBody>
      </p:sp>
      <p:sp>
        <p:nvSpPr>
          <p:cNvPr id="4" name="push frame"/>
          <p:cNvSpPr/>
          <p:nvPr/>
        </p:nvSpPr>
        <p:spPr>
          <a:xfrm>
            <a:off x="548640" y="1554480"/>
            <a:ext cx="11094415" cy="3063240"/>
          </a:xfrm>
          <a:prstGeom prst="roundRect">
            <a:avLst>
              <a:gd name="adj" fmla="val 2388"/>
            </a:avLst>
          </a:prstGeom>
          <a:solidFill>
            <a:srgbClr val="FFFFFF"/>
          </a:solidFill>
          <a:ln w="9525">
            <a:solidFill>
              <a:srgbClr val="E3E0D6"/>
            </a:solidFill>
            <a:prstDash val="solid"/>
          </a:ln>
        </p:spPr>
      </p:sp>
      <p:pic>
        <p:nvPicPr>
          <p:cNvPr id="5" name="push" descr="Body acceleration at a track settlement and a short dip: today's damper, C3 resist only, C4 push">    </p:cNvPr>
          <p:cNvPicPr>
            <a:picLocks noChangeAspect="1"/>
          </p:cNvPicPr>
          <p:nvPr/>
        </p:nvPicPr>
        <p:blipFill>
          <a:blip r:embed="rId1"/>
          <a:stretch>
            <a:fillRect/>
          </a:stretch>
        </p:blipFill>
        <p:spPr>
          <a:xfrm>
            <a:off x="3042953" y="1627632"/>
            <a:ext cx="6105790" cy="2916936"/>
          </a:xfrm>
          <a:prstGeom prst="rect">
            <a:avLst/>
          </a:prstGeom>
        </p:spPr>
      </p:pic>
      <p:sp>
        <p:nvSpPr>
          <p:cNvPr id="6" name="Shape 3"/>
          <p:cNvSpPr/>
          <p:nvPr/>
        </p:nvSpPr>
        <p:spPr>
          <a:xfrm>
            <a:off x="548640" y="4754880"/>
            <a:ext cx="3545738" cy="1371600"/>
          </a:xfrm>
          <a:prstGeom prst="roundRect">
            <a:avLst>
              <a:gd name="adj" fmla="val 6667"/>
            </a:avLst>
          </a:prstGeom>
          <a:solidFill>
            <a:srgbClr val="13233A"/>
          </a:solidFill>
          <a:ln/>
        </p:spPr>
      </p:sp>
      <p:sp>
        <p:nvSpPr>
          <p:cNvPr id="7" name="Text 4"/>
          <p:cNvSpPr txBox="1"/>
          <p:nvPr/>
        </p:nvSpPr>
        <p:spPr>
          <a:xfrm>
            <a:off x="749808" y="4901184"/>
            <a:ext cx="3143402" cy="566928"/>
          </a:xfrm>
          <a:prstGeom prst="rect">
            <a:avLst/>
          </a:prstGeom>
          <a:noFill/>
          <a:ln/>
        </p:spPr>
        <p:txBody>
          <a:bodyPr wrap="square" lIns="0" tIns="0" rIns="0" bIns="0" rtlCol="0" anchor="t"/>
          <a:lstStyle/>
          <a:p>
            <a:pPr indent="0" marL="0">
              <a:buNone/>
            </a:pPr>
            <a:r>
              <a:rPr lang="en-US" sz="3200" b="1" dirty="0">
                <a:solidFill>
                  <a:srgbClr val="F0974A"/>
                </a:solidFill>
                <a:latin typeface="Calibri" pitchFamily="34" charset="0"/>
                <a:ea typeface="Calibri" pitchFamily="34" charset="-122"/>
                <a:cs typeface="Calibri" pitchFamily="34" charset="-120"/>
              </a:rPr>
              <a:t>−80%</a:t>
            </a:r>
            <a:endParaRPr lang="en-US" sz="3200" dirty="0"/>
          </a:p>
        </p:txBody>
      </p:sp>
      <p:sp>
        <p:nvSpPr>
          <p:cNvPr id="8" name="Text 5"/>
          <p:cNvSpPr txBox="1"/>
          <p:nvPr/>
        </p:nvSpPr>
        <p:spPr>
          <a:xfrm>
            <a:off x="749808" y="5486400"/>
            <a:ext cx="3143402" cy="530352"/>
          </a:xfrm>
          <a:prstGeom prst="rect">
            <a:avLst/>
          </a:prstGeom>
          <a:noFill/>
          <a:ln/>
        </p:spPr>
        <p:txBody>
          <a:bodyPr wrap="square" lIns="0" tIns="0" rIns="0" bIns="0" rtlCol="0" anchor="t"/>
          <a:lstStyle/>
          <a:p>
            <a:pPr indent="0" marL="0">
              <a:buNone/>
            </a:pPr>
            <a:r>
              <a:rPr lang="en-US" sz="1400" dirty="0">
                <a:solidFill>
                  <a:srgbClr val="E4E8EE"/>
                </a:solidFill>
              </a:rPr>
              <a:t>worst seat at a settlement: 0.97 → 0.76 (C3) → 0.20 m/s²</a:t>
            </a:r>
            <a:endParaRPr lang="en-US" sz="1400" dirty="0"/>
          </a:p>
        </p:txBody>
      </p:sp>
      <p:sp>
        <p:nvSpPr>
          <p:cNvPr id="9" name="Shape 6"/>
          <p:cNvSpPr/>
          <p:nvPr/>
        </p:nvSpPr>
        <p:spPr>
          <a:xfrm>
            <a:off x="4322978" y="4754880"/>
            <a:ext cx="3545738" cy="1371600"/>
          </a:xfrm>
          <a:prstGeom prst="roundRect">
            <a:avLst>
              <a:gd name="adj" fmla="val 6667"/>
            </a:avLst>
          </a:prstGeom>
          <a:solidFill>
            <a:srgbClr val="FDFCF9"/>
          </a:solidFill>
          <a:ln w="9525">
            <a:solidFill>
              <a:srgbClr val="E3E0D6"/>
            </a:solidFill>
            <a:prstDash val="solid"/>
          </a:ln>
        </p:spPr>
      </p:sp>
      <p:sp>
        <p:nvSpPr>
          <p:cNvPr id="10" name="Text 7"/>
          <p:cNvSpPr txBox="1"/>
          <p:nvPr/>
        </p:nvSpPr>
        <p:spPr>
          <a:xfrm>
            <a:off x="4524146" y="4901184"/>
            <a:ext cx="3143402" cy="566928"/>
          </a:xfrm>
          <a:prstGeom prst="rect">
            <a:avLst/>
          </a:prstGeom>
          <a:noFill/>
          <a:ln/>
        </p:spPr>
        <p:txBody>
          <a:bodyPr wrap="square" lIns="0" tIns="0" rIns="0" bIns="0" rtlCol="0" anchor="t"/>
          <a:lstStyle/>
          <a:p>
            <a:pPr indent="0" marL="0">
              <a:buNone/>
            </a:pPr>
            <a:r>
              <a:rPr lang="en-US" sz="3200" b="1" dirty="0">
                <a:solidFill>
                  <a:srgbClr val="1F6F66"/>
                </a:solidFill>
                <a:latin typeface="Calibri" pitchFamily="34" charset="0"/>
                <a:ea typeface="Calibri" pitchFamily="34" charset="-122"/>
                <a:cs typeface="Calibri" pitchFamily="34" charset="-120"/>
              </a:rPr>
              <a:t>0.1 Wh</a:t>
            </a:r>
            <a:endParaRPr lang="en-US" sz="3200" dirty="0"/>
          </a:p>
        </p:txBody>
      </p:sp>
      <p:sp>
        <p:nvSpPr>
          <p:cNvPr id="11" name="Text 8"/>
          <p:cNvSpPr txBox="1"/>
          <p:nvPr/>
        </p:nvSpPr>
        <p:spPr>
          <a:xfrm>
            <a:off x="4524146" y="5486400"/>
            <a:ext cx="3143402" cy="530352"/>
          </a:xfrm>
          <a:prstGeom prst="rect">
            <a:avLst/>
          </a:prstGeom>
          <a:noFill/>
          <a:ln/>
        </p:spPr>
        <p:txBody>
          <a:bodyPr wrap="square" lIns="0" tIns="0" rIns="0" bIns="0" rtlCol="0" anchor="t"/>
          <a:lstStyle/>
          <a:p>
            <a:pPr indent="0" marL="0">
              <a:buNone/>
            </a:pPr>
            <a:r>
              <a:rPr lang="en-US" sz="1400" dirty="0">
                <a:solidFill>
                  <a:srgbClr val="3D4A5C"/>
                </a:solidFill>
              </a:rPr>
              <a:t>energy per push (345 J), peak 1.5 kW from the supercap</a:t>
            </a:r>
            <a:endParaRPr lang="en-US" sz="1400" dirty="0"/>
          </a:p>
        </p:txBody>
      </p:sp>
      <p:sp>
        <p:nvSpPr>
          <p:cNvPr id="12" name="Shape 9"/>
          <p:cNvSpPr/>
          <p:nvPr/>
        </p:nvSpPr>
        <p:spPr>
          <a:xfrm>
            <a:off x="8097317" y="4754880"/>
            <a:ext cx="3545738" cy="1371600"/>
          </a:xfrm>
          <a:prstGeom prst="roundRect">
            <a:avLst>
              <a:gd name="adj" fmla="val 6667"/>
            </a:avLst>
          </a:prstGeom>
          <a:solidFill>
            <a:srgbClr val="FDFCF9"/>
          </a:solidFill>
          <a:ln w="9525">
            <a:solidFill>
              <a:srgbClr val="E3E0D6"/>
            </a:solidFill>
            <a:prstDash val="solid"/>
          </a:ln>
        </p:spPr>
      </p:sp>
      <p:sp>
        <p:nvSpPr>
          <p:cNvPr id="13" name="Text 10"/>
          <p:cNvSpPr txBox="1"/>
          <p:nvPr/>
        </p:nvSpPr>
        <p:spPr>
          <a:xfrm>
            <a:off x="8298485" y="4901184"/>
            <a:ext cx="3143402" cy="566928"/>
          </a:xfrm>
          <a:prstGeom prst="rect">
            <a:avLst/>
          </a:prstGeom>
          <a:noFill/>
          <a:ln/>
        </p:spPr>
        <p:txBody>
          <a:bodyPr wrap="square" lIns="0" tIns="0" rIns="0" bIns="0" rtlCol="0" anchor="t"/>
          <a:lstStyle/>
          <a:p>
            <a:pPr indent="0" marL="0">
              <a:buNone/>
            </a:pPr>
            <a:r>
              <a:rPr lang="en-US" sz="3200" b="1" dirty="0">
                <a:solidFill>
                  <a:srgbClr val="1F6F66"/>
                </a:solidFill>
                <a:latin typeface="Calibri" pitchFamily="34" charset="0"/>
                <a:ea typeface="Calibri" pitchFamily="34" charset="-122"/>
                <a:cs typeface="Calibri" pitchFamily="34" charset="-120"/>
              </a:rPr>
              <a:t>−67%</a:t>
            </a:r>
            <a:endParaRPr lang="en-US" sz="3200" dirty="0"/>
          </a:p>
        </p:txBody>
      </p:sp>
      <p:sp>
        <p:nvSpPr>
          <p:cNvPr id="14" name="Text 11"/>
          <p:cNvSpPr txBox="1"/>
          <p:nvPr/>
        </p:nvSpPr>
        <p:spPr>
          <a:xfrm>
            <a:off x="8298485" y="5486400"/>
            <a:ext cx="3143402" cy="530352"/>
          </a:xfrm>
          <a:prstGeom prst="rect">
            <a:avLst/>
          </a:prstGeom>
          <a:noFill/>
          <a:ln/>
        </p:spPr>
        <p:txBody>
          <a:bodyPr wrap="square" lIns="0" tIns="0" rIns="0" bIns="0" rtlCol="0" anchor="t"/>
          <a:lstStyle/>
          <a:p>
            <a:pPr indent="0" marL="0">
              <a:buNone/>
            </a:pPr>
            <a:r>
              <a:rPr lang="en-US" sz="1400" dirty="0">
                <a:solidFill>
                  <a:srgbClr val="3D4A5C"/>
                </a:solidFill>
              </a:rPr>
              <a:t>at a short dip, for just 20 J</a:t>
            </a:r>
            <a:endParaRPr lang="en-US" sz="1400" dirty="0"/>
          </a:p>
        </p:txBody>
      </p:sp>
      <p:sp>
        <p:nvSpPr>
          <p:cNvPr id="25" name="Slide Number Placeholder 0"/>
          <p:cNvSpPr>
            <a:spLocks noGrp="1"/>
          </p:cNvSpPr>
          <p:nvPr>
            <p:ph type="sldNum" sz="quarter" idx="4294967295"/>
          </p:nvPr>
        </p:nvSpPr>
        <p:spPr>
          <a:xfrm>
            <a:off x="11155680" y="6419088"/>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310896"/>
          </a:xfrm>
          <a:prstGeom prst="rect">
            <a:avLst/>
          </a:prstGeom>
          <a:noFill/>
          <a:ln/>
        </p:spPr>
        <p:txBody>
          <a:bodyPr wrap="square" lIns="0" tIns="0" rIns="0" bIns="0" rtlCol="0" anchor="ctr"/>
          <a:lstStyle/>
          <a:p>
            <a:pPr indent="0" marL="0">
              <a:buNone/>
            </a:pPr>
            <a:r>
              <a:rPr lang="en-US" sz="1200" b="1" spc="300" kern="0" dirty="0">
                <a:solidFill>
                  <a:srgbClr val="A8520F"/>
                </a:solidFill>
              </a:rPr>
              <a:t>06 · RESULTS · A FULL DAY</a:t>
            </a:r>
            <a:endParaRPr lang="en-US" sz="1200" dirty="0"/>
          </a:p>
        </p:txBody>
      </p:sp>
      <p:sp>
        <p:nvSpPr>
          <p:cNvPr id="3" name="Text 0"/>
          <p:cNvSpPr/>
          <p:nvPr>
            <p:ph idx="101" type="title" hasCustomPrompt="1"/>
          </p:nvPr>
        </p:nvSpPr>
        <p:spPr>
          <a:xfrm>
            <a:off x="548640" y="713232"/>
            <a:ext cx="11094415" cy="713232"/>
          </a:xfrm>
          <a:prstGeom prst="rect">
            <a:avLst/>
          </a:prstGeom>
          <a:noFill/>
          <a:ln/>
        </p:spPr>
        <p:txBody>
          <a:bodyPr wrap="square" lIns="0" tIns="0" rIns="0" bIns="0" rtlCol="0" anchor="t"/>
          <a:lstStyle/>
          <a:p>
            <a:pPr algn="l" indent="0" marL="0">
              <a:buNone/>
            </a:pPr>
            <a:r>
              <a:rPr lang="en-US" sz="3000" b="1" dirty="0">
                <a:solidFill>
                  <a:srgbClr val="13233A"/>
                </a:solidFill>
              </a:rPr>
              <a:t>Self-powered through a whole day and night</a:t>
            </a:r>
            <a:endParaRPr lang="en-US" sz="3000" dirty="0"/>
          </a:p>
        </p:txBody>
      </p:sp>
      <p:sp>
        <p:nvSpPr>
          <p:cNvPr id="4" name="day frame"/>
          <p:cNvSpPr/>
          <p:nvPr/>
        </p:nvSpPr>
        <p:spPr>
          <a:xfrm>
            <a:off x="548640" y="1554480"/>
            <a:ext cx="6583680" cy="4572000"/>
          </a:xfrm>
          <a:prstGeom prst="roundRect">
            <a:avLst>
              <a:gd name="adj" fmla="val 1600"/>
            </a:avLst>
          </a:prstGeom>
          <a:solidFill>
            <a:srgbClr val="FFFFFF"/>
          </a:solidFill>
          <a:ln w="9525">
            <a:solidFill>
              <a:srgbClr val="E3E0D6"/>
            </a:solidFill>
            <a:prstDash val="solid"/>
          </a:ln>
        </p:spPr>
      </p:sp>
      <p:pic>
        <p:nvPicPr>
          <p:cNvPr id="5" name="day" descr="Battery state of charge over a full day for LHB, Vande Bharat, ICF and BOXN with three electronics strategies">    </p:cNvPr>
          <p:cNvPicPr>
            <a:picLocks noChangeAspect="1"/>
          </p:cNvPicPr>
          <p:nvPr/>
        </p:nvPicPr>
        <p:blipFill>
          <a:blip r:embed="rId1"/>
          <a:stretch>
            <a:fillRect/>
          </a:stretch>
        </p:blipFill>
        <p:spPr>
          <a:xfrm>
            <a:off x="660854" y="1627632"/>
            <a:ext cx="6359253" cy="4425696"/>
          </a:xfrm>
          <a:prstGeom prst="rect">
            <a:avLst/>
          </a:prstGeom>
        </p:spPr>
      </p:pic>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7406640" y="1645920"/>
          <a:ext cx="4236415" cy="914400"/>
        </p:xfrm>
        <a:graphic>
          <a:graphicData uri="http://schemas.openxmlformats.org/drawingml/2006/table">
            <a:tbl>
              <a:tblPr/>
              <a:tblGrid>
                <a:gridCol w="2118208"/>
                <a:gridCol w="1059104"/>
                <a:gridCol w="1059104"/>
              </a:tblGrid>
              <a:tr h="0">
                <a:tc>
                  <a:txBody>
                    <a:bodyPr/>
                    <a:lstStyle/>
                    <a:p>
                      <a:pPr indent="0" marL="0">
                        <a:buNone/>
                      </a:pPr>
                      <a:r>
                        <a:rPr lang="en-US" sz="1200" b="1" dirty="0">
                          <a:solidFill>
                            <a:srgbClr val="6B7686"/>
                          </a:solidFill>
                          <a:latin typeface="Calibri" pitchFamily="34" charset="0"/>
                          <a:ea typeface="Calibri" pitchFamily="34" charset="-122"/>
                          <a:cs typeface="Calibri" pitchFamily="34" charset="-120"/>
                        </a:rPr>
                        <a:t>Battery, 1 W sleep</a:t>
                      </a:r>
                      <a:endParaRPr lang="en-US" sz="12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7F5F0"/>
                    </a:solidFill>
                  </a:tcPr>
                </a:tc>
                <a:tc>
                  <a:txBody>
                    <a:bodyPr/>
                    <a:lstStyle/>
                    <a:p>
                      <a:pPr indent="0" marL="0">
                        <a:buNone/>
                      </a:pPr>
                      <a:r>
                        <a:rPr lang="en-US" sz="1200" b="1" dirty="0">
                          <a:solidFill>
                            <a:srgbClr val="6B7686"/>
                          </a:solidFill>
                          <a:latin typeface="Calibri" pitchFamily="34" charset="0"/>
                          <a:ea typeface="Calibri" pitchFamily="34" charset="-122"/>
                          <a:cs typeface="Calibri" pitchFamily="34" charset="-120"/>
                        </a:rPr>
                        <a:t>Start</a:t>
                      </a:r>
                      <a:endParaRPr lang="en-US" sz="12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7F5F0"/>
                    </a:solidFill>
                  </a:tcPr>
                </a:tc>
                <a:tc>
                  <a:txBody>
                    <a:bodyPr/>
                    <a:lstStyle/>
                    <a:p>
                      <a:pPr indent="0" marL="0">
                        <a:buNone/>
                      </a:pPr>
                      <a:r>
                        <a:rPr lang="en-US" sz="1200" b="1" dirty="0">
                          <a:solidFill>
                            <a:srgbClr val="6B7686"/>
                          </a:solidFill>
                          <a:latin typeface="Calibri" pitchFamily="34" charset="0"/>
                          <a:ea typeface="Calibri" pitchFamily="34" charset="-122"/>
                          <a:cs typeface="Calibri" pitchFamily="34" charset="-120"/>
                        </a:rPr>
                        <a:t>End</a:t>
                      </a:r>
                      <a:endParaRPr lang="en-US" sz="12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7F5F0"/>
                    </a:solidFill>
                  </a:tcPr>
                </a:tc>
              </a:tr>
              <a:tr h="0">
                <a:tc>
                  <a:txBody>
                    <a:bodyPr/>
                    <a:lstStyle/>
                    <a:p>
                      <a:pPr indent="0" marL="0">
                        <a:buNone/>
                      </a:pPr>
                      <a:r>
                        <a:rPr lang="en-US" sz="1500" dirty="0">
                          <a:solidFill>
                            <a:srgbClr val="1F2A37"/>
                          </a:solidFill>
                          <a:latin typeface="Calibri" pitchFamily="34" charset="0"/>
                          <a:ea typeface="Calibri" pitchFamily="34" charset="-122"/>
                          <a:cs typeface="Calibri" pitchFamily="34" charset="-120"/>
                        </a:rPr>
                        <a:t>LHB day</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500" dirty="0">
                          <a:solidFill>
                            <a:srgbClr val="1F2A37"/>
                          </a:solidFill>
                          <a:latin typeface="Calibri" pitchFamily="34" charset="0"/>
                          <a:ea typeface="Calibri" pitchFamily="34" charset="-122"/>
                          <a:cs typeface="Calibri" pitchFamily="34" charset="-120"/>
                        </a:rPr>
                        <a:t>60%</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500" b="1" dirty="0">
                          <a:solidFill>
                            <a:srgbClr val="1F2A37"/>
                          </a:solidFill>
                          <a:latin typeface="Calibri" pitchFamily="34" charset="0"/>
                          <a:ea typeface="Calibri" pitchFamily="34" charset="-122"/>
                          <a:cs typeface="Calibri" pitchFamily="34" charset="-120"/>
                        </a:rPr>
                        <a:t>60%</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r>
              <a:tr h="0">
                <a:tc>
                  <a:txBody>
                    <a:bodyPr/>
                    <a:lstStyle/>
                    <a:p>
                      <a:pPr indent="0" marL="0">
                        <a:buNone/>
                      </a:pPr>
                      <a:r>
                        <a:rPr lang="en-US" sz="1500" dirty="0">
                          <a:solidFill>
                            <a:srgbClr val="1F2A37"/>
                          </a:solidFill>
                          <a:latin typeface="Calibri" pitchFamily="34" charset="0"/>
                          <a:ea typeface="Calibri" pitchFamily="34" charset="-122"/>
                          <a:cs typeface="Calibri" pitchFamily="34" charset="-120"/>
                        </a:rPr>
                        <a:t>Vande Bharat</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500" dirty="0">
                          <a:solidFill>
                            <a:srgbClr val="1F2A37"/>
                          </a:solidFill>
                          <a:latin typeface="Calibri" pitchFamily="34" charset="0"/>
                          <a:ea typeface="Calibri" pitchFamily="34" charset="-122"/>
                          <a:cs typeface="Calibri" pitchFamily="34" charset="-120"/>
                        </a:rPr>
                        <a:t>60%</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500" b="1" dirty="0">
                          <a:solidFill>
                            <a:srgbClr val="1F2A37"/>
                          </a:solidFill>
                          <a:latin typeface="Calibri" pitchFamily="34" charset="0"/>
                          <a:ea typeface="Calibri" pitchFamily="34" charset="-122"/>
                          <a:cs typeface="Calibri" pitchFamily="34" charset="-120"/>
                        </a:rPr>
                        <a:t>69%</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r>
              <a:tr h="0">
                <a:tc>
                  <a:txBody>
                    <a:bodyPr/>
                    <a:lstStyle/>
                    <a:p>
                      <a:pPr indent="0" marL="0">
                        <a:buNone/>
                      </a:pPr>
                      <a:r>
                        <a:rPr lang="en-US" sz="1500" dirty="0">
                          <a:solidFill>
                            <a:srgbClr val="1F2A37"/>
                          </a:solidFill>
                          <a:latin typeface="Calibri" pitchFamily="34" charset="0"/>
                          <a:ea typeface="Calibri" pitchFamily="34" charset="-122"/>
                          <a:cs typeface="Calibri" pitchFamily="34" charset="-120"/>
                        </a:rPr>
                        <a:t>BOXN freight</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500" dirty="0">
                          <a:solidFill>
                            <a:srgbClr val="1F2A37"/>
                          </a:solidFill>
                          <a:latin typeface="Calibri" pitchFamily="34" charset="0"/>
                          <a:ea typeface="Calibri" pitchFamily="34" charset="-122"/>
                          <a:cs typeface="Calibri" pitchFamily="34" charset="-120"/>
                        </a:rPr>
                        <a:t>60%</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500" b="1" dirty="0">
                          <a:solidFill>
                            <a:srgbClr val="1F2A37"/>
                          </a:solidFill>
                          <a:latin typeface="Calibri" pitchFamily="34" charset="0"/>
                          <a:ea typeface="Calibri" pitchFamily="34" charset="-122"/>
                          <a:cs typeface="Calibri" pitchFamily="34" charset="-120"/>
                        </a:rPr>
                        <a:t>80%</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r>
              <a:tr h="0">
                <a:tc>
                  <a:txBody>
                    <a:bodyPr/>
                    <a:lstStyle/>
                    <a:p>
                      <a:pPr indent="0" marL="0">
                        <a:buNone/>
                      </a:pPr>
                      <a:r>
                        <a:rPr lang="en-US" sz="1500" dirty="0">
                          <a:solidFill>
                            <a:srgbClr val="1F2A37"/>
                          </a:solidFill>
                          <a:latin typeface="Calibri" pitchFamily="34" charset="0"/>
                          <a:ea typeface="Calibri" pitchFamily="34" charset="-122"/>
                          <a:cs typeface="Calibri" pitchFamily="34" charset="-120"/>
                        </a:rPr>
                        <a:t>ICF (slow)</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500" dirty="0">
                          <a:solidFill>
                            <a:srgbClr val="1F2A37"/>
                          </a:solidFill>
                          <a:latin typeface="Calibri" pitchFamily="34" charset="0"/>
                          <a:ea typeface="Calibri" pitchFamily="34" charset="-122"/>
                          <a:cs typeface="Calibri" pitchFamily="34" charset="-120"/>
                        </a:rPr>
                        <a:t>60%</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500" dirty="0">
                          <a:solidFill>
                            <a:srgbClr val="1F2A37"/>
                          </a:solidFill>
                          <a:latin typeface="Calibri" pitchFamily="34" charset="0"/>
                          <a:ea typeface="Calibri" pitchFamily="34" charset="-122"/>
                          <a:cs typeface="Calibri" pitchFamily="34" charset="-120"/>
                        </a:rPr>
                        <a:t>36%</a:t>
                      </a:r>
                      <a:endParaRPr lang="en-US" sz="15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r>
            </a:tbl>
          </a:graphicData>
        </a:graphic>
      </p:graphicFrame>
      <p:sp>
        <p:nvSpPr>
          <p:cNvPr id="7" name="Text 3"/>
          <p:cNvSpPr txBox="1"/>
          <p:nvPr/>
        </p:nvSpPr>
        <p:spPr>
          <a:xfrm>
            <a:off x="7406640" y="4023360"/>
            <a:ext cx="4236415" cy="1828800"/>
          </a:xfrm>
          <a:prstGeom prst="rect">
            <a:avLst/>
          </a:prstGeom>
          <a:noFill/>
          <a:ln/>
        </p:spPr>
        <p:txBody>
          <a:bodyPr wrap="square" lIns="0" tIns="0" rIns="0" bIns="0" rtlCol="0" anchor="t"/>
          <a:lstStyle/>
          <a:p>
            <a:pPr indent="0" marL="0">
              <a:buNone/>
            </a:pPr>
            <a:r>
              <a:rPr lang="en-US" sz="1500" dirty="0">
                <a:solidFill>
                  <a:srgbClr val="3D4A5C"/>
                </a:solidFill>
              </a:rPr>
              <a:t>Electronics left on at 8 W through a 10 h night drain every vehicle to its 10% floor. </a:t>
            </a:r>
            <a:pPr indent="0" marL="0">
              <a:buNone/>
            </a:pPr>
            <a:r>
              <a:rPr lang="en-US" sz="1500" b="1" dirty="0">
                <a:solidFill>
                  <a:srgbClr val="13233A"/>
                </a:solidFill>
              </a:rPr>
              <a:t>A 1 W sleep when parked fixes it</a:t>
            </a:r>
            <a:pPr indent="0" marL="0">
              <a:buNone/>
            </a:pPr>
            <a:r>
              <a:rPr lang="en-US" sz="1500" dirty="0">
                <a:solidFill>
                  <a:srgbClr val="3D4A5C"/>
                </a:solidFill>
              </a:rPr>
              <a:t> — no load is ever left unpowered.</a:t>
            </a:r>
            <a:endParaRPr lang="en-US" sz="1500" dirty="0"/>
          </a:p>
        </p:txBody>
      </p:sp>
      <p:sp>
        <p:nvSpPr>
          <p:cNvPr id="25" name="Slide Number Placeholder 0"/>
          <p:cNvSpPr>
            <a:spLocks noGrp="1"/>
          </p:cNvSpPr>
          <p:nvPr>
            <p:ph type="sldNum" sz="quarter" idx="4294967295"/>
          </p:nvPr>
        </p:nvSpPr>
        <p:spPr>
          <a:xfrm>
            <a:off x="11155680" y="6419088"/>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310896"/>
          </a:xfrm>
          <a:prstGeom prst="rect">
            <a:avLst/>
          </a:prstGeom>
          <a:noFill/>
          <a:ln/>
        </p:spPr>
        <p:txBody>
          <a:bodyPr wrap="square" lIns="0" tIns="0" rIns="0" bIns="0" rtlCol="0" anchor="ctr"/>
          <a:lstStyle/>
          <a:p>
            <a:pPr indent="0" marL="0">
              <a:buNone/>
            </a:pPr>
            <a:r>
              <a:rPr lang="en-US" sz="1200" b="1" spc="300" kern="0" dirty="0">
                <a:solidFill>
                  <a:srgbClr val="A8520F"/>
                </a:solidFill>
              </a:rPr>
              <a:t>06 · RESULTS · SELF-POWERED SAFETY SENSING</a:t>
            </a:r>
            <a:endParaRPr lang="en-US" sz="1200" dirty="0"/>
          </a:p>
        </p:txBody>
      </p:sp>
      <p:sp>
        <p:nvSpPr>
          <p:cNvPr id="3" name="Text 0"/>
          <p:cNvSpPr/>
          <p:nvPr>
            <p:ph idx="101" type="title" hasCustomPrompt="1"/>
          </p:nvPr>
        </p:nvSpPr>
        <p:spPr>
          <a:xfrm>
            <a:off x="548640" y="713232"/>
            <a:ext cx="11094415" cy="713232"/>
          </a:xfrm>
          <a:prstGeom prst="rect">
            <a:avLst/>
          </a:prstGeom>
          <a:noFill/>
          <a:ln/>
        </p:spPr>
        <p:txBody>
          <a:bodyPr wrap="square" lIns="0" tIns="0" rIns="0" bIns="0" rtlCol="0" anchor="t"/>
          <a:lstStyle/>
          <a:p>
            <a:pPr algn="l" indent="0" marL="0">
              <a:buNone/>
            </a:pPr>
            <a:r>
              <a:rPr lang="en-US" sz="3000" b="1" dirty="0">
                <a:solidFill>
                  <a:srgbClr val="13233A"/>
                </a:solidFill>
              </a:rPr>
              <a:t>The damper is also a safety sensor</a:t>
            </a:r>
            <a:endParaRPr lang="en-US" sz="3000" dirty="0"/>
          </a:p>
        </p:txBody>
      </p:sp>
      <p:sp>
        <p:nvSpPr>
          <p:cNvPr id="4" name="axle frame"/>
          <p:cNvSpPr/>
          <p:nvPr/>
        </p:nvSpPr>
        <p:spPr>
          <a:xfrm>
            <a:off x="548640" y="1554480"/>
            <a:ext cx="5410048" cy="2926080"/>
          </a:xfrm>
          <a:prstGeom prst="roundRect">
            <a:avLst>
              <a:gd name="adj" fmla="val 2500"/>
            </a:avLst>
          </a:prstGeom>
          <a:solidFill>
            <a:srgbClr val="FFFFFF"/>
          </a:solidFill>
          <a:ln w="9525">
            <a:solidFill>
              <a:srgbClr val="E3E0D6"/>
            </a:solidFill>
            <a:prstDash val="solid"/>
          </a:ln>
        </p:spPr>
      </p:sp>
      <p:pic>
        <p:nvPicPr>
          <p:cNvPr id="5" name="axle" descr="Hot axle: bearing temperature rise and trackside checkpoint detection histogram">    </p:cNvPr>
          <p:cNvPicPr>
            <a:picLocks noChangeAspect="1"/>
          </p:cNvPicPr>
          <p:nvPr/>
        </p:nvPicPr>
        <p:blipFill>
          <a:blip r:embed="rId1"/>
          <a:stretch>
            <a:fillRect/>
          </a:stretch>
        </p:blipFill>
        <p:spPr>
          <a:xfrm>
            <a:off x="621792" y="1878860"/>
            <a:ext cx="5263744" cy="2277319"/>
          </a:xfrm>
          <a:prstGeom prst="rect">
            <a:avLst/>
          </a:prstGeom>
        </p:spPr>
      </p:pic>
      <p:sp>
        <p:nvSpPr>
          <p:cNvPr id="6" name="wheel frame"/>
          <p:cNvSpPr/>
          <p:nvPr/>
        </p:nvSpPr>
        <p:spPr>
          <a:xfrm>
            <a:off x="6233008" y="1554480"/>
            <a:ext cx="5410048" cy="2926080"/>
          </a:xfrm>
          <a:prstGeom prst="roundRect">
            <a:avLst>
              <a:gd name="adj" fmla="val 2500"/>
            </a:avLst>
          </a:prstGeom>
          <a:solidFill>
            <a:srgbClr val="FFFFFF"/>
          </a:solidFill>
          <a:ln w="9525">
            <a:solidFill>
              <a:srgbClr val="E3E0D6"/>
            </a:solidFill>
            <a:prstDash val="solid"/>
          </a:ln>
        </p:spPr>
      </p:sp>
      <p:pic>
        <p:nvPicPr>
          <p:cNvPr id="7" name="wheel" descr="Wheel defect: coil-voltage spectrum and front versus rear bogie signal">    </p:cNvPr>
          <p:cNvPicPr>
            <a:picLocks noChangeAspect="1"/>
          </p:cNvPicPr>
          <p:nvPr/>
        </p:nvPicPr>
        <p:blipFill>
          <a:blip r:embed="rId2"/>
          <a:stretch>
            <a:fillRect/>
          </a:stretch>
        </p:blipFill>
        <p:spPr>
          <a:xfrm>
            <a:off x="6306160" y="1843111"/>
            <a:ext cx="5263744" cy="2348818"/>
          </a:xfrm>
          <a:prstGeom prst="rect">
            <a:avLst/>
          </a:prstGeom>
        </p:spPr>
      </p:pic>
      <p:sp>
        <p:nvSpPr>
          <p:cNvPr id="8" name="Shape 4"/>
          <p:cNvSpPr/>
          <p:nvPr/>
        </p:nvSpPr>
        <p:spPr>
          <a:xfrm>
            <a:off x="548640" y="4663440"/>
            <a:ext cx="3545738" cy="1371600"/>
          </a:xfrm>
          <a:prstGeom prst="roundRect">
            <a:avLst>
              <a:gd name="adj" fmla="val 6667"/>
            </a:avLst>
          </a:prstGeom>
          <a:solidFill>
            <a:srgbClr val="13233A"/>
          </a:solidFill>
          <a:ln/>
        </p:spPr>
      </p:sp>
      <p:sp>
        <p:nvSpPr>
          <p:cNvPr id="9" name="Text 5"/>
          <p:cNvSpPr txBox="1"/>
          <p:nvPr/>
        </p:nvSpPr>
        <p:spPr>
          <a:xfrm>
            <a:off x="749808" y="4809744"/>
            <a:ext cx="3143402" cy="566928"/>
          </a:xfrm>
          <a:prstGeom prst="rect">
            <a:avLst/>
          </a:prstGeom>
          <a:noFill/>
          <a:ln/>
        </p:spPr>
        <p:txBody>
          <a:bodyPr wrap="square" lIns="0" tIns="0" rIns="0" bIns="0" rtlCol="0" anchor="t"/>
          <a:lstStyle/>
          <a:p>
            <a:pPr indent="0" marL="0">
              <a:buNone/>
            </a:pPr>
            <a:r>
              <a:rPr lang="en-US" sz="3200" b="1" dirty="0">
                <a:solidFill>
                  <a:srgbClr val="F0974A"/>
                </a:solidFill>
                <a:latin typeface="Calibri" pitchFamily="34" charset="0"/>
                <a:ea typeface="Calibri" pitchFamily="34" charset="-122"/>
                <a:cs typeface="Calibri" pitchFamily="34" charset="-120"/>
              </a:rPr>
              <a:t>10 s</a:t>
            </a:r>
            <a:endParaRPr lang="en-US" sz="3200" dirty="0"/>
          </a:p>
        </p:txBody>
      </p:sp>
      <p:sp>
        <p:nvSpPr>
          <p:cNvPr id="10" name="Text 6"/>
          <p:cNvSpPr txBox="1"/>
          <p:nvPr/>
        </p:nvSpPr>
        <p:spPr>
          <a:xfrm>
            <a:off x="749808" y="5394960"/>
            <a:ext cx="3143402" cy="530352"/>
          </a:xfrm>
          <a:prstGeom prst="rect">
            <a:avLst/>
          </a:prstGeom>
          <a:noFill/>
          <a:ln/>
        </p:spPr>
        <p:txBody>
          <a:bodyPr wrap="square" lIns="0" tIns="0" rIns="0" bIns="0" rtlCol="0" anchor="t"/>
          <a:lstStyle/>
          <a:p>
            <a:pPr indent="0" marL="0">
              <a:buNone/>
            </a:pPr>
            <a:r>
              <a:rPr lang="en-US" sz="1400" dirty="0">
                <a:solidFill>
                  <a:srgbClr val="E4E8EE"/>
                </a:solidFill>
              </a:rPr>
              <a:t>hot-axle alarm by the on-bogie sensor</a:t>
            </a:r>
            <a:endParaRPr lang="en-US" sz="1400" dirty="0"/>
          </a:p>
        </p:txBody>
      </p:sp>
      <p:sp>
        <p:nvSpPr>
          <p:cNvPr id="11" name="Shape 7"/>
          <p:cNvSpPr/>
          <p:nvPr/>
        </p:nvSpPr>
        <p:spPr>
          <a:xfrm>
            <a:off x="4322978" y="4663440"/>
            <a:ext cx="3545738" cy="1371600"/>
          </a:xfrm>
          <a:prstGeom prst="roundRect">
            <a:avLst>
              <a:gd name="adj" fmla="val 6667"/>
            </a:avLst>
          </a:prstGeom>
          <a:solidFill>
            <a:srgbClr val="FDFCF9"/>
          </a:solidFill>
          <a:ln w="9525">
            <a:solidFill>
              <a:srgbClr val="E3E0D6"/>
            </a:solidFill>
            <a:prstDash val="solid"/>
          </a:ln>
        </p:spPr>
      </p:sp>
      <p:sp>
        <p:nvSpPr>
          <p:cNvPr id="12" name="Text 8"/>
          <p:cNvSpPr txBox="1"/>
          <p:nvPr/>
        </p:nvSpPr>
        <p:spPr>
          <a:xfrm>
            <a:off x="4524146" y="4809744"/>
            <a:ext cx="3143402" cy="566928"/>
          </a:xfrm>
          <a:prstGeom prst="rect">
            <a:avLst/>
          </a:prstGeom>
          <a:noFill/>
          <a:ln/>
        </p:spPr>
        <p:txBody>
          <a:bodyPr wrap="square" lIns="0" tIns="0" rIns="0" bIns="0" rtlCol="0" anchor="t"/>
          <a:lstStyle/>
          <a:p>
            <a:pPr indent="0" marL="0">
              <a:buNone/>
            </a:pPr>
            <a:r>
              <a:rPr lang="en-US" sz="3200" b="1" dirty="0">
                <a:solidFill>
                  <a:srgbClr val="1F6F66"/>
                </a:solidFill>
                <a:latin typeface="Calibri" pitchFamily="34" charset="0"/>
                <a:ea typeface="Calibri" pitchFamily="34" charset="-122"/>
                <a:cs typeface="Calibri" pitchFamily="34" charset="-120"/>
              </a:rPr>
              <a:t>82%</a:t>
            </a:r>
            <a:endParaRPr lang="en-US" sz="3200" dirty="0"/>
          </a:p>
        </p:txBody>
      </p:sp>
      <p:sp>
        <p:nvSpPr>
          <p:cNvPr id="13" name="Text 9"/>
          <p:cNvSpPr txBox="1"/>
          <p:nvPr/>
        </p:nvSpPr>
        <p:spPr>
          <a:xfrm>
            <a:off x="4524146" y="5394960"/>
            <a:ext cx="3143402" cy="530352"/>
          </a:xfrm>
          <a:prstGeom prst="rect">
            <a:avLst/>
          </a:prstGeom>
          <a:noFill/>
          <a:ln/>
        </p:spPr>
        <p:txBody>
          <a:bodyPr wrap="square" lIns="0" tIns="0" rIns="0" bIns="0" rtlCol="0" anchor="t"/>
          <a:lstStyle/>
          <a:p>
            <a:pPr indent="0" marL="0">
              <a:buNone/>
            </a:pPr>
            <a:r>
              <a:rPr lang="en-US" sz="1400" dirty="0">
                <a:solidFill>
                  <a:srgbClr val="3D4A5C"/>
                </a:solidFill>
              </a:rPr>
              <a:t>of faults pass 180 °C before a trackside check</a:t>
            </a:r>
            <a:endParaRPr lang="en-US" sz="1400" dirty="0"/>
          </a:p>
        </p:txBody>
      </p:sp>
      <p:sp>
        <p:nvSpPr>
          <p:cNvPr id="14" name="Shape 10"/>
          <p:cNvSpPr/>
          <p:nvPr/>
        </p:nvSpPr>
        <p:spPr>
          <a:xfrm>
            <a:off x="8097317" y="4663440"/>
            <a:ext cx="3545738" cy="1371600"/>
          </a:xfrm>
          <a:prstGeom prst="roundRect">
            <a:avLst>
              <a:gd name="adj" fmla="val 6667"/>
            </a:avLst>
          </a:prstGeom>
          <a:solidFill>
            <a:srgbClr val="FDFCF9"/>
          </a:solidFill>
          <a:ln w="9525">
            <a:solidFill>
              <a:srgbClr val="E3E0D6"/>
            </a:solidFill>
            <a:prstDash val="solid"/>
          </a:ln>
        </p:spPr>
      </p:sp>
      <p:sp>
        <p:nvSpPr>
          <p:cNvPr id="15" name="Text 11"/>
          <p:cNvSpPr txBox="1"/>
          <p:nvPr/>
        </p:nvSpPr>
        <p:spPr>
          <a:xfrm>
            <a:off x="8298485" y="4809744"/>
            <a:ext cx="3143402" cy="566928"/>
          </a:xfrm>
          <a:prstGeom prst="rect">
            <a:avLst/>
          </a:prstGeom>
          <a:noFill/>
          <a:ln/>
        </p:spPr>
        <p:txBody>
          <a:bodyPr wrap="square" lIns="0" tIns="0" rIns="0" bIns="0" rtlCol="0" anchor="t"/>
          <a:lstStyle/>
          <a:p>
            <a:pPr indent="0" marL="0">
              <a:buNone/>
            </a:pPr>
            <a:r>
              <a:rPr lang="en-US" sz="3200" b="1" dirty="0">
                <a:solidFill>
                  <a:srgbClr val="1F6F66"/>
                </a:solidFill>
                <a:latin typeface="Calibri" pitchFamily="34" charset="0"/>
                <a:ea typeface="Calibri" pitchFamily="34" charset="-122"/>
                <a:cs typeface="Calibri" pitchFamily="34" charset="-120"/>
              </a:rPr>
              <a:t>×5 – ×204</a:t>
            </a:r>
            <a:endParaRPr lang="en-US" sz="3200" dirty="0"/>
          </a:p>
        </p:txBody>
      </p:sp>
      <p:sp>
        <p:nvSpPr>
          <p:cNvPr id="16" name="Text 12"/>
          <p:cNvSpPr txBox="1"/>
          <p:nvPr/>
        </p:nvSpPr>
        <p:spPr>
          <a:xfrm>
            <a:off x="8298485" y="5394960"/>
            <a:ext cx="3143402" cy="530352"/>
          </a:xfrm>
          <a:prstGeom prst="rect">
            <a:avLst/>
          </a:prstGeom>
          <a:noFill/>
          <a:ln/>
        </p:spPr>
        <p:txBody>
          <a:bodyPr wrap="square" lIns="0" tIns="0" rIns="0" bIns="0" rtlCol="0" anchor="t"/>
          <a:lstStyle/>
          <a:p>
            <a:pPr indent="0" marL="0">
              <a:buNone/>
            </a:pPr>
            <a:r>
              <a:rPr lang="en-US" sz="1400" dirty="0">
                <a:solidFill>
                  <a:srgbClr val="3D4A5C"/>
                </a:solidFill>
              </a:rPr>
              <a:t>wheel-defect signal in the coil, located to the wheelset</a:t>
            </a:r>
            <a:endParaRPr lang="en-US" sz="1400" dirty="0"/>
          </a:p>
        </p:txBody>
      </p:sp>
      <p:sp>
        <p:nvSpPr>
          <p:cNvPr id="25" name="Slide Number Placeholder 0"/>
          <p:cNvSpPr>
            <a:spLocks noGrp="1"/>
          </p:cNvSpPr>
          <p:nvPr>
            <p:ph type="sldNum" sz="quarter" idx="4294967295"/>
          </p:nvPr>
        </p:nvSpPr>
        <p:spPr>
          <a:xfrm>
            <a:off x="11155680" y="6419088"/>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310896"/>
          </a:xfrm>
          <a:prstGeom prst="rect">
            <a:avLst/>
          </a:prstGeom>
          <a:noFill/>
          <a:ln/>
        </p:spPr>
        <p:txBody>
          <a:bodyPr wrap="square" lIns="0" tIns="0" rIns="0" bIns="0" rtlCol="0" anchor="ctr"/>
          <a:lstStyle/>
          <a:p>
            <a:pPr indent="0" marL="0">
              <a:buNone/>
            </a:pPr>
            <a:r>
              <a:rPr lang="en-US" sz="1200" b="1" spc="300" kern="0" dirty="0">
                <a:solidFill>
                  <a:srgbClr val="A8520F"/>
                </a:solidFill>
              </a:rPr>
              <a:t>06 · RESULTS · BENCH PROTOTYPE (STAGE 5)</a:t>
            </a:r>
            <a:endParaRPr lang="en-US" sz="1200" dirty="0"/>
          </a:p>
        </p:txBody>
      </p:sp>
      <p:sp>
        <p:nvSpPr>
          <p:cNvPr id="3" name="Text 0"/>
          <p:cNvSpPr/>
          <p:nvPr>
            <p:ph idx="101" type="title" hasCustomPrompt="1"/>
          </p:nvPr>
        </p:nvSpPr>
        <p:spPr>
          <a:xfrm>
            <a:off x="548640" y="713232"/>
            <a:ext cx="11094415" cy="713232"/>
          </a:xfrm>
          <a:prstGeom prst="rect">
            <a:avLst/>
          </a:prstGeom>
          <a:noFill/>
          <a:ln/>
        </p:spPr>
        <p:txBody>
          <a:bodyPr wrap="square" lIns="0" tIns="0" rIns="0" bIns="0" rtlCol="0" anchor="t"/>
          <a:lstStyle/>
          <a:p>
            <a:pPr algn="l" indent="0" marL="0">
              <a:buNone/>
            </a:pPr>
            <a:r>
              <a:rPr lang="en-US" sz="3000" b="1" dirty="0">
                <a:solidFill>
                  <a:srgbClr val="13233A"/>
                </a:solidFill>
              </a:rPr>
              <a:t>Ready for hardware: the bench model agrees</a:t>
            </a:r>
            <a:endParaRPr lang="en-US" sz="3000" dirty="0"/>
          </a:p>
        </p:txBody>
      </p:sp>
      <p:sp>
        <p:nvSpPr>
          <p:cNvPr id="4" name="breplay frame"/>
          <p:cNvSpPr/>
          <p:nvPr/>
        </p:nvSpPr>
        <p:spPr>
          <a:xfrm>
            <a:off x="548640" y="1554480"/>
            <a:ext cx="5410048" cy="2926080"/>
          </a:xfrm>
          <a:prstGeom prst="roundRect">
            <a:avLst>
              <a:gd name="adj" fmla="val 2500"/>
            </a:avLst>
          </a:prstGeom>
          <a:solidFill>
            <a:srgbClr val="FFFFFF"/>
          </a:solidFill>
          <a:ln w="9525">
            <a:solidFill>
              <a:srgbClr val="E3E0D6"/>
            </a:solidFill>
            <a:prstDash val="solid"/>
          </a:ln>
        </p:spPr>
      </p:sp>
      <p:pic>
        <p:nvPicPr>
          <p:cNvPr id="5" name="breplay" descr="Bench model replaying the coach motion: damper force and power into the bank">    </p:cNvPr>
          <p:cNvPicPr>
            <a:picLocks noChangeAspect="1"/>
          </p:cNvPicPr>
          <p:nvPr/>
        </p:nvPicPr>
        <p:blipFill>
          <a:blip r:embed="rId1"/>
          <a:stretch>
            <a:fillRect/>
          </a:stretch>
        </p:blipFill>
        <p:spPr>
          <a:xfrm>
            <a:off x="621792" y="1830423"/>
            <a:ext cx="5263744" cy="2374194"/>
          </a:xfrm>
          <a:prstGeom prst="rect">
            <a:avLst/>
          </a:prstGeom>
        </p:spPr>
      </p:pic>
      <p:sp>
        <p:nvSpPr>
          <p:cNvPr id="6" name="bfs frame"/>
          <p:cNvSpPr/>
          <p:nvPr/>
        </p:nvSpPr>
        <p:spPr>
          <a:xfrm>
            <a:off x="6233008" y="1554480"/>
            <a:ext cx="5410048" cy="2926080"/>
          </a:xfrm>
          <a:prstGeom prst="roundRect">
            <a:avLst>
              <a:gd name="adj" fmla="val 2500"/>
            </a:avLst>
          </a:prstGeom>
          <a:solidFill>
            <a:srgbClr val="FFFFFF"/>
          </a:solidFill>
          <a:ln w="9525">
            <a:solidFill>
              <a:srgbClr val="E3E0D6"/>
            </a:solidFill>
            <a:prstDash val="solid"/>
          </a:ln>
        </p:spPr>
      </p:sp>
      <p:pic>
        <p:nvPicPr>
          <p:cNvPr id="7" name="bfs" descr="Fail-safe test: force during the contactor change and damping after the fault">    </p:cNvPr>
          <p:cNvPicPr>
            <a:picLocks noChangeAspect="1"/>
          </p:cNvPicPr>
          <p:nvPr/>
        </p:nvPicPr>
        <p:blipFill>
          <a:blip r:embed="rId2"/>
          <a:stretch>
            <a:fillRect/>
          </a:stretch>
        </p:blipFill>
        <p:spPr>
          <a:xfrm>
            <a:off x="6306160" y="1903968"/>
            <a:ext cx="5263744" cy="2227104"/>
          </a:xfrm>
          <a:prstGeom prst="rect">
            <a:avLst/>
          </a:prstGeom>
        </p:spPr>
      </p:pic>
      <p:sp>
        <p:nvSpPr>
          <p:cNvPr id="8" name="Shape 4"/>
          <p:cNvSpPr/>
          <p:nvPr/>
        </p:nvSpPr>
        <p:spPr>
          <a:xfrm>
            <a:off x="548640" y="4663440"/>
            <a:ext cx="2636444" cy="1371600"/>
          </a:xfrm>
          <a:prstGeom prst="roundRect">
            <a:avLst>
              <a:gd name="adj" fmla="val 6667"/>
            </a:avLst>
          </a:prstGeom>
          <a:solidFill>
            <a:srgbClr val="13233A"/>
          </a:solidFill>
          <a:ln/>
        </p:spPr>
      </p:sp>
      <p:sp>
        <p:nvSpPr>
          <p:cNvPr id="9" name="Text 5"/>
          <p:cNvSpPr txBox="1"/>
          <p:nvPr/>
        </p:nvSpPr>
        <p:spPr>
          <a:xfrm>
            <a:off x="749808" y="4809744"/>
            <a:ext cx="2234108" cy="566928"/>
          </a:xfrm>
          <a:prstGeom prst="rect">
            <a:avLst/>
          </a:prstGeom>
          <a:noFill/>
          <a:ln/>
        </p:spPr>
        <p:txBody>
          <a:bodyPr wrap="square" lIns="0" tIns="0" rIns="0" bIns="0" rtlCol="0" anchor="t"/>
          <a:lstStyle/>
          <a:p>
            <a:pPr indent="0" marL="0">
              <a:buNone/>
            </a:pPr>
            <a:r>
              <a:rPr lang="en-US" sz="3200" b="1" dirty="0">
                <a:solidFill>
                  <a:srgbClr val="F0974A"/>
                </a:solidFill>
                <a:latin typeface="Calibri" pitchFamily="34" charset="0"/>
                <a:ea typeface="Calibri" pitchFamily="34" charset="-122"/>
                <a:cs typeface="Calibri" pitchFamily="34" charset="-120"/>
              </a:rPr>
              <a:t>14.4 W</a:t>
            </a:r>
            <a:endParaRPr lang="en-US" sz="3200" dirty="0"/>
          </a:p>
        </p:txBody>
      </p:sp>
      <p:sp>
        <p:nvSpPr>
          <p:cNvPr id="10" name="Text 6"/>
          <p:cNvSpPr txBox="1"/>
          <p:nvPr/>
        </p:nvSpPr>
        <p:spPr>
          <a:xfrm>
            <a:off x="749808" y="5394960"/>
            <a:ext cx="2234108" cy="530352"/>
          </a:xfrm>
          <a:prstGeom prst="rect">
            <a:avLst/>
          </a:prstGeom>
          <a:noFill/>
          <a:ln/>
        </p:spPr>
        <p:txBody>
          <a:bodyPr wrap="square" lIns="0" tIns="0" rIns="0" bIns="0" rtlCol="0" anchor="t"/>
          <a:lstStyle/>
          <a:p>
            <a:pPr indent="0" marL="0">
              <a:buNone/>
            </a:pPr>
            <a:r>
              <a:rPr lang="en-US" sz="1400" dirty="0">
                <a:solidFill>
                  <a:srgbClr val="E4E8EE"/>
                </a:solidFill>
              </a:rPr>
              <a:t>into the bank on replayed track (coach model 14.5 W)</a:t>
            </a:r>
            <a:endParaRPr lang="en-US" sz="1400" dirty="0"/>
          </a:p>
        </p:txBody>
      </p:sp>
      <p:sp>
        <p:nvSpPr>
          <p:cNvPr id="11" name="Shape 7"/>
          <p:cNvSpPr/>
          <p:nvPr/>
        </p:nvSpPr>
        <p:spPr>
          <a:xfrm>
            <a:off x="3367964" y="4663440"/>
            <a:ext cx="2636444" cy="1371600"/>
          </a:xfrm>
          <a:prstGeom prst="roundRect">
            <a:avLst>
              <a:gd name="adj" fmla="val 6667"/>
            </a:avLst>
          </a:prstGeom>
          <a:solidFill>
            <a:srgbClr val="FDFCF9"/>
          </a:solidFill>
          <a:ln w="9525">
            <a:solidFill>
              <a:srgbClr val="E3E0D6"/>
            </a:solidFill>
            <a:prstDash val="solid"/>
          </a:ln>
        </p:spPr>
      </p:sp>
      <p:sp>
        <p:nvSpPr>
          <p:cNvPr id="12" name="Text 8"/>
          <p:cNvSpPr txBox="1"/>
          <p:nvPr/>
        </p:nvSpPr>
        <p:spPr>
          <a:xfrm>
            <a:off x="3569132" y="4809744"/>
            <a:ext cx="2234108" cy="566928"/>
          </a:xfrm>
          <a:prstGeom prst="rect">
            <a:avLst/>
          </a:prstGeom>
          <a:noFill/>
          <a:ln/>
        </p:spPr>
        <p:txBody>
          <a:bodyPr wrap="square" lIns="0" tIns="0" rIns="0" bIns="0" rtlCol="0" anchor="t"/>
          <a:lstStyle/>
          <a:p>
            <a:pPr indent="0" marL="0">
              <a:buNone/>
            </a:pPr>
            <a:r>
              <a:rPr lang="en-US" sz="3200" b="1" dirty="0">
                <a:solidFill>
                  <a:srgbClr val="1F6F66"/>
                </a:solidFill>
                <a:latin typeface="Calibri" pitchFamily="34" charset="0"/>
                <a:ea typeface="Calibri" pitchFamily="34" charset="-122"/>
                <a:cs typeface="Calibri" pitchFamily="34" charset="-120"/>
              </a:rPr>
              <a:t>17,500</a:t>
            </a:r>
            <a:endParaRPr lang="en-US" sz="3200" dirty="0"/>
          </a:p>
        </p:txBody>
      </p:sp>
      <p:sp>
        <p:nvSpPr>
          <p:cNvPr id="13" name="Text 9"/>
          <p:cNvSpPr txBox="1"/>
          <p:nvPr/>
        </p:nvSpPr>
        <p:spPr>
          <a:xfrm>
            <a:off x="3569132" y="5394960"/>
            <a:ext cx="2234108" cy="530352"/>
          </a:xfrm>
          <a:prstGeom prst="rect">
            <a:avLst/>
          </a:prstGeom>
          <a:noFill/>
          <a:ln/>
        </p:spPr>
        <p:txBody>
          <a:bodyPr wrap="square" lIns="0" tIns="0" rIns="0" bIns="0" rtlCol="0" anchor="t"/>
          <a:lstStyle/>
          <a:p>
            <a:pPr indent="0" marL="0">
              <a:buNone/>
            </a:pPr>
            <a:r>
              <a:rPr lang="en-US" sz="1400" dirty="0">
                <a:solidFill>
                  <a:srgbClr val="3D4A5C"/>
                </a:solidFill>
              </a:rPr>
              <a:t>N s/m after a fault: the same as today’s damper</a:t>
            </a:r>
            <a:endParaRPr lang="en-US" sz="1400" dirty="0"/>
          </a:p>
        </p:txBody>
      </p:sp>
      <p:sp>
        <p:nvSpPr>
          <p:cNvPr id="14" name="Shape 10"/>
          <p:cNvSpPr/>
          <p:nvPr/>
        </p:nvSpPr>
        <p:spPr>
          <a:xfrm>
            <a:off x="6187288" y="4663440"/>
            <a:ext cx="2636444" cy="1371600"/>
          </a:xfrm>
          <a:prstGeom prst="roundRect">
            <a:avLst>
              <a:gd name="adj" fmla="val 6667"/>
            </a:avLst>
          </a:prstGeom>
          <a:solidFill>
            <a:srgbClr val="FDFCF9"/>
          </a:solidFill>
          <a:ln w="9525">
            <a:solidFill>
              <a:srgbClr val="E3E0D6"/>
            </a:solidFill>
            <a:prstDash val="solid"/>
          </a:ln>
        </p:spPr>
      </p:sp>
      <p:sp>
        <p:nvSpPr>
          <p:cNvPr id="15" name="Text 11"/>
          <p:cNvSpPr txBox="1"/>
          <p:nvPr/>
        </p:nvSpPr>
        <p:spPr>
          <a:xfrm>
            <a:off x="6388456" y="4809744"/>
            <a:ext cx="2234108" cy="566928"/>
          </a:xfrm>
          <a:prstGeom prst="rect">
            <a:avLst/>
          </a:prstGeom>
          <a:noFill/>
          <a:ln/>
        </p:spPr>
        <p:txBody>
          <a:bodyPr wrap="square" lIns="0" tIns="0" rIns="0" bIns="0" rtlCol="0" anchor="t"/>
          <a:lstStyle/>
          <a:p>
            <a:pPr indent="0" marL="0">
              <a:buNone/>
            </a:pPr>
            <a:r>
              <a:rPr lang="en-US" sz="3200" b="1" dirty="0">
                <a:solidFill>
                  <a:srgbClr val="1F6F66"/>
                </a:solidFill>
                <a:latin typeface="Calibri" pitchFamily="34" charset="0"/>
                <a:ea typeface="Calibri" pitchFamily="34" charset="-122"/>
                <a:cs typeface="Calibri" pitchFamily="34" charset="-120"/>
              </a:rPr>
              <a:t>10 / 10</a:t>
            </a:r>
            <a:endParaRPr lang="en-US" sz="3200" dirty="0"/>
          </a:p>
        </p:txBody>
      </p:sp>
      <p:sp>
        <p:nvSpPr>
          <p:cNvPr id="16" name="Text 12"/>
          <p:cNvSpPr txBox="1"/>
          <p:nvPr/>
        </p:nvSpPr>
        <p:spPr>
          <a:xfrm>
            <a:off x="6388456" y="5394960"/>
            <a:ext cx="2234108" cy="530352"/>
          </a:xfrm>
          <a:prstGeom prst="rect">
            <a:avLst/>
          </a:prstGeom>
          <a:noFill/>
          <a:ln/>
        </p:spPr>
        <p:txBody>
          <a:bodyPr wrap="square" lIns="0" tIns="0" rIns="0" bIns="0" rtlCol="0" anchor="t"/>
          <a:lstStyle/>
          <a:p>
            <a:pPr indent="0" marL="0">
              <a:buNone/>
            </a:pPr>
            <a:r>
              <a:rPr lang="en-US" sz="1400" dirty="0">
                <a:solidFill>
                  <a:srgbClr val="3D4A5C"/>
                </a:solidFill>
              </a:rPr>
              <a:t>C firmware matches MATLAB in every test</a:t>
            </a:r>
            <a:endParaRPr lang="en-US" sz="1400" dirty="0"/>
          </a:p>
        </p:txBody>
      </p:sp>
      <p:sp>
        <p:nvSpPr>
          <p:cNvPr id="17" name="Shape 13"/>
          <p:cNvSpPr/>
          <p:nvPr/>
        </p:nvSpPr>
        <p:spPr>
          <a:xfrm>
            <a:off x="9006611" y="4663440"/>
            <a:ext cx="2636444" cy="1371600"/>
          </a:xfrm>
          <a:prstGeom prst="roundRect">
            <a:avLst>
              <a:gd name="adj" fmla="val 6667"/>
            </a:avLst>
          </a:prstGeom>
          <a:solidFill>
            <a:srgbClr val="FDFCF9"/>
          </a:solidFill>
          <a:ln w="9525">
            <a:solidFill>
              <a:srgbClr val="E3E0D6"/>
            </a:solidFill>
            <a:prstDash val="solid"/>
          </a:ln>
        </p:spPr>
      </p:sp>
      <p:sp>
        <p:nvSpPr>
          <p:cNvPr id="18" name="Text 14"/>
          <p:cNvSpPr txBox="1"/>
          <p:nvPr/>
        </p:nvSpPr>
        <p:spPr>
          <a:xfrm>
            <a:off x="9207779" y="4809744"/>
            <a:ext cx="2234108" cy="566928"/>
          </a:xfrm>
          <a:prstGeom prst="rect">
            <a:avLst/>
          </a:prstGeom>
          <a:noFill/>
          <a:ln/>
        </p:spPr>
        <p:txBody>
          <a:bodyPr wrap="square" lIns="0" tIns="0" rIns="0" bIns="0" rtlCol="0" anchor="t"/>
          <a:lstStyle/>
          <a:p>
            <a:pPr indent="0" marL="0">
              <a:buNone/>
            </a:pPr>
            <a:r>
              <a:rPr lang="en-US" sz="3200" b="1" dirty="0">
                <a:solidFill>
                  <a:srgbClr val="1F6F66"/>
                </a:solidFill>
                <a:latin typeface="Calibri" pitchFamily="34" charset="0"/>
                <a:ea typeface="Calibri" pitchFamily="34" charset="-122"/>
                <a:cs typeface="Calibri" pitchFamily="34" charset="-120"/>
              </a:rPr>
              <a:t>85 / 85</a:t>
            </a:r>
            <a:endParaRPr lang="en-US" sz="3200" dirty="0"/>
          </a:p>
        </p:txBody>
      </p:sp>
      <p:sp>
        <p:nvSpPr>
          <p:cNvPr id="19" name="Text 15"/>
          <p:cNvSpPr txBox="1"/>
          <p:nvPr/>
        </p:nvSpPr>
        <p:spPr>
          <a:xfrm>
            <a:off x="9207779" y="5394960"/>
            <a:ext cx="2234108" cy="530352"/>
          </a:xfrm>
          <a:prstGeom prst="rect">
            <a:avLst/>
          </a:prstGeom>
          <a:noFill/>
          <a:ln/>
        </p:spPr>
        <p:txBody>
          <a:bodyPr wrap="square" lIns="0" tIns="0" rIns="0" bIns="0" rtlCol="0" anchor="t"/>
          <a:lstStyle/>
          <a:p>
            <a:pPr indent="0" marL="0">
              <a:buNone/>
            </a:pPr>
            <a:r>
              <a:rPr lang="en-US" sz="1400" dirty="0">
                <a:solidFill>
                  <a:srgbClr val="3D4A5C"/>
                </a:solidFill>
              </a:rPr>
              <a:t>automatic verification checks pass</a:t>
            </a:r>
            <a:endParaRPr lang="en-US" sz="1400" dirty="0"/>
          </a:p>
        </p:txBody>
      </p:sp>
      <p:sp>
        <p:nvSpPr>
          <p:cNvPr id="25" name="Slide Number Placeholder 0"/>
          <p:cNvSpPr>
            <a:spLocks noGrp="1"/>
          </p:cNvSpPr>
          <p:nvPr>
            <p:ph type="sldNum" sz="quarter" idx="4294967295"/>
          </p:nvPr>
        </p:nvSpPr>
        <p:spPr>
          <a:xfrm>
            <a:off x="11155680" y="6419088"/>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310896"/>
          </a:xfrm>
          <a:prstGeom prst="rect">
            <a:avLst/>
          </a:prstGeom>
          <a:noFill/>
          <a:ln/>
        </p:spPr>
        <p:txBody>
          <a:bodyPr wrap="square" lIns="0" tIns="0" rIns="0" bIns="0" rtlCol="0" anchor="ctr"/>
          <a:lstStyle/>
          <a:p>
            <a:pPr indent="0" marL="0">
              <a:buNone/>
            </a:pPr>
            <a:r>
              <a:rPr lang="en-US" sz="1200" b="1" spc="300" kern="0" dirty="0">
                <a:solidFill>
                  <a:srgbClr val="A8520F"/>
                </a:solidFill>
              </a:rPr>
              <a:t>07 · BASE PAPER VS SWARMRIDE</a:t>
            </a:r>
            <a:endParaRPr lang="en-US" sz="1200" dirty="0"/>
          </a:p>
        </p:txBody>
      </p:sp>
      <p:sp>
        <p:nvSpPr>
          <p:cNvPr id="3" name="Text 0"/>
          <p:cNvSpPr/>
          <p:nvPr>
            <p:ph idx="101" type="title" hasCustomPrompt="1"/>
          </p:nvPr>
        </p:nvSpPr>
        <p:spPr>
          <a:xfrm>
            <a:off x="548640" y="713232"/>
            <a:ext cx="11094415" cy="713232"/>
          </a:xfrm>
          <a:prstGeom prst="rect">
            <a:avLst/>
          </a:prstGeom>
          <a:noFill/>
          <a:ln/>
        </p:spPr>
        <p:txBody>
          <a:bodyPr wrap="square" lIns="0" tIns="0" rIns="0" bIns="0" rtlCol="0" anchor="t"/>
          <a:lstStyle/>
          <a:p>
            <a:pPr algn="l" indent="0" marL="0">
              <a:buNone/>
            </a:pPr>
            <a:r>
              <a:rPr lang="en-US" sz="3000" b="1" dirty="0">
                <a:solidFill>
                  <a:srgbClr val="13233A"/>
                </a:solidFill>
              </a:rPr>
              <a:t>Architecture: same core idea, five new capabilities</a:t>
            </a:r>
            <a:endParaRPr lang="en-US" sz="30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94415" cy="914400"/>
        </p:xfrm>
        <a:graphic>
          <a:graphicData uri="http://schemas.openxmlformats.org/drawingml/2006/table">
            <a:tbl>
              <a:tblPr/>
              <a:tblGrid>
                <a:gridCol w="1920240"/>
                <a:gridCol w="4023360"/>
                <a:gridCol w="5150815"/>
              </a:tblGrid>
              <a:tr h="429768">
                <a:tc>
                  <a:txBody>
                    <a:bodyPr/>
                    <a:lstStyle/>
                    <a:p>
                      <a:pPr indent="0" marL="0">
                        <a:buNone/>
                      </a:pPr>
                      <a:r>
                        <a:rPr lang="en-US" sz="1300" b="1" dirty="0">
                          <a:solidFill>
                            <a:srgbClr val="6B7686"/>
                          </a:solidFill>
                          <a:latin typeface="Calibri" pitchFamily="34" charset="0"/>
                          <a:ea typeface="Calibri" pitchFamily="34" charset="-122"/>
                          <a:cs typeface="Calibri" pitchFamily="34" charset="-120"/>
                        </a:rPr>
                        <a:t>Aspect</a:t>
                      </a:r>
                      <a:endParaRPr lang="en-US" sz="13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7F5F0"/>
                    </a:solidFill>
                  </a:tcPr>
                </a:tc>
                <a:tc>
                  <a:txBody>
                    <a:bodyPr/>
                    <a:lstStyle/>
                    <a:p>
                      <a:pPr indent="0" marL="0">
                        <a:buNone/>
                      </a:pPr>
                      <a:r>
                        <a:rPr lang="en-US" sz="1300" b="1" dirty="0">
                          <a:solidFill>
                            <a:srgbClr val="6B7686"/>
                          </a:solidFill>
                          <a:latin typeface="Calibri" pitchFamily="34" charset="0"/>
                          <a:ea typeface="Calibri" pitchFamily="34" charset="-122"/>
                          <a:cs typeface="Calibri" pitchFamily="34" charset="-120"/>
                        </a:rPr>
                        <a:t>Base paper · Hua et al., IEEE TVT 2022</a:t>
                      </a:r>
                      <a:endParaRPr lang="en-US" sz="13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7F5F0"/>
                    </a:solidFill>
                  </a:tcPr>
                </a:tc>
                <a:tc>
                  <a:txBody>
                    <a:bodyPr/>
                    <a:lstStyle/>
                    <a:p>
                      <a:pPr indent="0" marL="0">
                        <a:buNone/>
                      </a:pPr>
                      <a:r>
                        <a:rPr lang="en-US" sz="1300" b="1" dirty="0">
                          <a:solidFill>
                            <a:srgbClr val="6B7686"/>
                          </a:solidFill>
                          <a:latin typeface="Calibri" pitchFamily="34" charset="0"/>
                          <a:ea typeface="Calibri" pitchFamily="34" charset="-122"/>
                          <a:cs typeface="Calibri" pitchFamily="34" charset="-120"/>
                        </a:rPr>
                        <a:t>SwarmRide (ours)</a:t>
                      </a:r>
                      <a:endParaRPr lang="en-US" sz="13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7F5F0"/>
                    </a:solidFill>
                  </a:tcPr>
                </a:tc>
              </a:tr>
              <a:tr h="429768">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Vehicle, axis</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High-speed train, lateral</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LHB, Vande Bharat, ICF, BOXN freight — vertical</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r>
              <a:tr h="429768">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Damper drive</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Damping set by harvesting-circuit duty cycle</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Ball-screw servo + 4-quadrant H-bridge: the current sets the force</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r>
              <a:tr h="429768">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Controller</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LQG target force, semi-active tracking</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600" b="1" dirty="0">
                          <a:solidFill>
                            <a:srgbClr val="1F2A37"/>
                          </a:solidFill>
                          <a:latin typeface="Calibri" pitchFamily="34" charset="0"/>
                          <a:ea typeface="Calibri" pitchFamily="34" charset="-122"/>
                          <a:cs typeface="Calibri" pitchFamily="34" charset="-120"/>
                        </a:rPr>
                        <a:t>LPV-LQR scheduled on measured load + 10 kHz PI loop</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r>
              <a:tr h="429768">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Look-ahead</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DCEFEA"/>
                    </a:solidFill>
                  </a:tcPr>
                </a:tc>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DCEFEA"/>
                    </a:solidFill>
                  </a:tcPr>
                </a:tc>
                <a:tc>
                  <a:txBody>
                    <a:bodyPr/>
                    <a:lstStyle/>
                    <a:p>
                      <a:pPr indent="0" marL="0">
                        <a:buNone/>
                      </a:pPr>
                      <a:r>
                        <a:rPr lang="en-US" sz="1600" b="1" dirty="0">
                          <a:solidFill>
                            <a:srgbClr val="1F2A37"/>
                          </a:solidFill>
                          <a:latin typeface="Calibri" pitchFamily="34" charset="0"/>
                          <a:ea typeface="Calibri" pitchFamily="34" charset="-122"/>
                          <a:cs typeface="Calibri" pitchFamily="34" charset="-120"/>
                        </a:rPr>
                        <a:t>Train Brain preview, 221 rail samples</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DCEFEA"/>
                    </a:solidFill>
                  </a:tcPr>
                </a:tc>
              </a:tr>
              <a:tr h="429768">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Active push</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DCEFEA"/>
                    </a:solidFill>
                  </a:tcPr>
                </a:tc>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No (semi-active, resist only)</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DCEFEA"/>
                    </a:solidFill>
                  </a:tcPr>
                </a:tc>
                <a:tc>
                  <a:txBody>
                    <a:bodyPr/>
                    <a:lstStyle/>
                    <a:p>
                      <a:pPr indent="0" marL="0">
                        <a:buNone/>
                      </a:pPr>
                      <a:r>
                        <a:rPr lang="en-US" sz="1600" b="1" dirty="0">
                          <a:solidFill>
                            <a:srgbClr val="1F2A37"/>
                          </a:solidFill>
                          <a:latin typeface="Calibri" pitchFamily="34" charset="0"/>
                          <a:ea typeface="Calibri" pitchFamily="34" charset="-122"/>
                          <a:cs typeface="Calibri" pitchFamily="34" charset="-120"/>
                        </a:rPr>
                        <a:t>Yes — C4 at known bad spots, from banked energy</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DCEFEA"/>
                    </a:solidFill>
                  </a:tcPr>
                </a:tc>
              </a:tr>
              <a:tr h="429768">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Energy use</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DCEFEA"/>
                    </a:solidFill>
                  </a:tcPr>
                </a:tc>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Harvested power reported</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DCEFEA"/>
                    </a:solidFill>
                  </a:tcPr>
                </a:tc>
                <a:tc>
                  <a:txBody>
                    <a:bodyPr/>
                    <a:lstStyle/>
                    <a:p>
                      <a:pPr indent="0" marL="0">
                        <a:buNone/>
                      </a:pPr>
                      <a:r>
                        <a:rPr lang="en-US" sz="1600" b="1" dirty="0">
                          <a:solidFill>
                            <a:srgbClr val="1F2A37"/>
                          </a:solidFill>
                          <a:latin typeface="Calibri" pitchFamily="34" charset="0"/>
                          <a:ea typeface="Calibri" pitchFamily="34" charset="-122"/>
                          <a:cs typeface="Calibri" pitchFamily="34" charset="-120"/>
                        </a:rPr>
                        <a:t>Bogie power bank, full-day self-powered</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DCEFEA"/>
                    </a:solidFill>
                  </a:tcPr>
                </a:tc>
              </a:tr>
              <a:tr h="429768">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Safety sensing</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DCEFEA"/>
                    </a:solidFill>
                  </a:tcPr>
                </a:tc>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DCEFEA"/>
                    </a:solidFill>
                  </a:tcPr>
                </a:tc>
                <a:tc>
                  <a:txBody>
                    <a:bodyPr/>
                    <a:lstStyle/>
                    <a:p>
                      <a:pPr indent="0" marL="0">
                        <a:buNone/>
                      </a:pPr>
                      <a:r>
                        <a:rPr lang="en-US" sz="1600" b="1" dirty="0">
                          <a:solidFill>
                            <a:srgbClr val="1F2A37"/>
                          </a:solidFill>
                          <a:latin typeface="Calibri" pitchFamily="34" charset="0"/>
                          <a:ea typeface="Calibri" pitchFamily="34" charset="-122"/>
                          <a:cs typeface="Calibri" pitchFamily="34" charset="-120"/>
                        </a:rPr>
                        <a:t>Hot axle in 10 s, wheel defects in the coil signal</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DCEFEA"/>
                    </a:solidFill>
                  </a:tcPr>
                </a:tc>
              </a:tr>
              <a:tr h="429768">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Fail-safe</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Hardware contactor → today’s damping</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r>
              <a:tr h="429768">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Validation</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Prototype cyclic tests + simulation</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85 automated checks, bench model, C firmware</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48640" y="6053328"/>
            <a:ext cx="11094415" cy="274320"/>
          </a:xfrm>
          <a:prstGeom prst="rect">
            <a:avLst/>
          </a:prstGeom>
          <a:noFill/>
          <a:ln/>
        </p:spPr>
        <p:txBody>
          <a:bodyPr wrap="square" lIns="0" tIns="0" rIns="0" bIns="0" rtlCol="0" anchor="t"/>
          <a:lstStyle/>
          <a:p>
            <a:pPr indent="0" marL="0">
              <a:buNone/>
            </a:pPr>
            <a:r>
              <a:rPr lang="en-US" sz="1200" dirty="0">
                <a:solidFill>
                  <a:srgbClr val="6B7686"/>
                </a:solidFill>
              </a:rPr>
              <a:t>“—” means not part of the base paper’s study, as described in its published abstract</a:t>
            </a:r>
            <a:endParaRPr lang="en-US" sz="1200" dirty="0"/>
          </a:p>
        </p:txBody>
      </p:sp>
      <p:sp>
        <p:nvSpPr>
          <p:cNvPr id="25" name="Slide Number Placeholder 0"/>
          <p:cNvSpPr>
            <a:spLocks noGrp="1"/>
          </p:cNvSpPr>
          <p:nvPr>
            <p:ph type="sldNum" sz="quarter" idx="4294967295"/>
          </p:nvPr>
        </p:nvSpPr>
        <p:spPr>
          <a:xfrm>
            <a:off x="11155680" y="6419088"/>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310896"/>
          </a:xfrm>
          <a:prstGeom prst="rect">
            <a:avLst/>
          </a:prstGeom>
          <a:noFill/>
          <a:ln/>
        </p:spPr>
        <p:txBody>
          <a:bodyPr wrap="square" lIns="0" tIns="0" rIns="0" bIns="0" rtlCol="0" anchor="ctr"/>
          <a:lstStyle/>
          <a:p>
            <a:pPr indent="0" marL="0">
              <a:buNone/>
            </a:pPr>
            <a:r>
              <a:rPr lang="en-US" sz="1200" b="1" spc="300" kern="0" dirty="0">
                <a:solidFill>
                  <a:srgbClr val="A8520F"/>
                </a:solidFill>
              </a:rPr>
              <a:t>07 · BASE PAPER VS SWARMRIDE</a:t>
            </a:r>
            <a:endParaRPr lang="en-US" sz="1200" dirty="0"/>
          </a:p>
        </p:txBody>
      </p:sp>
      <p:sp>
        <p:nvSpPr>
          <p:cNvPr id="3" name="Text 0"/>
          <p:cNvSpPr/>
          <p:nvPr>
            <p:ph idx="101" type="title" hasCustomPrompt="1"/>
          </p:nvPr>
        </p:nvSpPr>
        <p:spPr>
          <a:xfrm>
            <a:off x="548640" y="713232"/>
            <a:ext cx="11094415" cy="713232"/>
          </a:xfrm>
          <a:prstGeom prst="rect">
            <a:avLst/>
          </a:prstGeom>
          <a:noFill/>
          <a:ln/>
        </p:spPr>
        <p:txBody>
          <a:bodyPr wrap="square" lIns="0" tIns="0" rIns="0" bIns="0" rtlCol="0" anchor="t"/>
          <a:lstStyle/>
          <a:p>
            <a:pPr algn="l" indent="0" marL="0">
              <a:buNone/>
            </a:pPr>
            <a:r>
              <a:rPr lang="en-US" sz="3000" b="1" dirty="0">
                <a:solidFill>
                  <a:srgbClr val="13233A"/>
                </a:solidFill>
              </a:rPr>
              <a:t>Results side by side</a:t>
            </a:r>
            <a:endParaRPr lang="en-US" sz="30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94415" cy="914400"/>
        </p:xfrm>
        <a:graphic>
          <a:graphicData uri="http://schemas.openxmlformats.org/drawingml/2006/table">
            <a:tbl>
              <a:tblPr/>
              <a:tblGrid>
                <a:gridCol w="2103120"/>
                <a:gridCol w="4206240"/>
                <a:gridCol w="4785055"/>
              </a:tblGrid>
              <a:tr h="420624">
                <a:tc>
                  <a:txBody>
                    <a:bodyPr/>
                    <a:lstStyle/>
                    <a:p>
                      <a:pPr indent="0" marL="0">
                        <a:buNone/>
                      </a:pPr>
                      <a:r>
                        <a:rPr lang="en-US" sz="1300" b="1" dirty="0">
                          <a:solidFill>
                            <a:srgbClr val="6B7686"/>
                          </a:solidFill>
                          <a:latin typeface="Calibri" pitchFamily="34" charset="0"/>
                          <a:ea typeface="Calibri" pitchFamily="34" charset="-122"/>
                          <a:cs typeface="Calibri" pitchFamily="34" charset="-120"/>
                        </a:rPr>
                        <a:t>Metric</a:t>
                      </a:r>
                      <a:endParaRPr lang="en-US" sz="13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7F5F0"/>
                    </a:solidFill>
                  </a:tcPr>
                </a:tc>
                <a:tc>
                  <a:txBody>
                    <a:bodyPr/>
                    <a:lstStyle/>
                    <a:p>
                      <a:pPr indent="0" marL="0">
                        <a:buNone/>
                      </a:pPr>
                      <a:r>
                        <a:rPr lang="en-US" sz="1300" b="1" dirty="0">
                          <a:solidFill>
                            <a:srgbClr val="6B7686"/>
                          </a:solidFill>
                          <a:latin typeface="Calibri" pitchFamily="34" charset="0"/>
                          <a:ea typeface="Calibri" pitchFamily="34" charset="-122"/>
                          <a:cs typeface="Calibri" pitchFamily="34" charset="-120"/>
                        </a:rPr>
                        <a:t>Base paper (lateral, high-speed train)</a:t>
                      </a:r>
                      <a:endParaRPr lang="en-US" sz="13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7F5F0"/>
                    </a:solidFill>
                  </a:tcPr>
                </a:tc>
                <a:tc>
                  <a:txBody>
                    <a:bodyPr/>
                    <a:lstStyle/>
                    <a:p>
                      <a:pPr indent="0" marL="0">
                        <a:buNone/>
                      </a:pPr>
                      <a:r>
                        <a:rPr lang="en-US" sz="1300" b="1" dirty="0">
                          <a:solidFill>
                            <a:srgbClr val="6B7686"/>
                          </a:solidFill>
                          <a:latin typeface="Calibri" pitchFamily="34" charset="0"/>
                          <a:ea typeface="Calibri" pitchFamily="34" charset="-122"/>
                          <a:cs typeface="Calibri" pitchFamily="34" charset="-120"/>
                        </a:rPr>
                        <a:t>SwarmRide (vertical, crowded LHB)</a:t>
                      </a:r>
                      <a:endParaRPr lang="en-US" sz="13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7F5F0"/>
                    </a:solidFill>
                  </a:tcPr>
                </a:tc>
              </a:tr>
              <a:tr h="420624">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Speed</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200–350 km/h</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160 km/h (LHB / Vande Bharat top speed)</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r>
              <a:tr h="420624">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Ride</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Better than passive and fixed-duty dampers</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600" b="1" dirty="0">
                          <a:solidFill>
                            <a:srgbClr val="1F2A37"/>
                          </a:solidFill>
                          <a:latin typeface="Calibri" pitchFamily="34" charset="0"/>
                          <a:ea typeface="Calibri" pitchFamily="34" charset="-122"/>
                          <a:cs typeface="Calibri" pitchFamily="34" charset="-120"/>
                        </a:rPr>
                        <a:t>Wz −17% (1.844 → 1.528), RMS −41%</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r>
              <a:tr h="420624">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Bad spots</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Resist only</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600" b="1" dirty="0">
                          <a:solidFill>
                            <a:srgbClr val="1F2A37"/>
                          </a:solidFill>
                          <a:latin typeface="Calibri" pitchFamily="34" charset="0"/>
                          <a:ea typeface="Calibri" pitchFamily="34" charset="-122"/>
                          <a:cs typeface="Calibri" pitchFamily="34" charset="-120"/>
                        </a:rPr>
                        <a:t>−80% worst seat at a settlement, for 0.1 Wh</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r>
              <a:tr h="420624">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Power</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25.89–153.19 W (semi-active)</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600" b="1" dirty="0">
                          <a:solidFill>
                            <a:srgbClr val="1F2A37"/>
                          </a:solidFill>
                          <a:latin typeface="Calibri" pitchFamily="34" charset="0"/>
                          <a:ea typeface="Calibri" pitchFamily="34" charset="-122"/>
                          <a:cs typeface="Calibri" pitchFamily="34" charset="-120"/>
                        </a:rPr>
                        <a:t>33–38 W per coach bogie; 55 W loaded wagon</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r>
              <a:tr h="420624">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vs fixed harvester</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Fixed duty harvested more power</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Fixed (C1) Wz 1.639 at 37 W vs C3 1.528 at 33 W</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r>
              <a:tr h="420624">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Load change</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One design load</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600" b="1" dirty="0">
                          <a:solidFill>
                            <a:srgbClr val="1F2A37"/>
                          </a:solidFill>
                          <a:latin typeface="Calibri" pitchFamily="34" charset="0"/>
                          <a:ea typeface="Calibri" pitchFamily="34" charset="-122"/>
                          <a:cs typeface="Calibri" pitchFamily="34" charset="-120"/>
                        </a:rPr>
                        <a:t>Flat comfort: Wz 1.493 empty → 1.528 crowded</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r>
              <a:tr h="420624">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Power use</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Not reported</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c>
                  <a:txBody>
                    <a:bodyPr/>
                    <a:lstStyle/>
                    <a:p>
                      <a:pPr indent="0" marL="0">
                        <a:buNone/>
                      </a:pPr>
                      <a:r>
                        <a:rPr lang="en-US" sz="1600" dirty="0">
                          <a:solidFill>
                            <a:srgbClr val="1F2A37"/>
                          </a:solidFill>
                          <a:latin typeface="Calibri" pitchFamily="34" charset="0"/>
                          <a:ea typeface="Calibri" pitchFamily="34" charset="-122"/>
                          <a:cs typeface="Calibri" pitchFamily="34" charset="-120"/>
                        </a:rPr>
                        <a:t>Bogie self-powered all day (1 W sleep when parked)</a:t>
                      </a:r>
                      <a:endParaRPr lang="en-US" sz="1600" dirty="0">
                        <a:latin typeface="Calibri" charset="0"/>
                        <a:ea typeface="Calibri" charset="0"/>
                        <a:cs typeface="Calibri" charset="0"/>
                      </a:endParaRPr>
                    </a:p>
                  </a:txBody>
                  <a:tcPr marL="91440" marR="91440" marT="64008" marB="64008" anchor="ctr">
                    <a:lnL w="9525" cap="flat" cmpd="sng" algn="ctr">
                      <a:solidFill>
                        <a:srgbClr val="E3E0D6"/>
                      </a:solidFill>
                      <a:prstDash val="solid"/>
                      <a:round/>
                      <a:headEnd type="none" w="med" len="med"/>
                      <a:tailEnd type="none" w="med" len="med"/>
                    </a:lnL>
                    <a:lnR w="9525" cap="flat" cmpd="sng" algn="ctr">
                      <a:solidFill>
                        <a:srgbClr val="E3E0D6"/>
                      </a:solidFill>
                      <a:prstDash val="solid"/>
                      <a:round/>
                      <a:headEnd type="none" w="med" len="med"/>
                      <a:tailEnd type="none" w="med" len="med"/>
                    </a:lnR>
                    <a:lnT w="9525" cap="flat" cmpd="sng" algn="ctr">
                      <a:solidFill>
                        <a:srgbClr val="E3E0D6"/>
                      </a:solidFill>
                      <a:prstDash val="solid"/>
                      <a:round/>
                      <a:headEnd type="none" w="med" len="med"/>
                      <a:tailEnd type="none" w="med" len="med"/>
                    </a:lnT>
                    <a:lnB w="9525" cap="flat" cmpd="sng" algn="ctr">
                      <a:solidFill>
                        <a:srgbClr val="E3E0D6"/>
                      </a:solidFill>
                      <a:prstDash val="solid"/>
                      <a:round/>
                      <a:headEnd type="none" w="med" len="med"/>
                      <a:tailEnd type="none" w="med" len="med"/>
                    </a:lnB>
                    <a:solidFill>
                      <a:srgbClr val="FFFFFF"/>
                    </a:solidFill>
                  </a:tcPr>
                </a:tc>
              </a:tr>
            </a:tbl>
          </a:graphicData>
        </a:graphic>
      </p:graphicFrame>
      <p:sp>
        <p:nvSpPr>
          <p:cNvPr id="5" name="Shape 2"/>
          <p:cNvSpPr/>
          <p:nvPr/>
        </p:nvSpPr>
        <p:spPr>
          <a:xfrm>
            <a:off x="548640" y="5166360"/>
            <a:ext cx="11094415" cy="777240"/>
          </a:xfrm>
          <a:prstGeom prst="roundRect">
            <a:avLst>
              <a:gd name="adj" fmla="val 11765"/>
            </a:avLst>
          </a:prstGeom>
          <a:solidFill>
            <a:srgbClr val="FDFCF9"/>
          </a:solidFill>
          <a:ln w="9525">
            <a:solidFill>
              <a:srgbClr val="E3E0D6"/>
            </a:solidFill>
            <a:prstDash val="solid"/>
          </a:ln>
        </p:spPr>
      </p:sp>
      <p:sp>
        <p:nvSpPr>
          <p:cNvPr id="6" name="Text 3"/>
          <p:cNvSpPr txBox="1"/>
          <p:nvPr/>
        </p:nvSpPr>
        <p:spPr>
          <a:xfrm>
            <a:off x="777240" y="5257800"/>
            <a:ext cx="10637215" cy="640080"/>
          </a:xfrm>
          <a:prstGeom prst="rect">
            <a:avLst/>
          </a:prstGeom>
          <a:noFill/>
          <a:ln/>
        </p:spPr>
        <p:txBody>
          <a:bodyPr wrap="square" lIns="0" tIns="0" rIns="0" bIns="0" rtlCol="0" anchor="ctr"/>
          <a:lstStyle/>
          <a:p>
            <a:pPr indent="0" marL="0">
              <a:buNone/>
            </a:pPr>
            <a:r>
              <a:rPr lang="en-US" sz="1400" dirty="0">
                <a:solidFill>
                  <a:srgbClr val="3D4A5C"/>
                </a:solidFill>
              </a:rPr>
              <a:t>The axis and speeds differ, so the two power figures are not like-for-like. </a:t>
            </a:r>
            <a:pPr indent="0" marL="0">
              <a:buNone/>
            </a:pPr>
            <a:r>
              <a:rPr lang="en-US" sz="1400" b="1" dirty="0">
                <a:solidFill>
                  <a:srgbClr val="13233A"/>
                </a:solidFill>
              </a:rPr>
              <a:t>What is directly comparable is the capability: </a:t>
            </a:r>
            <a:pPr indent="0" marL="0">
              <a:buNone/>
            </a:pPr>
            <a:r>
              <a:rPr lang="en-US" sz="1400" dirty="0">
                <a:solidFill>
                  <a:srgbClr val="3D4A5C"/>
                </a:solidFill>
              </a:rPr>
              <a:t>ours adapts to load, looks ahead, can push, and uses its energy on the bogie.</a:t>
            </a:r>
            <a:endParaRPr lang="en-US" sz="1400" dirty="0"/>
          </a:p>
        </p:txBody>
      </p:sp>
      <p:sp>
        <p:nvSpPr>
          <p:cNvPr id="7" name="Text 4"/>
          <p:cNvSpPr txBox="1"/>
          <p:nvPr/>
        </p:nvSpPr>
        <p:spPr>
          <a:xfrm>
            <a:off x="548640" y="6053328"/>
            <a:ext cx="11094415" cy="274320"/>
          </a:xfrm>
          <a:prstGeom prst="rect">
            <a:avLst/>
          </a:prstGeom>
          <a:noFill/>
          <a:ln/>
        </p:spPr>
        <p:txBody>
          <a:bodyPr wrap="square" lIns="0" tIns="0" rIns="0" bIns="0" rtlCol="0" anchor="t"/>
          <a:lstStyle/>
          <a:p>
            <a:pPr indent="0" marL="0">
              <a:buNone/>
            </a:pPr>
            <a:r>
              <a:rPr lang="en-US" sz="1200" dirty="0">
                <a:solidFill>
                  <a:srgbClr val="6B7686"/>
                </a:solidFill>
              </a:rPr>
              <a:t>Base-paper values from its abstract · SwarmRide values from SwarmRide_Sim/results (Stages 3–4)</a:t>
            </a:r>
            <a:endParaRPr lang="en-US" sz="1200" dirty="0"/>
          </a:p>
        </p:txBody>
      </p:sp>
      <p:sp>
        <p:nvSpPr>
          <p:cNvPr id="25" name="Slide Number Placeholder 0"/>
          <p:cNvSpPr>
            <a:spLocks noGrp="1"/>
          </p:cNvSpPr>
          <p:nvPr>
            <p:ph type="sldNum" sz="quarter" idx="4294967295"/>
          </p:nvPr>
        </p:nvSpPr>
        <p:spPr>
          <a:xfrm>
            <a:off x="11155680" y="6419088"/>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685800"/>
            <a:ext cx="11094415" cy="365760"/>
          </a:xfrm>
          <a:prstGeom prst="rect">
            <a:avLst/>
          </a:prstGeom>
          <a:noFill/>
          <a:ln/>
        </p:spPr>
        <p:txBody>
          <a:bodyPr wrap="square" lIns="0" tIns="0" rIns="0" bIns="0" rtlCol="0" anchor="t"/>
          <a:lstStyle/>
          <a:p>
            <a:pPr indent="0" marL="0">
              <a:buNone/>
            </a:pPr>
            <a:r>
              <a:rPr lang="en-US" sz="1400" b="1" spc="300" kern="0" dirty="0">
                <a:solidFill>
                  <a:srgbClr val="13233A"/>
                </a:solidFill>
              </a:rPr>
              <a:t>08 · WHY IT MATTERS</a:t>
            </a:r>
            <a:endParaRPr lang="en-US" sz="1400" dirty="0"/>
          </a:p>
        </p:txBody>
      </p:sp>
      <p:sp>
        <p:nvSpPr>
          <p:cNvPr id="3" name="Text 1"/>
          <p:cNvSpPr txBox="1"/>
          <p:nvPr/>
        </p:nvSpPr>
        <p:spPr>
          <a:xfrm>
            <a:off x="548640" y="1188720"/>
            <a:ext cx="10058400" cy="1828800"/>
          </a:xfrm>
          <a:prstGeom prst="rect">
            <a:avLst/>
          </a:prstGeom>
          <a:noFill/>
          <a:ln/>
        </p:spPr>
        <p:txBody>
          <a:bodyPr wrap="square" lIns="0" tIns="0" rIns="0" bIns="0" rtlCol="0" anchor="t"/>
          <a:lstStyle/>
          <a:p>
            <a:pPr indent="0" marL="0">
              <a:buNone/>
            </a:pPr>
            <a:r>
              <a:rPr lang="en-US" sz="4400" b="1" dirty="0">
                <a:solidFill>
                  <a:srgbClr val="13233A"/>
                </a:solidFill>
              </a:rPr>
              <a:t>Not a better damper. A self-powered, train-aware suspension.</a:t>
            </a:r>
            <a:endParaRPr lang="en-US" sz="4400" dirty="0"/>
          </a:p>
        </p:txBody>
      </p:sp>
      <p:sp>
        <p:nvSpPr>
          <p:cNvPr id="4" name="Shape 2"/>
          <p:cNvSpPr/>
          <p:nvPr/>
        </p:nvSpPr>
        <p:spPr>
          <a:xfrm>
            <a:off x="548640" y="3931920"/>
            <a:ext cx="2636444" cy="1920240"/>
          </a:xfrm>
          <a:prstGeom prst="roundRect">
            <a:avLst>
              <a:gd name="adj" fmla="val 4762"/>
            </a:avLst>
          </a:prstGeom>
          <a:solidFill>
            <a:srgbClr val="13233A"/>
          </a:solidFill>
          <a:ln/>
        </p:spPr>
      </p:sp>
      <p:sp>
        <p:nvSpPr>
          <p:cNvPr id="5" name="Text 3"/>
          <p:cNvSpPr txBox="1"/>
          <p:nvPr/>
        </p:nvSpPr>
        <p:spPr>
          <a:xfrm>
            <a:off x="777240" y="4114800"/>
            <a:ext cx="2179244" cy="502920"/>
          </a:xfrm>
          <a:prstGeom prst="rect">
            <a:avLst/>
          </a:prstGeom>
          <a:noFill/>
          <a:ln/>
        </p:spPr>
        <p:txBody>
          <a:bodyPr wrap="square" lIns="0" tIns="0" rIns="0" bIns="0" rtlCol="0" anchor="t"/>
          <a:lstStyle/>
          <a:p>
            <a:pPr indent="0" marL="0">
              <a:buNone/>
            </a:pPr>
            <a:r>
              <a:rPr lang="en-US" sz="2400" b="1" dirty="0">
                <a:solidFill>
                  <a:srgbClr val="F0974A"/>
                </a:solidFill>
              </a:rPr>
              <a:t>Adapts</a:t>
            </a:r>
            <a:endParaRPr lang="en-US" sz="2400" dirty="0"/>
          </a:p>
        </p:txBody>
      </p:sp>
      <p:sp>
        <p:nvSpPr>
          <p:cNvPr id="6" name="Text 4"/>
          <p:cNvSpPr txBox="1"/>
          <p:nvPr/>
        </p:nvSpPr>
        <p:spPr>
          <a:xfrm>
            <a:off x="777240" y="4709160"/>
            <a:ext cx="2179244" cy="1005840"/>
          </a:xfrm>
          <a:prstGeom prst="rect">
            <a:avLst/>
          </a:prstGeom>
          <a:noFill/>
          <a:ln/>
        </p:spPr>
        <p:txBody>
          <a:bodyPr wrap="square" lIns="0" tIns="0" rIns="0" bIns="0" rtlCol="0" anchor="t"/>
          <a:lstStyle/>
          <a:p>
            <a:pPr indent="0" marL="0">
              <a:buNone/>
            </a:pPr>
            <a:r>
              <a:rPr lang="en-US" sz="1500" dirty="0">
                <a:solidFill>
                  <a:srgbClr val="E4E8EE"/>
                </a:solidFill>
              </a:rPr>
              <a:t>Comfort stays flat from empty to crowded</a:t>
            </a:r>
            <a:endParaRPr lang="en-US" sz="1500" dirty="0"/>
          </a:p>
        </p:txBody>
      </p:sp>
      <p:sp>
        <p:nvSpPr>
          <p:cNvPr id="7" name="Shape 5"/>
          <p:cNvSpPr/>
          <p:nvPr/>
        </p:nvSpPr>
        <p:spPr>
          <a:xfrm>
            <a:off x="3367964" y="3931920"/>
            <a:ext cx="2636444" cy="1920240"/>
          </a:xfrm>
          <a:prstGeom prst="roundRect">
            <a:avLst>
              <a:gd name="adj" fmla="val 4762"/>
            </a:avLst>
          </a:prstGeom>
          <a:solidFill>
            <a:srgbClr val="13233A"/>
          </a:solidFill>
          <a:ln/>
        </p:spPr>
      </p:sp>
      <p:sp>
        <p:nvSpPr>
          <p:cNvPr id="8" name="Text 6"/>
          <p:cNvSpPr txBox="1"/>
          <p:nvPr/>
        </p:nvSpPr>
        <p:spPr>
          <a:xfrm>
            <a:off x="3596564" y="4114800"/>
            <a:ext cx="2179244" cy="502920"/>
          </a:xfrm>
          <a:prstGeom prst="rect">
            <a:avLst/>
          </a:prstGeom>
          <a:noFill/>
          <a:ln/>
        </p:spPr>
        <p:txBody>
          <a:bodyPr wrap="square" lIns="0" tIns="0" rIns="0" bIns="0" rtlCol="0" anchor="t"/>
          <a:lstStyle/>
          <a:p>
            <a:pPr indent="0" marL="0">
              <a:buNone/>
            </a:pPr>
            <a:r>
              <a:rPr lang="en-US" sz="2400" b="1" dirty="0">
                <a:solidFill>
                  <a:srgbClr val="F0974A"/>
                </a:solidFill>
              </a:rPr>
              <a:t>Anticipates</a:t>
            </a:r>
            <a:endParaRPr lang="en-US" sz="2400" dirty="0"/>
          </a:p>
        </p:txBody>
      </p:sp>
      <p:sp>
        <p:nvSpPr>
          <p:cNvPr id="9" name="Text 7"/>
          <p:cNvSpPr txBox="1"/>
          <p:nvPr/>
        </p:nvSpPr>
        <p:spPr>
          <a:xfrm>
            <a:off x="3596564" y="4709160"/>
            <a:ext cx="2179244" cy="1005840"/>
          </a:xfrm>
          <a:prstGeom prst="rect">
            <a:avLst/>
          </a:prstGeom>
          <a:noFill/>
          <a:ln/>
        </p:spPr>
        <p:txBody>
          <a:bodyPr wrap="square" lIns="0" tIns="0" rIns="0" bIns="0" rtlCol="0" anchor="t"/>
          <a:lstStyle/>
          <a:p>
            <a:pPr indent="0" marL="0">
              <a:buNone/>
            </a:pPr>
            <a:r>
              <a:rPr lang="en-US" sz="1500" dirty="0">
                <a:solidFill>
                  <a:srgbClr val="E4E8EE"/>
                </a:solidFill>
              </a:rPr>
              <a:t>The loco warns every coach before the bump</a:t>
            </a:r>
            <a:endParaRPr lang="en-US" sz="1500" dirty="0"/>
          </a:p>
        </p:txBody>
      </p:sp>
      <p:sp>
        <p:nvSpPr>
          <p:cNvPr id="10" name="Shape 8"/>
          <p:cNvSpPr/>
          <p:nvPr/>
        </p:nvSpPr>
        <p:spPr>
          <a:xfrm>
            <a:off x="6187288" y="3931920"/>
            <a:ext cx="2636444" cy="1920240"/>
          </a:xfrm>
          <a:prstGeom prst="roundRect">
            <a:avLst>
              <a:gd name="adj" fmla="val 4762"/>
            </a:avLst>
          </a:prstGeom>
          <a:solidFill>
            <a:srgbClr val="13233A"/>
          </a:solidFill>
          <a:ln/>
        </p:spPr>
      </p:sp>
      <p:sp>
        <p:nvSpPr>
          <p:cNvPr id="11" name="Text 9"/>
          <p:cNvSpPr txBox="1"/>
          <p:nvPr/>
        </p:nvSpPr>
        <p:spPr>
          <a:xfrm>
            <a:off x="6415888" y="4114800"/>
            <a:ext cx="2179244" cy="502920"/>
          </a:xfrm>
          <a:prstGeom prst="rect">
            <a:avLst/>
          </a:prstGeom>
          <a:noFill/>
          <a:ln/>
        </p:spPr>
        <p:txBody>
          <a:bodyPr wrap="square" lIns="0" tIns="0" rIns="0" bIns="0" rtlCol="0" anchor="t"/>
          <a:lstStyle/>
          <a:p>
            <a:pPr indent="0" marL="0">
              <a:buNone/>
            </a:pPr>
            <a:r>
              <a:rPr lang="en-US" sz="2400" b="1" dirty="0">
                <a:solidFill>
                  <a:srgbClr val="F0974A"/>
                </a:solidFill>
              </a:rPr>
              <a:t>Acts</a:t>
            </a:r>
            <a:endParaRPr lang="en-US" sz="2400" dirty="0"/>
          </a:p>
        </p:txBody>
      </p:sp>
      <p:sp>
        <p:nvSpPr>
          <p:cNvPr id="12" name="Text 10"/>
          <p:cNvSpPr txBox="1"/>
          <p:nvPr/>
        </p:nvSpPr>
        <p:spPr>
          <a:xfrm>
            <a:off x="6415888" y="4709160"/>
            <a:ext cx="2179244" cy="1005840"/>
          </a:xfrm>
          <a:prstGeom prst="rect">
            <a:avLst/>
          </a:prstGeom>
          <a:noFill/>
          <a:ln/>
        </p:spPr>
        <p:txBody>
          <a:bodyPr wrap="square" lIns="0" tIns="0" rIns="0" bIns="0" rtlCol="0" anchor="t"/>
          <a:lstStyle/>
          <a:p>
            <a:pPr indent="0" marL="0">
              <a:buNone/>
            </a:pPr>
            <a:r>
              <a:rPr lang="en-US" sz="1500" dirty="0">
                <a:solidFill>
                  <a:srgbClr val="E4E8EE"/>
                </a:solidFill>
              </a:rPr>
              <a:t>Pushes at bad spots: −80% jolt</a:t>
            </a:r>
            <a:endParaRPr lang="en-US" sz="1500" dirty="0"/>
          </a:p>
        </p:txBody>
      </p:sp>
      <p:sp>
        <p:nvSpPr>
          <p:cNvPr id="13" name="Shape 11"/>
          <p:cNvSpPr/>
          <p:nvPr/>
        </p:nvSpPr>
        <p:spPr>
          <a:xfrm>
            <a:off x="9006611" y="3931920"/>
            <a:ext cx="2636444" cy="1920240"/>
          </a:xfrm>
          <a:prstGeom prst="roundRect">
            <a:avLst>
              <a:gd name="adj" fmla="val 4762"/>
            </a:avLst>
          </a:prstGeom>
          <a:solidFill>
            <a:srgbClr val="13233A"/>
          </a:solidFill>
          <a:ln/>
        </p:spPr>
      </p:sp>
      <p:sp>
        <p:nvSpPr>
          <p:cNvPr id="14" name="Text 12"/>
          <p:cNvSpPr txBox="1"/>
          <p:nvPr/>
        </p:nvSpPr>
        <p:spPr>
          <a:xfrm>
            <a:off x="9235211" y="4114800"/>
            <a:ext cx="2179244" cy="502920"/>
          </a:xfrm>
          <a:prstGeom prst="rect">
            <a:avLst/>
          </a:prstGeom>
          <a:noFill/>
          <a:ln/>
        </p:spPr>
        <p:txBody>
          <a:bodyPr wrap="square" lIns="0" tIns="0" rIns="0" bIns="0" rtlCol="0" anchor="t"/>
          <a:lstStyle/>
          <a:p>
            <a:pPr indent="0" marL="0">
              <a:buNone/>
            </a:pPr>
            <a:r>
              <a:rPr lang="en-US" sz="2400" b="1" dirty="0">
                <a:solidFill>
                  <a:srgbClr val="F0974A"/>
                </a:solidFill>
              </a:rPr>
              <a:t>Protects</a:t>
            </a:r>
            <a:endParaRPr lang="en-US" sz="2400" dirty="0"/>
          </a:p>
        </p:txBody>
      </p:sp>
      <p:sp>
        <p:nvSpPr>
          <p:cNvPr id="15" name="Text 13"/>
          <p:cNvSpPr txBox="1"/>
          <p:nvPr/>
        </p:nvSpPr>
        <p:spPr>
          <a:xfrm>
            <a:off x="9235211" y="4709160"/>
            <a:ext cx="2179244" cy="1005840"/>
          </a:xfrm>
          <a:prstGeom prst="rect">
            <a:avLst/>
          </a:prstGeom>
          <a:noFill/>
          <a:ln/>
        </p:spPr>
        <p:txBody>
          <a:bodyPr wrap="square" lIns="0" tIns="0" rIns="0" bIns="0" rtlCol="0" anchor="t"/>
          <a:lstStyle/>
          <a:p>
            <a:pPr indent="0" marL="0">
              <a:buNone/>
            </a:pPr>
            <a:r>
              <a:rPr lang="en-US" sz="1500" dirty="0">
                <a:solidFill>
                  <a:srgbClr val="E4E8EE"/>
                </a:solidFill>
              </a:rPr>
              <a:t>Powers its own safety sensors, all day</a:t>
            </a:r>
            <a:endParaRPr lang="en-US" sz="1500" dirty="0"/>
          </a:p>
        </p:txBody>
      </p:sp>
      <p:sp>
        <p:nvSpPr>
          <p:cNvPr id="25" name="Slide Number Placeholder 0"/>
          <p:cNvSpPr>
            <a:spLocks noGrp="1"/>
          </p:cNvSpPr>
          <p:nvPr>
            <p:ph type="sldNum" sz="quarter" idx="4294967295"/>
          </p:nvPr>
        </p:nvSpPr>
        <p:spPr>
          <a:xfrm>
            <a:off x="11155680" y="6419088"/>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13233A"/>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310896"/>
          </a:xfrm>
          <a:prstGeom prst="rect">
            <a:avLst/>
          </a:prstGeom>
          <a:noFill/>
          <a:ln/>
        </p:spPr>
        <p:txBody>
          <a:bodyPr wrap="square" lIns="0" tIns="0" rIns="0" bIns="0" rtlCol="0" anchor="ctr"/>
          <a:lstStyle/>
          <a:p>
            <a:pPr indent="0" marL="0">
              <a:buNone/>
            </a:pPr>
            <a:r>
              <a:rPr lang="en-US" sz="1200" b="1" spc="300" kern="0" dirty="0">
                <a:solidFill>
                  <a:srgbClr val="A8520F"/>
                </a:solidFill>
              </a:rPr>
              <a:t>08 · ROADMAP</a:t>
            </a:r>
            <a:endParaRPr lang="en-US" sz="1200" dirty="0"/>
          </a:p>
        </p:txBody>
      </p:sp>
      <p:sp>
        <p:nvSpPr>
          <p:cNvPr id="3" name="Text 0"/>
          <p:cNvSpPr/>
          <p:nvPr>
            <p:ph idx="101" type="title" hasCustomPrompt="1"/>
          </p:nvPr>
        </p:nvSpPr>
        <p:spPr>
          <a:xfrm>
            <a:off x="548640" y="713232"/>
            <a:ext cx="11094415" cy="713232"/>
          </a:xfrm>
          <a:prstGeom prst="rect">
            <a:avLst/>
          </a:prstGeom>
          <a:noFill/>
          <a:ln/>
        </p:spPr>
        <p:txBody>
          <a:bodyPr wrap="square" lIns="0" tIns="0" rIns="0" bIns="0" rtlCol="0" anchor="t"/>
          <a:lstStyle/>
          <a:p>
            <a:pPr algn="l" indent="0" marL="0">
              <a:buNone/>
            </a:pPr>
            <a:r>
              <a:rPr lang="en-US" sz="3000" b="1" dirty="0">
                <a:solidFill>
                  <a:srgbClr val="13233A"/>
                </a:solidFill>
              </a:rPr>
              <a:t>Proven in simulation. Next: proven in metal.</a:t>
            </a:r>
            <a:endParaRPr lang="en-US" sz="3000" dirty="0"/>
          </a:p>
        </p:txBody>
      </p:sp>
      <p:sp>
        <p:nvSpPr>
          <p:cNvPr id="4" name="Shape 2"/>
          <p:cNvSpPr/>
          <p:nvPr/>
        </p:nvSpPr>
        <p:spPr>
          <a:xfrm>
            <a:off x="548640" y="1645920"/>
            <a:ext cx="2636444" cy="2377440"/>
          </a:xfrm>
          <a:prstGeom prst="roundRect">
            <a:avLst>
              <a:gd name="adj" fmla="val 3846"/>
            </a:avLst>
          </a:prstGeom>
          <a:solidFill>
            <a:srgbClr val="FDFCF9"/>
          </a:solidFill>
          <a:ln w="9525">
            <a:solidFill>
              <a:srgbClr val="E3E0D6"/>
            </a:solidFill>
            <a:prstDash val="solid"/>
          </a:ln>
        </p:spPr>
      </p:sp>
      <p:sp>
        <p:nvSpPr>
          <p:cNvPr id="5" name="Shape 3"/>
          <p:cNvSpPr/>
          <p:nvPr/>
        </p:nvSpPr>
        <p:spPr>
          <a:xfrm>
            <a:off x="777240" y="1874520"/>
            <a:ext cx="292608" cy="292608"/>
          </a:xfrm>
          <a:prstGeom prst="ellipse">
            <a:avLst/>
          </a:prstGeom>
          <a:solidFill>
            <a:srgbClr val="2A9D8F"/>
          </a:solidFill>
          <a:ln/>
        </p:spPr>
      </p:sp>
      <p:sp>
        <p:nvSpPr>
          <p:cNvPr id="6" name="Text 4"/>
          <p:cNvSpPr txBox="1"/>
          <p:nvPr/>
        </p:nvSpPr>
        <p:spPr>
          <a:xfrm>
            <a:off x="1188720" y="1883664"/>
            <a:ext cx="1813484" cy="292608"/>
          </a:xfrm>
          <a:prstGeom prst="rect">
            <a:avLst/>
          </a:prstGeom>
          <a:noFill/>
          <a:ln/>
        </p:spPr>
        <p:txBody>
          <a:bodyPr wrap="square" lIns="0" tIns="0" rIns="0" bIns="0" rtlCol="0" anchor="ctr"/>
          <a:lstStyle/>
          <a:p>
            <a:pPr indent="0" marL="0">
              <a:buNone/>
            </a:pPr>
            <a:r>
              <a:rPr lang="en-US" sz="1200" b="1" dirty="0">
                <a:solidFill>
                  <a:srgbClr val="6B7686"/>
                </a:solidFill>
              </a:rPr>
              <a:t>DONE</a:t>
            </a:r>
            <a:endParaRPr lang="en-US" sz="1200" dirty="0"/>
          </a:p>
        </p:txBody>
      </p:sp>
      <p:sp>
        <p:nvSpPr>
          <p:cNvPr id="7" name="Text 5"/>
          <p:cNvSpPr txBox="1"/>
          <p:nvPr/>
        </p:nvSpPr>
        <p:spPr>
          <a:xfrm>
            <a:off x="777240" y="2331720"/>
            <a:ext cx="2179244" cy="685800"/>
          </a:xfrm>
          <a:prstGeom prst="rect">
            <a:avLst/>
          </a:prstGeom>
          <a:noFill/>
          <a:ln/>
        </p:spPr>
        <p:txBody>
          <a:bodyPr wrap="square" lIns="0" tIns="0" rIns="0" bIns="0" rtlCol="0" anchor="t"/>
          <a:lstStyle/>
          <a:p>
            <a:pPr indent="0" marL="0">
              <a:buNone/>
            </a:pPr>
            <a:r>
              <a:rPr lang="en-US" sz="1800" b="1" dirty="0">
                <a:solidFill>
                  <a:srgbClr val="13233A"/>
                </a:solidFill>
              </a:rPr>
              <a:t>Simulation, Stages 1–4</a:t>
            </a:r>
            <a:endParaRPr lang="en-US" sz="1800" dirty="0"/>
          </a:p>
        </p:txBody>
      </p:sp>
      <p:sp>
        <p:nvSpPr>
          <p:cNvPr id="8" name="Text 6"/>
          <p:cNvSpPr txBox="1"/>
          <p:nvPr/>
        </p:nvSpPr>
        <p:spPr>
          <a:xfrm>
            <a:off x="777240" y="3017520"/>
            <a:ext cx="2179244" cy="914400"/>
          </a:xfrm>
          <a:prstGeom prst="rect">
            <a:avLst/>
          </a:prstGeom>
          <a:noFill/>
          <a:ln/>
        </p:spPr>
        <p:txBody>
          <a:bodyPr wrap="square" lIns="0" tIns="0" rIns="0" bIns="0" rtlCol="0" anchor="t"/>
          <a:lstStyle/>
          <a:p>
            <a:pPr indent="0" marL="0">
              <a:buNone/>
            </a:pPr>
            <a:r>
              <a:rPr lang="en-US" sz="1400" dirty="0">
                <a:solidFill>
                  <a:srgbClr val="3D4A5C"/>
                </a:solidFill>
              </a:rPr>
              <a:t>Gate A met: better ride at every load, self-powered all day</a:t>
            </a:r>
            <a:endParaRPr lang="en-US" sz="1400" dirty="0"/>
          </a:p>
        </p:txBody>
      </p:sp>
      <p:sp>
        <p:nvSpPr>
          <p:cNvPr id="9" name="Shape 7"/>
          <p:cNvSpPr/>
          <p:nvPr/>
        </p:nvSpPr>
        <p:spPr>
          <a:xfrm>
            <a:off x="3367964" y="1645920"/>
            <a:ext cx="2636444" cy="2377440"/>
          </a:xfrm>
          <a:prstGeom prst="roundRect">
            <a:avLst>
              <a:gd name="adj" fmla="val 3846"/>
            </a:avLst>
          </a:prstGeom>
          <a:solidFill>
            <a:srgbClr val="FDFCF9"/>
          </a:solidFill>
          <a:ln w="9525">
            <a:solidFill>
              <a:srgbClr val="E3E0D6"/>
            </a:solidFill>
            <a:prstDash val="solid"/>
          </a:ln>
        </p:spPr>
      </p:sp>
      <p:sp>
        <p:nvSpPr>
          <p:cNvPr id="10" name="Shape 8"/>
          <p:cNvSpPr/>
          <p:nvPr/>
        </p:nvSpPr>
        <p:spPr>
          <a:xfrm>
            <a:off x="3596564" y="1874520"/>
            <a:ext cx="292608" cy="292608"/>
          </a:xfrm>
          <a:prstGeom prst="ellipse">
            <a:avLst/>
          </a:prstGeom>
          <a:solidFill>
            <a:srgbClr val="2A9D8F"/>
          </a:solidFill>
          <a:ln/>
        </p:spPr>
      </p:sp>
      <p:sp>
        <p:nvSpPr>
          <p:cNvPr id="11" name="Text 9"/>
          <p:cNvSpPr txBox="1"/>
          <p:nvPr/>
        </p:nvSpPr>
        <p:spPr>
          <a:xfrm>
            <a:off x="4008044" y="1883664"/>
            <a:ext cx="1813484" cy="292608"/>
          </a:xfrm>
          <a:prstGeom prst="rect">
            <a:avLst/>
          </a:prstGeom>
          <a:noFill/>
          <a:ln/>
        </p:spPr>
        <p:txBody>
          <a:bodyPr wrap="square" lIns="0" tIns="0" rIns="0" bIns="0" rtlCol="0" anchor="ctr"/>
          <a:lstStyle/>
          <a:p>
            <a:pPr indent="0" marL="0">
              <a:buNone/>
            </a:pPr>
            <a:r>
              <a:rPr lang="en-US" sz="1200" b="1" dirty="0">
                <a:solidFill>
                  <a:srgbClr val="6B7686"/>
                </a:solidFill>
              </a:rPr>
              <a:t>DONE</a:t>
            </a:r>
            <a:endParaRPr lang="en-US" sz="1200" dirty="0"/>
          </a:p>
        </p:txBody>
      </p:sp>
      <p:sp>
        <p:nvSpPr>
          <p:cNvPr id="12" name="Text 10"/>
          <p:cNvSpPr txBox="1"/>
          <p:nvPr/>
        </p:nvSpPr>
        <p:spPr>
          <a:xfrm>
            <a:off x="3596564" y="2331720"/>
            <a:ext cx="2179244" cy="685800"/>
          </a:xfrm>
          <a:prstGeom prst="rect">
            <a:avLst/>
          </a:prstGeom>
          <a:noFill/>
          <a:ln/>
        </p:spPr>
        <p:txBody>
          <a:bodyPr wrap="square" lIns="0" tIns="0" rIns="0" bIns="0" rtlCol="0" anchor="t"/>
          <a:lstStyle/>
          <a:p>
            <a:pPr indent="0" marL="0">
              <a:buNone/>
            </a:pPr>
            <a:r>
              <a:rPr lang="en-US" sz="1800" b="1" dirty="0">
                <a:solidFill>
                  <a:srgbClr val="13233A"/>
                </a:solidFill>
              </a:rPr>
              <a:t>Bench design, Stage 5</a:t>
            </a:r>
            <a:endParaRPr lang="en-US" sz="1800" dirty="0"/>
          </a:p>
        </p:txBody>
      </p:sp>
      <p:sp>
        <p:nvSpPr>
          <p:cNvPr id="13" name="Text 11"/>
          <p:cNvSpPr txBox="1"/>
          <p:nvPr/>
        </p:nvSpPr>
        <p:spPr>
          <a:xfrm>
            <a:off x="3596564" y="3017520"/>
            <a:ext cx="2179244" cy="914400"/>
          </a:xfrm>
          <a:prstGeom prst="rect">
            <a:avLst/>
          </a:prstGeom>
          <a:noFill/>
          <a:ln/>
        </p:spPr>
        <p:txBody>
          <a:bodyPr wrap="square" lIns="0" tIns="0" rIns="0" bIns="0" rtlCol="0" anchor="t"/>
          <a:lstStyle/>
          <a:p>
            <a:pPr indent="0" marL="0">
              <a:buNone/>
            </a:pPr>
            <a:r>
              <a:rPr lang="en-US" sz="1400" dirty="0">
                <a:solidFill>
                  <a:srgbClr val="3D4A5C"/>
                </a:solidFill>
              </a:rPr>
              <a:t>Ratings, bench model, C firmware, test plan T1–T10</a:t>
            </a:r>
            <a:endParaRPr lang="en-US" sz="1400" dirty="0"/>
          </a:p>
        </p:txBody>
      </p:sp>
      <p:sp>
        <p:nvSpPr>
          <p:cNvPr id="14" name="Shape 12"/>
          <p:cNvSpPr/>
          <p:nvPr/>
        </p:nvSpPr>
        <p:spPr>
          <a:xfrm>
            <a:off x="6187288" y="1645920"/>
            <a:ext cx="2636444" cy="2377440"/>
          </a:xfrm>
          <a:prstGeom prst="roundRect">
            <a:avLst>
              <a:gd name="adj" fmla="val 3846"/>
            </a:avLst>
          </a:prstGeom>
          <a:solidFill>
            <a:srgbClr val="FDFCF9"/>
          </a:solidFill>
          <a:ln w="9525">
            <a:solidFill>
              <a:srgbClr val="E3E0D6"/>
            </a:solidFill>
            <a:prstDash val="solid"/>
          </a:ln>
        </p:spPr>
      </p:sp>
      <p:sp>
        <p:nvSpPr>
          <p:cNvPr id="15" name="Shape 13"/>
          <p:cNvSpPr/>
          <p:nvPr/>
        </p:nvSpPr>
        <p:spPr>
          <a:xfrm>
            <a:off x="6415888" y="1874520"/>
            <a:ext cx="292608" cy="292608"/>
          </a:xfrm>
          <a:prstGeom prst="ellipse">
            <a:avLst/>
          </a:prstGeom>
          <a:solidFill>
            <a:srgbClr val="E07A1F"/>
          </a:solidFill>
          <a:ln/>
        </p:spPr>
      </p:sp>
      <p:sp>
        <p:nvSpPr>
          <p:cNvPr id="16" name="Text 14"/>
          <p:cNvSpPr txBox="1"/>
          <p:nvPr/>
        </p:nvSpPr>
        <p:spPr>
          <a:xfrm>
            <a:off x="6827368" y="1883664"/>
            <a:ext cx="1813484" cy="292608"/>
          </a:xfrm>
          <a:prstGeom prst="rect">
            <a:avLst/>
          </a:prstGeom>
          <a:noFill/>
          <a:ln/>
        </p:spPr>
        <p:txBody>
          <a:bodyPr wrap="square" lIns="0" tIns="0" rIns="0" bIns="0" rtlCol="0" anchor="ctr"/>
          <a:lstStyle/>
          <a:p>
            <a:pPr indent="0" marL="0">
              <a:buNone/>
            </a:pPr>
            <a:r>
              <a:rPr lang="en-US" sz="1200" b="1" dirty="0">
                <a:solidFill>
                  <a:srgbClr val="6B7686"/>
                </a:solidFill>
              </a:rPr>
              <a:t>NEXT · 16 WEEKS</a:t>
            </a:r>
            <a:endParaRPr lang="en-US" sz="1200" dirty="0"/>
          </a:p>
        </p:txBody>
      </p:sp>
      <p:sp>
        <p:nvSpPr>
          <p:cNvPr id="17" name="Text 15"/>
          <p:cNvSpPr txBox="1"/>
          <p:nvPr/>
        </p:nvSpPr>
        <p:spPr>
          <a:xfrm>
            <a:off x="6415888" y="2331720"/>
            <a:ext cx="2179244" cy="685800"/>
          </a:xfrm>
          <a:prstGeom prst="rect">
            <a:avLst/>
          </a:prstGeom>
          <a:noFill/>
          <a:ln/>
        </p:spPr>
        <p:txBody>
          <a:bodyPr wrap="square" lIns="0" tIns="0" rIns="0" bIns="0" rtlCol="0" anchor="t"/>
          <a:lstStyle/>
          <a:p>
            <a:pPr indent="0" marL="0">
              <a:buNone/>
            </a:pPr>
            <a:r>
              <a:rPr lang="en-US" sz="1800" b="1" dirty="0">
                <a:solidFill>
                  <a:srgbClr val="13233A"/>
                </a:solidFill>
              </a:rPr>
              <a:t>Gate B: bench prototype</a:t>
            </a:r>
            <a:endParaRPr lang="en-US" sz="1800" dirty="0"/>
          </a:p>
        </p:txBody>
      </p:sp>
      <p:sp>
        <p:nvSpPr>
          <p:cNvPr id="18" name="Text 16"/>
          <p:cNvSpPr txBox="1"/>
          <p:nvPr/>
        </p:nvSpPr>
        <p:spPr>
          <a:xfrm>
            <a:off x="6415888" y="3017520"/>
            <a:ext cx="2179244" cy="914400"/>
          </a:xfrm>
          <a:prstGeom prst="rect">
            <a:avLst/>
          </a:prstGeom>
          <a:noFill/>
          <a:ln/>
        </p:spPr>
        <p:txBody>
          <a:bodyPr wrap="square" lIns="0" tIns="0" rIns="0" bIns="0" rtlCol="0" anchor="t"/>
          <a:lstStyle/>
          <a:p>
            <a:pPr indent="0" marL="0">
              <a:buNone/>
            </a:pPr>
            <a:r>
              <a:rPr lang="en-US" sz="1400" dirty="0">
                <a:solidFill>
                  <a:srgbClr val="3D4A5C"/>
                </a:solidFill>
              </a:rPr>
              <a:t>One damper on a rig; ≈ ₹4.4–13.5 lakh (indicative)</a:t>
            </a:r>
            <a:endParaRPr lang="en-US" sz="1400" dirty="0"/>
          </a:p>
        </p:txBody>
      </p:sp>
      <p:sp>
        <p:nvSpPr>
          <p:cNvPr id="19" name="Shape 17"/>
          <p:cNvSpPr/>
          <p:nvPr/>
        </p:nvSpPr>
        <p:spPr>
          <a:xfrm>
            <a:off x="9006611" y="1645920"/>
            <a:ext cx="2636444" cy="2377440"/>
          </a:xfrm>
          <a:prstGeom prst="roundRect">
            <a:avLst>
              <a:gd name="adj" fmla="val 3846"/>
            </a:avLst>
          </a:prstGeom>
          <a:solidFill>
            <a:srgbClr val="FDFCF9"/>
          </a:solidFill>
          <a:ln w="9525">
            <a:solidFill>
              <a:srgbClr val="E3E0D6"/>
            </a:solidFill>
            <a:prstDash val="solid"/>
          </a:ln>
        </p:spPr>
      </p:sp>
      <p:sp>
        <p:nvSpPr>
          <p:cNvPr id="20" name="Shape 18"/>
          <p:cNvSpPr/>
          <p:nvPr/>
        </p:nvSpPr>
        <p:spPr>
          <a:xfrm>
            <a:off x="9235211" y="1874520"/>
            <a:ext cx="292608" cy="292608"/>
          </a:xfrm>
          <a:prstGeom prst="ellipse">
            <a:avLst/>
          </a:prstGeom>
          <a:solidFill>
            <a:srgbClr val="9AA8BC"/>
          </a:solidFill>
          <a:ln/>
        </p:spPr>
      </p:sp>
      <p:sp>
        <p:nvSpPr>
          <p:cNvPr id="21" name="Text 19"/>
          <p:cNvSpPr txBox="1"/>
          <p:nvPr/>
        </p:nvSpPr>
        <p:spPr>
          <a:xfrm>
            <a:off x="9646691" y="1883664"/>
            <a:ext cx="1813484" cy="292608"/>
          </a:xfrm>
          <a:prstGeom prst="rect">
            <a:avLst/>
          </a:prstGeom>
          <a:noFill/>
          <a:ln/>
        </p:spPr>
        <p:txBody>
          <a:bodyPr wrap="square" lIns="0" tIns="0" rIns="0" bIns="0" rtlCol="0" anchor="ctr"/>
          <a:lstStyle/>
          <a:p>
            <a:pPr indent="0" marL="0">
              <a:buNone/>
            </a:pPr>
            <a:r>
              <a:rPr lang="en-US" sz="1200" b="1" dirty="0">
                <a:solidFill>
                  <a:srgbClr val="6B7686"/>
                </a:solidFill>
              </a:rPr>
              <a:t>LATER</a:t>
            </a:r>
            <a:endParaRPr lang="en-US" sz="1200" dirty="0"/>
          </a:p>
        </p:txBody>
      </p:sp>
      <p:sp>
        <p:nvSpPr>
          <p:cNvPr id="22" name="Text 20"/>
          <p:cNvSpPr txBox="1"/>
          <p:nvPr/>
        </p:nvSpPr>
        <p:spPr>
          <a:xfrm>
            <a:off x="9235211" y="2331720"/>
            <a:ext cx="2179244" cy="685800"/>
          </a:xfrm>
          <a:prstGeom prst="rect">
            <a:avLst/>
          </a:prstGeom>
          <a:noFill/>
          <a:ln/>
        </p:spPr>
        <p:txBody>
          <a:bodyPr wrap="square" lIns="0" tIns="0" rIns="0" bIns="0" rtlCol="0" anchor="t"/>
          <a:lstStyle/>
          <a:p>
            <a:pPr indent="0" marL="0">
              <a:buNone/>
            </a:pPr>
            <a:r>
              <a:rPr lang="en-US" sz="1800" b="1" dirty="0">
                <a:solidFill>
                  <a:srgbClr val="13233A"/>
                </a:solidFill>
              </a:rPr>
              <a:t>Field run, RDSO, pilot</a:t>
            </a:r>
            <a:endParaRPr lang="en-US" sz="1800" dirty="0"/>
          </a:p>
        </p:txBody>
      </p:sp>
      <p:sp>
        <p:nvSpPr>
          <p:cNvPr id="23" name="Text 21"/>
          <p:cNvSpPr txBox="1"/>
          <p:nvPr/>
        </p:nvSpPr>
        <p:spPr>
          <a:xfrm>
            <a:off x="9235211" y="3017520"/>
            <a:ext cx="2179244" cy="914400"/>
          </a:xfrm>
          <a:prstGeom prst="rect">
            <a:avLst/>
          </a:prstGeom>
          <a:noFill/>
          <a:ln/>
        </p:spPr>
        <p:txBody>
          <a:bodyPr wrap="square" lIns="0" tIns="0" rIns="0" bIns="0" rtlCol="0" anchor="t"/>
          <a:lstStyle/>
          <a:p>
            <a:pPr indent="0" marL="0">
              <a:buNone/>
            </a:pPr>
            <a:r>
              <a:rPr lang="en-US" sz="1400" dirty="0">
                <a:solidFill>
                  <a:srgbClr val="3D4A5C"/>
                </a:solidFill>
              </a:rPr>
              <a:t>Instrumented bogie; freight first, then Vande Bharat</a:t>
            </a:r>
            <a:endParaRPr lang="en-US" sz="1400" dirty="0"/>
          </a:p>
        </p:txBody>
      </p:sp>
      <p:sp>
        <p:nvSpPr>
          <p:cNvPr id="24" name="Shape 22"/>
          <p:cNvSpPr/>
          <p:nvPr/>
        </p:nvSpPr>
        <p:spPr>
          <a:xfrm>
            <a:off x="548640" y="4343400"/>
            <a:ext cx="5410048" cy="1463040"/>
          </a:xfrm>
          <a:prstGeom prst="roundRect">
            <a:avLst>
              <a:gd name="adj" fmla="val 6250"/>
            </a:avLst>
          </a:prstGeom>
          <a:solidFill>
            <a:srgbClr val="13233A"/>
          </a:solidFill>
          <a:ln/>
        </p:spPr>
      </p:sp>
      <p:sp>
        <p:nvSpPr>
          <p:cNvPr id="25" name="Text 23"/>
          <p:cNvSpPr txBox="1"/>
          <p:nvPr/>
        </p:nvSpPr>
        <p:spPr>
          <a:xfrm>
            <a:off x="822960" y="4526280"/>
            <a:ext cx="4861408" cy="1097280"/>
          </a:xfrm>
          <a:prstGeom prst="rect">
            <a:avLst/>
          </a:prstGeom>
          <a:noFill/>
          <a:ln/>
        </p:spPr>
        <p:txBody>
          <a:bodyPr wrap="square" lIns="0" tIns="0" rIns="0" bIns="0" rtlCol="0" anchor="t"/>
          <a:lstStyle/>
          <a:p>
            <a:pPr indent="0" marL="0">
              <a:buNone/>
            </a:pPr>
            <a:r>
              <a:rPr lang="en-US" sz="1500" b="1" dirty="0">
                <a:solidFill>
                  <a:srgbClr val="F0974A"/>
                </a:solidFill>
              </a:rPr>
              <a:t>Honest limits: </a:t>
            </a:r>
            <a:pPr indent="0" marL="0">
              <a:buNone/>
            </a:pPr>
            <a:r>
              <a:rPr lang="en-US" sz="1500" dirty="0">
                <a:solidFill>
                  <a:srgbClr val="E4E8EE"/>
                </a:solidFill>
              </a:rPr>
              <a:t>vehicle parameters are estimates until RDSO data; vertical model only; hardware costs not yet quoted.</a:t>
            </a:r>
            <a:endParaRPr lang="en-US" sz="1500" dirty="0"/>
          </a:p>
        </p:txBody>
      </p:sp>
      <p:sp>
        <p:nvSpPr>
          <p:cNvPr id="26" name="Shape 24"/>
          <p:cNvSpPr/>
          <p:nvPr/>
        </p:nvSpPr>
        <p:spPr>
          <a:xfrm>
            <a:off x="6233008" y="4343400"/>
            <a:ext cx="5410048" cy="1463040"/>
          </a:xfrm>
          <a:prstGeom prst="roundRect">
            <a:avLst>
              <a:gd name="adj" fmla="val 6250"/>
            </a:avLst>
          </a:prstGeom>
          <a:solidFill>
            <a:srgbClr val="13233A"/>
          </a:solidFill>
          <a:ln/>
        </p:spPr>
      </p:sp>
      <p:sp>
        <p:nvSpPr>
          <p:cNvPr id="27" name="Text 25"/>
          <p:cNvSpPr txBox="1"/>
          <p:nvPr/>
        </p:nvSpPr>
        <p:spPr>
          <a:xfrm>
            <a:off x="6507328" y="4526280"/>
            <a:ext cx="4861408" cy="1097280"/>
          </a:xfrm>
          <a:prstGeom prst="rect">
            <a:avLst/>
          </a:prstGeom>
          <a:noFill/>
          <a:ln/>
        </p:spPr>
        <p:txBody>
          <a:bodyPr wrap="square" lIns="0" tIns="0" rIns="0" bIns="0" rtlCol="0" anchor="t"/>
          <a:lstStyle/>
          <a:p>
            <a:pPr indent="0" marL="0">
              <a:buNone/>
            </a:pPr>
            <a:r>
              <a:rPr lang="en-US" sz="1500" b="1" dirty="0">
                <a:solidFill>
                  <a:srgbClr val="F0974A"/>
                </a:solidFill>
              </a:rPr>
              <a:t>Urgent: </a:t>
            </a:r>
            <a:pPr indent="0" marL="0">
              <a:buNone/>
            </a:pPr>
            <a:r>
              <a:rPr lang="en-US" sz="1500" dirty="0">
                <a:solidFill>
                  <a:srgbClr val="E4E8EE"/>
                </a:solidFill>
              </a:rPr>
              <a:t>file a provisional patent — the repository is now public.</a:t>
            </a:r>
            <a:endParaRPr lang="en-US" sz="1500" dirty="0"/>
          </a:p>
        </p:txBody>
      </p:sp>
      <p:sp>
        <p:nvSpPr>
          <p:cNvPr id="25" name="Slide Number Placeholder 0"/>
          <p:cNvSpPr>
            <a:spLocks noGrp="1"/>
          </p:cNvSpPr>
          <p:nvPr>
            <p:ph type="sldNum" sz="quarter" idx="4294967295"/>
          </p:nvPr>
        </p:nvSpPr>
        <p:spPr>
          <a:xfrm>
            <a:off x="11155680" y="6419088"/>
            <a:ext cx="48463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686"/>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products" descr="SwarmRide Passenger and SwarmRide Freight concept">    </p:cNvPr>
          <p:cNvPicPr>
            <a:picLocks noChangeAspect="1"/>
          </p:cNvPicPr>
          <p:nvPr/>
        </p:nvPicPr>
        <p:blipFill>
          <a:blip r:embed="rId1">
            <a:alphaModFix amt="18000"/>
          </a:blip>
          <a:srcRect l="0" r="0" t="0" b="0"/>
          <a:stretch/>
        </p:blipFill>
        <p:spPr>
          <a:xfrm>
            <a:off x="7132320" y="0"/>
            <a:ext cx="5059375" cy="6858000"/>
          </a:xfrm>
          <a:prstGeom prst="rect">
            <a:avLst/>
          </a:prstGeom>
        </p:spPr>
      </p:pic>
      <p:sp>
        <p:nvSpPr>
          <p:cNvPr id="3" name="Text 0"/>
          <p:cNvSpPr txBox="1"/>
          <p:nvPr/>
        </p:nvSpPr>
        <p:spPr>
          <a:xfrm>
            <a:off x="548640" y="685800"/>
            <a:ext cx="6400800" cy="365760"/>
          </a:xfrm>
          <a:prstGeom prst="rect">
            <a:avLst/>
          </a:prstGeom>
          <a:noFill/>
          <a:ln/>
        </p:spPr>
        <p:txBody>
          <a:bodyPr wrap="square" lIns="0" tIns="0" rIns="0" bIns="0" rtlCol="0" anchor="t"/>
          <a:lstStyle/>
          <a:p>
            <a:pPr indent="0" marL="0">
              <a:buNone/>
            </a:pPr>
            <a:r>
              <a:rPr lang="en-US" sz="1400" b="1" spc="300" kern="0" dirty="0">
                <a:solidFill>
                  <a:srgbClr val="F0974A"/>
                </a:solidFill>
              </a:rPr>
              <a:t>THANK YOU · QUESTIONS</a:t>
            </a:r>
            <a:endParaRPr lang="en-US" sz="1400" dirty="0"/>
          </a:p>
        </p:txBody>
      </p:sp>
      <p:sp>
        <p:nvSpPr>
          <p:cNvPr id="4" name="Text 1"/>
          <p:cNvSpPr txBox="1"/>
          <p:nvPr/>
        </p:nvSpPr>
        <p:spPr>
          <a:xfrm>
            <a:off x="548640" y="1188720"/>
            <a:ext cx="6400800" cy="1645920"/>
          </a:xfrm>
          <a:prstGeom prst="rect">
            <a:avLst/>
          </a:prstGeom>
          <a:noFill/>
          <a:ln/>
        </p:spPr>
        <p:txBody>
          <a:bodyPr wrap="square" lIns="0" tIns="0" rIns="0" bIns="0" rtlCol="0" anchor="t"/>
          <a:lstStyle/>
          <a:p>
            <a:pPr indent="0" marL="0">
              <a:buNone/>
            </a:pPr>
            <a:r>
              <a:rPr lang="en-US" sz="5400" b="1" dirty="0">
                <a:solidFill>
                  <a:srgbClr val="F7F5F0"/>
                </a:solidFill>
              </a:rPr>
              <a:t>Every bogie powers itself.</a:t>
            </a:r>
            <a:endParaRPr lang="en-US" sz="5400" dirty="0"/>
          </a:p>
        </p:txBody>
      </p:sp>
      <p:sp>
        <p:nvSpPr>
          <p:cNvPr id="5" name="Text 2"/>
          <p:cNvSpPr txBox="1"/>
          <p:nvPr/>
        </p:nvSpPr>
        <p:spPr>
          <a:xfrm>
            <a:off x="548640" y="2926080"/>
            <a:ext cx="6309360" cy="1097280"/>
          </a:xfrm>
          <a:prstGeom prst="rect">
            <a:avLst/>
          </a:prstGeom>
          <a:noFill/>
          <a:ln/>
        </p:spPr>
        <p:txBody>
          <a:bodyPr wrap="square" lIns="0" tIns="0" rIns="0" bIns="0" rtlCol="0" anchor="t"/>
          <a:lstStyle/>
          <a:p>
            <a:pPr indent="0" marL="0">
              <a:buNone/>
            </a:pPr>
            <a:r>
              <a:rPr lang="en-US" sz="1800" dirty="0">
                <a:solidFill>
                  <a:srgbClr val="C9D3E2"/>
                </a:solidFill>
              </a:rPr>
              <a:t>Tunes its own ride, watches its own safety — while the locomotive warns every coach of the bump ahead.</a:t>
            </a:r>
            <a:endParaRPr lang="en-US" sz="1800" dirty="0"/>
          </a:p>
        </p:txBody>
      </p:sp>
      <p:sp>
        <p:nvSpPr>
          <p:cNvPr id="6" name="Text 3"/>
          <p:cNvSpPr txBox="1"/>
          <p:nvPr/>
        </p:nvSpPr>
        <p:spPr>
          <a:xfrm>
            <a:off x="548640" y="4754880"/>
            <a:ext cx="6400800" cy="411480"/>
          </a:xfrm>
          <a:prstGeom prst="rect">
            <a:avLst/>
          </a:prstGeom>
          <a:noFill/>
          <a:ln/>
        </p:spPr>
        <p:txBody>
          <a:bodyPr wrap="square" lIns="0" tIns="0" rIns="0" bIns="0" rtlCol="0" anchor="t"/>
          <a:lstStyle/>
          <a:p>
            <a:pPr indent="0" marL="0">
              <a:buNone/>
            </a:pPr>
            <a:r>
              <a:rPr lang="en-US" sz="2000" b="1" dirty="0">
                <a:solidFill>
                  <a:srgbClr val="F7F5F0"/>
                </a:solidFill>
              </a:rPr>
              <a:t>Jaganath · Niranjan · Kowshik · Sangeeth</a:t>
            </a:r>
            <a:endParaRPr lang="en-US" sz="2000" dirty="0"/>
          </a:p>
        </p:txBody>
      </p:sp>
      <p:sp>
        <p:nvSpPr>
          <p:cNvPr id="7" name="Text 4"/>
          <p:cNvSpPr txBox="1"/>
          <p:nvPr/>
        </p:nvSpPr>
        <p:spPr>
          <a:xfrm>
            <a:off x="548640" y="5303520"/>
            <a:ext cx="6400800" cy="320040"/>
          </a:xfrm>
          <a:prstGeom prst="rect">
            <a:avLst/>
          </a:prstGeom>
          <a:noFill/>
          <a:ln/>
        </p:spPr>
        <p:txBody>
          <a:bodyPr wrap="square" lIns="0" tIns="0" rIns="0" bIns="0" rtlCol="0" anchor="t"/>
          <a:lstStyle/>
          <a:p>
            <a:pPr indent="0" marL="0">
              <a:buNone/>
            </a:pPr>
            <a:r>
              <a:rPr lang="en-US" sz="1400" dirty="0">
                <a:solidFill>
                  <a:srgbClr val="C9D3E2"/>
                </a:solidFill>
              </a:rPr>
              <a:t>Website: sangeeth0301.github.io/SwarmRide-Bharat</a:t>
            </a:r>
            <a:endParaRPr lang="en-US" sz="1400" dirty="0"/>
          </a:p>
        </p:txBody>
      </p:sp>
      <p:sp>
        <p:nvSpPr>
          <p:cNvPr id="8" name="Text 5"/>
          <p:cNvSpPr txBox="1"/>
          <p:nvPr/>
        </p:nvSpPr>
        <p:spPr>
          <a:xfrm>
            <a:off x="548640" y="5669280"/>
            <a:ext cx="6400800" cy="320040"/>
          </a:xfrm>
          <a:prstGeom prst="rect">
            <a:avLst/>
          </a:prstGeom>
          <a:noFill/>
          <a:ln/>
        </p:spPr>
        <p:txBody>
          <a:bodyPr wrap="square" lIns="0" tIns="0" rIns="0" bIns="0" rtlCol="0" anchor="t"/>
          <a:lstStyle/>
          <a:p>
            <a:pPr indent="0" marL="0">
              <a:buNone/>
            </a:pPr>
            <a:r>
              <a:rPr lang="en-US" sz="1400" dirty="0">
                <a:solidFill>
                  <a:srgbClr val="C9D3E2"/>
                </a:solidFill>
              </a:rPr>
              <a:t>Code and data: github.com/Sangeeth0301/SwarmRide-Bharat</a:t>
            </a:r>
            <a:endParaRPr lang="en-US" sz="1400" dirty="0"/>
          </a:p>
        </p:txBody>
      </p:sp>
    </p:spTree>
  </p:cSld>
  <p:clrMapOvr>
    <a:masterClrMapping/>
  </p:clrMapOvr>
</p:sld>
</file>

<file path=ppt/theme/theme1.xml><?xml version="1.0" encoding="utf-8"?>
<a:theme xmlns:a="http://schemas.openxmlformats.org/drawingml/2006/main" name="SwarmRide">
  <a:themeElements>
    <a:clrScheme name="SwarmRide">
      <a:dk1>
        <a:srgbClr val="13233A"/>
      </a:dk1>
      <a:lt1>
        <a:srgbClr val="FFFFFF"/>
      </a:lt1>
      <a:dk2>
        <a:srgbClr val="1F2A37"/>
      </a:dk2>
      <a:lt2>
        <a:srgbClr val="F7F5F0"/>
      </a:lt2>
      <a:accent1>
        <a:srgbClr val="E07A1F"/>
      </a:accent1>
      <a:accent2>
        <a:srgbClr val="2A9D8F"/>
      </a:accent2>
      <a:accent3>
        <a:srgbClr val="1F6F66"/>
      </a:accent3>
      <a:accent4>
        <a:srgbClr val="A8520F"/>
      </a:accent4>
      <a:accent5>
        <a:srgbClr val="5E6878"/>
      </a:accent5>
      <a:accent6>
        <a:srgbClr val="1E3557"/>
      </a:accent6>
      <a:hlink>
        <a:srgbClr val="1F6F66"/>
      </a:hlink>
      <a:folHlink>
        <a:srgbClr val="A8520F"/>
      </a:folHlink>
    </a:clrScheme>
    <a:fontScheme name="SwarmRid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SwarmRide Bharat — Control Systems Project Review</dc:title>
  <dc:subject>PptxGenJS Presentation</dc:subject>
  <dc:creator>Jaganath, Niranjan, Kowshik, Sangeeth</dc:creator>
  <cp:lastModifiedBy>Jaganath, Niranjan, Kowshik, Sangeeth</cp:lastModifiedBy>
  <cp:revision>1</cp:revision>
  <dcterms:created xsi:type="dcterms:W3CDTF">2026-10-21T00:26:28Z</dcterms:created>
  <dcterms:modified xsi:type="dcterms:W3CDTF">2026-10-21T00:26:28Z</dcterms:modified>
</cp:coreProperties>
</file>