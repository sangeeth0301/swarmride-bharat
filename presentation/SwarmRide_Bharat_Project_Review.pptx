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8b911ad8-3229-ecb7-6691-3b0238c73167}">
          <p14:sldIdLst>
            <p14:sldId id="256"/>
            <p14:sldId id="257"/>
            <p14:sldId id="258"/>
          </p14:sldIdLst>
        </p14:section>
        <p14:section name="The solution" id="{fb1f8523-4af9-b6e6-6f05-d0eb8188c3c7}">
          <p14:sldIdLst>
            <p14:sldId id="259"/>
            <p14:sldId id="260"/>
          </p14:sldIdLst>
        </p14:section>
        <p14:section name="Literature review and base paper" id="{0ba5cf73-c696-1f3a-a4fa-f062732aa0ea}">
          <p14:sldIdLst>
            <p14:sldId id="261"/>
            <p14:sldId id="262"/>
          </p14:sldIdLst>
        </p14:section>
        <p14:section name="Architecture and control system design" id="{73c95095-cedb-5bec-6acb-cd4e69d07a0f}">
          <p14:sldIdLst>
            <p14:sldId id="263"/>
            <p14:sldId id="264"/>
            <p14:sldId id="265"/>
            <p14:sldId id="266"/>
          </p14:sldIdLst>
        </p14:section>
        <p14:section name="Results" id="{fbe8d16e-7380-1f27-8418-ed6af62c4cde}">
          <p14:sldIdLst>
            <p14:sldId id="267"/>
            <p14:sldId id="268"/>
            <p14:sldId id="269"/>
            <p14:sldId id="270"/>
            <p14:sldId id="271"/>
            <p14:sldId id="272"/>
          </p14:sldIdLst>
        </p14:section>
        <p14:section name="Base paper vs SwarmRide" id="{f667b9d3-e05d-58a4-5153-850209fc2168}">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controller adds one idea, so we can show what each idea is worth on the same coach and track. C1 is a fixed harvester, the same kind of approach as the base paper. C2 is an optimal LQR controller designed at five loads and blended by the measured load, so the ride stays the same from empty to crowded. C3 adds the Train Brain preview. C4 adds the push at known bad spots. Inside the damper, a PI current loop with back-EMF feed-forward makes the coil current follow the command. All controllers are stable at every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104519" y="1490472"/>
            <a:ext cx="5377618"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1097280"/>
          </a:xfrm>
          <a:prstGeom prst="rect">
            <a:avLst/>
          </a:prstGeom>
          <a:noFill/>
          <a:ln/>
        </p:spPr>
        <p:txBody>
          <a:bodyPr wrap="square" lIns="0" tIns="0" rIns="0" bIns="0" rtlCol="0" anchor="t"/>
          <a:lstStyle/>
          <a:p>
            <a:pPr indent="0" marL="0">
              <a:buNone/>
            </a:pPr>
            <a:r>
              <a:rPr lang="en-US" sz="1600" dirty="0">
                <a:solidFill>
                  <a:srgbClr val="3D4A5C"/>
                </a:solidFill>
              </a:rPr>
              <a:t>The loco’s front bogie feels every bump first. Every coach behind reaches the same spot a little later, so it is warned in advance.</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2926080"/>
          <a:ext cx="4510735" cy="914400"/>
        </p:xfrm>
        <a:graphic>
          <a:graphicData uri="http://schemas.openxmlformats.org/drawingml/2006/table">
            <a:tbl>
              <a:tblPr/>
              <a:tblGrid>
                <a:gridCol w="1894509"/>
                <a:gridCol w="2616226"/>
              </a:tblGrid>
              <a:tr h="438912">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 before the bump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S frame"/>
          <p:cNvSpPr/>
          <p:nvPr/>
        </p:nvSpPr>
        <p:spPr>
          <a:xfrm>
            <a:off x="548640" y="1371600"/>
            <a:ext cx="7589520" cy="4846320"/>
          </a:xfrm>
          <a:prstGeom prst="roundRect">
            <a:avLst>
              <a:gd name="adj" fmla="val 1509"/>
            </a:avLst>
          </a:prstGeom>
          <a:solidFill>
            <a:srgbClr val="FFFFFF"/>
          </a:solidFill>
          <a:ln w="9525">
            <a:solidFill>
              <a:srgbClr val="E3E0D6"/>
            </a:solidFill>
            <a:prstDash val="solid"/>
          </a:ln>
        </p:spPr>
      </p:sp>
      <p:pic>
        <p:nvPicPr>
          <p:cNvPr id="5" name="archS" descr="SwarmRide end-to-end system architecture: Train Brain, vehicle controller, bogie unit">    </p:cNvPr>
          <p:cNvPicPr>
            <a:picLocks noChangeAspect="1"/>
          </p:cNvPicPr>
          <p:nvPr/>
        </p:nvPicPr>
        <p:blipFill>
          <a:blip r:embed="rId1"/>
          <a:stretch>
            <a:fillRect/>
          </a:stretch>
        </p:blipFill>
        <p:spPr>
          <a:xfrm>
            <a:off x="655047" y="1444752"/>
            <a:ext cx="7376707" cy="4700016"/>
          </a:xfrm>
          <a:prstGeom prst="rect">
            <a:avLst/>
          </a:prstGeom>
        </p:spPr>
      </p:pic>
      <p:sp>
        <p:nvSpPr>
          <p:cNvPr id="6" name="Shape 3"/>
          <p:cNvSpPr/>
          <p:nvPr/>
        </p:nvSpPr>
        <p:spPr>
          <a:xfrm>
            <a:off x="8366760" y="1371600"/>
            <a:ext cx="3276295" cy="1078992"/>
          </a:xfrm>
          <a:prstGeom prst="roundRect">
            <a:avLst>
              <a:gd name="adj" fmla="val 8475"/>
            </a:avLst>
          </a:prstGeom>
          <a:solidFill>
            <a:srgbClr val="FDFCF9"/>
          </a:solidFill>
          <a:ln w="9525">
            <a:solidFill>
              <a:srgbClr val="E3E0D6"/>
            </a:solidFill>
            <a:prstDash val="solid"/>
          </a:ln>
        </p:spPr>
      </p:sp>
      <p:sp>
        <p:nvSpPr>
          <p:cNvPr id="7" name="Shape 4"/>
          <p:cNvSpPr/>
          <p:nvPr/>
        </p:nvSpPr>
        <p:spPr>
          <a:xfrm>
            <a:off x="8366760" y="1481328"/>
            <a:ext cx="54864" cy="859536"/>
          </a:xfrm>
          <a:prstGeom prst="rect">
            <a:avLst/>
          </a:prstGeom>
          <a:solidFill>
            <a:srgbClr val="13233A"/>
          </a:solidFill>
          <a:ln/>
        </p:spPr>
      </p:sp>
      <p:sp>
        <p:nvSpPr>
          <p:cNvPr id="8" name="Text 5"/>
          <p:cNvSpPr txBox="1"/>
          <p:nvPr/>
        </p:nvSpPr>
        <p:spPr>
          <a:xfrm>
            <a:off x="8549640" y="1463040"/>
            <a:ext cx="3001975" cy="329184"/>
          </a:xfrm>
          <a:prstGeom prst="rect">
            <a:avLst/>
          </a:prstGeom>
          <a:noFill/>
          <a:ln/>
        </p:spPr>
        <p:txBody>
          <a:bodyPr wrap="square" lIns="0" tIns="0" rIns="0" bIns="0" rtlCol="0" anchor="t"/>
          <a:lstStyle/>
          <a:p>
            <a:pPr indent="0" marL="0">
              <a:buNone/>
            </a:pPr>
            <a:r>
              <a:rPr lang="en-US" sz="1300" b="1" dirty="0">
                <a:solidFill>
                  <a:srgbClr val="13233A"/>
                </a:solidFill>
              </a:rPr>
              <a:t>Train Brain · loco</a:t>
            </a:r>
            <a:endParaRPr lang="en-US" sz="1300" dirty="0"/>
          </a:p>
        </p:txBody>
      </p:sp>
      <p:sp>
        <p:nvSpPr>
          <p:cNvPr id="9" name="Text 6"/>
          <p:cNvSpPr txBox="1"/>
          <p:nvPr/>
        </p:nvSpPr>
        <p:spPr>
          <a:xfrm>
            <a:off x="8549640" y="1792224"/>
            <a:ext cx="3001975" cy="585216"/>
          </a:xfrm>
          <a:prstGeom prst="rect">
            <a:avLst/>
          </a:prstGeom>
          <a:noFill/>
          <a:ln/>
        </p:spPr>
        <p:txBody>
          <a:bodyPr wrap="square" lIns="0" tIns="0" rIns="0" bIns="0" rtlCol="0" anchor="t"/>
          <a:lstStyle/>
          <a:p>
            <a:pPr indent="0" marL="0">
              <a:buNone/>
            </a:pPr>
            <a:r>
              <a:rPr lang="en-US" sz="1100" dirty="0">
                <a:solidFill>
                  <a:srgbClr val="3D4A5C"/>
                </a:solidFill>
              </a:rPr>
              <a:t>Feels each bump first, keeps the track map, warns every coach</a:t>
            </a:r>
            <a:endParaRPr lang="en-US" sz="1100" dirty="0"/>
          </a:p>
        </p:txBody>
      </p:sp>
      <p:sp>
        <p:nvSpPr>
          <p:cNvPr id="10" name="Shape 7"/>
          <p:cNvSpPr/>
          <p:nvPr/>
        </p:nvSpPr>
        <p:spPr>
          <a:xfrm>
            <a:off x="8366760" y="2560320"/>
            <a:ext cx="3276295" cy="1078992"/>
          </a:xfrm>
          <a:prstGeom prst="roundRect">
            <a:avLst>
              <a:gd name="adj" fmla="val 8475"/>
            </a:avLst>
          </a:prstGeom>
          <a:solidFill>
            <a:srgbClr val="FDFCF9"/>
          </a:solidFill>
          <a:ln w="9525">
            <a:solidFill>
              <a:srgbClr val="E3E0D6"/>
            </a:solidFill>
            <a:prstDash val="solid"/>
          </a:ln>
        </p:spPr>
      </p:sp>
      <p:sp>
        <p:nvSpPr>
          <p:cNvPr id="11" name="Shape 8"/>
          <p:cNvSpPr/>
          <p:nvPr/>
        </p:nvSpPr>
        <p:spPr>
          <a:xfrm>
            <a:off x="8366760" y="2670048"/>
            <a:ext cx="54864" cy="859536"/>
          </a:xfrm>
          <a:prstGeom prst="rect">
            <a:avLst/>
          </a:prstGeom>
          <a:solidFill>
            <a:srgbClr val="1F6F66"/>
          </a:solidFill>
          <a:ln/>
        </p:spPr>
      </p:sp>
      <p:sp>
        <p:nvSpPr>
          <p:cNvPr id="12" name="Text 9"/>
          <p:cNvSpPr txBox="1"/>
          <p:nvPr/>
        </p:nvSpPr>
        <p:spPr>
          <a:xfrm>
            <a:off x="8549640" y="2651760"/>
            <a:ext cx="3001975" cy="329184"/>
          </a:xfrm>
          <a:prstGeom prst="rect">
            <a:avLst/>
          </a:prstGeom>
          <a:noFill/>
          <a:ln/>
        </p:spPr>
        <p:txBody>
          <a:bodyPr wrap="square" lIns="0" tIns="0" rIns="0" bIns="0" rtlCol="0" anchor="t"/>
          <a:lstStyle/>
          <a:p>
            <a:pPr indent="0" marL="0">
              <a:buNone/>
            </a:pPr>
            <a:r>
              <a:rPr lang="en-US" sz="1300" b="1" dirty="0">
                <a:solidFill>
                  <a:srgbClr val="1F6F66"/>
                </a:solidFill>
              </a:rPr>
              <a:t>Vehicle controller</a:t>
            </a:r>
            <a:endParaRPr lang="en-US" sz="1300" dirty="0"/>
          </a:p>
        </p:txBody>
      </p:sp>
      <p:sp>
        <p:nvSpPr>
          <p:cNvPr id="13" name="Text 10"/>
          <p:cNvSpPr txBox="1"/>
          <p:nvPr/>
        </p:nvSpPr>
        <p:spPr>
          <a:xfrm>
            <a:off x="8549640" y="2980944"/>
            <a:ext cx="3001975" cy="585216"/>
          </a:xfrm>
          <a:prstGeom prst="rect">
            <a:avLst/>
          </a:prstGeom>
          <a:noFill/>
          <a:ln/>
        </p:spPr>
        <p:txBody>
          <a:bodyPr wrap="square" lIns="0" tIns="0" rIns="0" bIns="0" rtlCol="0" anchor="t"/>
          <a:lstStyle/>
          <a:p>
            <a:pPr indent="0" marL="0">
              <a:buNone/>
            </a:pPr>
            <a:r>
              <a:rPr lang="en-US" sz="1100" dirty="0">
                <a:solidFill>
                  <a:srgbClr val="3D4A5C"/>
                </a:solidFill>
              </a:rPr>
              <a:t>One per coach, 100 Hz: load estimate, LPV-LQR + preview, health</a:t>
            </a:r>
            <a:endParaRPr lang="en-US" sz="1100" dirty="0"/>
          </a:p>
        </p:txBody>
      </p:sp>
      <p:sp>
        <p:nvSpPr>
          <p:cNvPr id="14" name="Shape 11"/>
          <p:cNvSpPr/>
          <p:nvPr/>
        </p:nvSpPr>
        <p:spPr>
          <a:xfrm>
            <a:off x="8366760" y="3749040"/>
            <a:ext cx="3276295" cy="1078992"/>
          </a:xfrm>
          <a:prstGeom prst="roundRect">
            <a:avLst>
              <a:gd name="adj" fmla="val 8475"/>
            </a:avLst>
          </a:prstGeom>
          <a:solidFill>
            <a:srgbClr val="FDFCF9"/>
          </a:solidFill>
          <a:ln w="9525">
            <a:solidFill>
              <a:srgbClr val="E3E0D6"/>
            </a:solidFill>
            <a:prstDash val="solid"/>
          </a:ln>
        </p:spPr>
      </p:sp>
      <p:sp>
        <p:nvSpPr>
          <p:cNvPr id="15" name="Shape 12"/>
          <p:cNvSpPr/>
          <p:nvPr/>
        </p:nvSpPr>
        <p:spPr>
          <a:xfrm>
            <a:off x="8366760" y="3858768"/>
            <a:ext cx="54864" cy="859536"/>
          </a:xfrm>
          <a:prstGeom prst="rect">
            <a:avLst/>
          </a:prstGeom>
          <a:solidFill>
            <a:srgbClr val="A8520F"/>
          </a:solidFill>
          <a:ln/>
        </p:spPr>
      </p:sp>
      <p:sp>
        <p:nvSpPr>
          <p:cNvPr id="16" name="Text 13"/>
          <p:cNvSpPr txBox="1"/>
          <p:nvPr/>
        </p:nvSpPr>
        <p:spPr>
          <a:xfrm>
            <a:off x="8549640" y="3840480"/>
            <a:ext cx="3001975" cy="329184"/>
          </a:xfrm>
          <a:prstGeom prst="rect">
            <a:avLst/>
          </a:prstGeom>
          <a:noFill/>
          <a:ln/>
        </p:spPr>
        <p:txBody>
          <a:bodyPr wrap="square" lIns="0" tIns="0" rIns="0" bIns="0" rtlCol="0" anchor="t"/>
          <a:lstStyle/>
          <a:p>
            <a:pPr indent="0" marL="0">
              <a:buNone/>
            </a:pPr>
            <a:r>
              <a:rPr lang="en-US" sz="1300" b="1" dirty="0">
                <a:solidFill>
                  <a:srgbClr val="A8520F"/>
                </a:solidFill>
              </a:rPr>
              <a:t>Bogie unit</a:t>
            </a:r>
            <a:endParaRPr lang="en-US" sz="1300" dirty="0"/>
          </a:p>
        </p:txBody>
      </p:sp>
      <p:sp>
        <p:nvSpPr>
          <p:cNvPr id="17" name="Text 14"/>
          <p:cNvSpPr txBox="1"/>
          <p:nvPr/>
        </p:nvSpPr>
        <p:spPr>
          <a:xfrm>
            <a:off x="8549640" y="4169664"/>
            <a:ext cx="3001975" cy="585216"/>
          </a:xfrm>
          <a:prstGeom prst="rect">
            <a:avLst/>
          </a:prstGeom>
          <a:noFill/>
          <a:ln/>
        </p:spPr>
        <p:txBody>
          <a:bodyPr wrap="square" lIns="0" tIns="0" rIns="0" bIns="0" rtlCol="0" anchor="t"/>
          <a:lstStyle/>
          <a:p>
            <a:pPr indent="0" marL="0">
              <a:buNone/>
            </a:pPr>
            <a:r>
              <a:rPr lang="en-US" sz="1100" dirty="0">
                <a:solidFill>
                  <a:srgbClr val="3D4A5C"/>
                </a:solidFill>
              </a:rPr>
              <a:t>Self-powered: smart dampers, 10 kHz drive, power bank, sensors, fail-safe</a:t>
            </a:r>
            <a:endParaRPr lang="en-US" sz="1100" dirty="0"/>
          </a:p>
        </p:txBody>
      </p:sp>
      <p:sp>
        <p:nvSpPr>
          <p:cNvPr id="18" name="Shape 15"/>
          <p:cNvSpPr/>
          <p:nvPr/>
        </p:nvSpPr>
        <p:spPr>
          <a:xfrm>
            <a:off x="8366760" y="4983480"/>
            <a:ext cx="3276295" cy="1234440"/>
          </a:xfrm>
          <a:prstGeom prst="roundRect">
            <a:avLst>
              <a:gd name="adj" fmla="val 7407"/>
            </a:avLst>
          </a:prstGeom>
          <a:solidFill>
            <a:srgbClr val="13233A"/>
          </a:solidFill>
          <a:ln/>
        </p:spPr>
      </p:sp>
      <p:sp>
        <p:nvSpPr>
          <p:cNvPr id="19" name="Text 16"/>
          <p:cNvSpPr txBox="1"/>
          <p:nvPr/>
        </p:nvSpPr>
        <p:spPr>
          <a:xfrm>
            <a:off x="8549640" y="5074920"/>
            <a:ext cx="2910535" cy="1051560"/>
          </a:xfrm>
          <a:prstGeom prst="rect">
            <a:avLst/>
          </a:prstGeom>
          <a:noFill/>
          <a:ln/>
        </p:spPr>
        <p:txBody>
          <a:bodyPr wrap="square" lIns="0" tIns="0" rIns="0" bIns="0" rtlCol="0" anchor="ctr"/>
          <a:lstStyle/>
          <a:p>
            <a:pPr indent="0" marL="0">
              <a:buNone/>
            </a:pPr>
            <a:r>
              <a:rPr lang="en-US" sz="1250" b="1" dirty="0">
                <a:solidFill>
                  <a:srgbClr val="E4E8EE"/>
                </a:solidFill>
              </a:rPr>
              <a:t>Energy stays on the bogie; only data travels along the train.</a:t>
            </a:r>
            <a:endParaRPr lang="en-US" sz="125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Four controllers, each adds one idea</a:t>
            </a:r>
            <a:endParaRPr lang="en-US" sz="3000" dirty="0"/>
          </a:p>
        </p:txBody>
      </p:sp>
      <p:sp>
        <p:nvSpPr>
          <p:cNvPr id="4" name="Shape 2"/>
          <p:cNvSpPr/>
          <p:nvPr/>
        </p:nvSpPr>
        <p:spPr>
          <a:xfrm>
            <a:off x="548640" y="1645920"/>
            <a:ext cx="2636444" cy="3017520"/>
          </a:xfrm>
          <a:prstGeom prst="roundRect">
            <a:avLst>
              <a:gd name="adj" fmla="val 3468"/>
            </a:avLst>
          </a:prstGeom>
          <a:solidFill>
            <a:srgbClr val="FDFCF9"/>
          </a:solidFill>
          <a:ln w="9525">
            <a:solidFill>
              <a:srgbClr val="E3E0D6"/>
            </a:solidFill>
            <a:prstDash val="solid"/>
          </a:ln>
        </p:spPr>
      </p:sp>
      <p:sp>
        <p:nvSpPr>
          <p:cNvPr id="5" name="Shape 3"/>
          <p:cNvSpPr/>
          <p:nvPr/>
        </p:nvSpPr>
        <p:spPr>
          <a:xfrm>
            <a:off x="548640" y="1645920"/>
            <a:ext cx="2636444" cy="73152"/>
          </a:xfrm>
          <a:prstGeom prst="rect">
            <a:avLst/>
          </a:prstGeom>
          <a:solidFill>
            <a:srgbClr val="6B7686"/>
          </a:solidFill>
          <a:ln/>
        </p:spPr>
      </p:sp>
      <p:sp>
        <p:nvSpPr>
          <p:cNvPr id="6" name="Text 4"/>
          <p:cNvSpPr txBox="1"/>
          <p:nvPr/>
        </p:nvSpPr>
        <p:spPr>
          <a:xfrm>
            <a:off x="777240" y="1920240"/>
            <a:ext cx="2179244" cy="548640"/>
          </a:xfrm>
          <a:prstGeom prst="rect">
            <a:avLst/>
          </a:prstGeom>
          <a:noFill/>
          <a:ln/>
        </p:spPr>
        <p:txBody>
          <a:bodyPr wrap="square" lIns="0" tIns="0" rIns="0" bIns="0" rtlCol="0" anchor="t"/>
          <a:lstStyle/>
          <a:p>
            <a:pPr indent="0" marL="0">
              <a:buNone/>
            </a:pPr>
            <a:r>
              <a:rPr lang="en-US" sz="3000" b="1" dirty="0">
                <a:solidFill>
                  <a:srgbClr val="6B7686"/>
                </a:solidFill>
              </a:rPr>
              <a:t>C1</a:t>
            </a:r>
            <a:endParaRPr lang="en-US" sz="3000" dirty="0"/>
          </a:p>
        </p:txBody>
      </p:sp>
      <p:sp>
        <p:nvSpPr>
          <p:cNvPr id="7" name="Text 5"/>
          <p:cNvSpPr txBox="1"/>
          <p:nvPr/>
        </p:nvSpPr>
        <p:spPr>
          <a:xfrm>
            <a:off x="777240"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Fixed harvester</a:t>
            </a:r>
            <a:endParaRPr lang="en-US" sz="1800" dirty="0"/>
          </a:p>
        </p:txBody>
      </p:sp>
      <p:sp>
        <p:nvSpPr>
          <p:cNvPr id="8" name="Text 6"/>
          <p:cNvSpPr txBox="1"/>
          <p:nvPr/>
        </p:nvSpPr>
        <p:spPr>
          <a:xfrm>
            <a:off x="777240"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One fixed setting, like the base paper. Harvests, but cannot adapt.</a:t>
            </a:r>
            <a:endParaRPr lang="en-US" sz="1400" dirty="0"/>
          </a:p>
        </p:txBody>
      </p:sp>
      <p:sp>
        <p:nvSpPr>
          <p:cNvPr id="9" name="Shape 7"/>
          <p:cNvSpPr/>
          <p:nvPr/>
        </p:nvSpPr>
        <p:spPr>
          <a:xfrm>
            <a:off x="3367964" y="1645920"/>
            <a:ext cx="2636444" cy="3017520"/>
          </a:xfrm>
          <a:prstGeom prst="roundRect">
            <a:avLst>
              <a:gd name="adj" fmla="val 3468"/>
            </a:avLst>
          </a:prstGeom>
          <a:solidFill>
            <a:srgbClr val="FDFCF9"/>
          </a:solidFill>
          <a:ln w="9525">
            <a:solidFill>
              <a:srgbClr val="E3E0D6"/>
            </a:solidFill>
            <a:prstDash val="solid"/>
          </a:ln>
        </p:spPr>
      </p:sp>
      <p:sp>
        <p:nvSpPr>
          <p:cNvPr id="10" name="Shape 8"/>
          <p:cNvSpPr/>
          <p:nvPr/>
        </p:nvSpPr>
        <p:spPr>
          <a:xfrm>
            <a:off x="3367964" y="1645920"/>
            <a:ext cx="2636444" cy="73152"/>
          </a:xfrm>
          <a:prstGeom prst="rect">
            <a:avLst/>
          </a:prstGeom>
          <a:solidFill>
            <a:srgbClr val="1F6F66"/>
          </a:solidFill>
          <a:ln/>
        </p:spPr>
      </p:sp>
      <p:sp>
        <p:nvSpPr>
          <p:cNvPr id="11" name="Text 9"/>
          <p:cNvSpPr txBox="1"/>
          <p:nvPr/>
        </p:nvSpPr>
        <p:spPr>
          <a:xfrm>
            <a:off x="3596564" y="1920240"/>
            <a:ext cx="2179244" cy="548640"/>
          </a:xfrm>
          <a:prstGeom prst="rect">
            <a:avLst/>
          </a:prstGeom>
          <a:noFill/>
          <a:ln/>
        </p:spPr>
        <p:txBody>
          <a:bodyPr wrap="square" lIns="0" tIns="0" rIns="0" bIns="0" rtlCol="0" anchor="t"/>
          <a:lstStyle/>
          <a:p>
            <a:pPr indent="0" marL="0">
              <a:buNone/>
            </a:pPr>
            <a:r>
              <a:rPr lang="en-US" sz="3000" b="1" dirty="0">
                <a:solidFill>
                  <a:srgbClr val="1F6F66"/>
                </a:solidFill>
              </a:rPr>
              <a:t>C2</a:t>
            </a:r>
            <a:endParaRPr lang="en-US" sz="3000" dirty="0"/>
          </a:p>
        </p:txBody>
      </p:sp>
      <p:sp>
        <p:nvSpPr>
          <p:cNvPr id="12" name="Text 10"/>
          <p:cNvSpPr txBox="1"/>
          <p:nvPr/>
        </p:nvSpPr>
        <p:spPr>
          <a:xfrm>
            <a:off x="3596564"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Load-adaptive</a:t>
            </a:r>
            <a:endParaRPr lang="en-US" sz="1800" dirty="0"/>
          </a:p>
        </p:txBody>
      </p:sp>
      <p:sp>
        <p:nvSpPr>
          <p:cNvPr id="13" name="Text 11"/>
          <p:cNvSpPr txBox="1"/>
          <p:nvPr/>
        </p:nvSpPr>
        <p:spPr>
          <a:xfrm>
            <a:off x="3596564"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Optimal (LQR) control, re-tuned to the passenger load. Same ride, empty or crowded.</a:t>
            </a:r>
            <a:endParaRPr lang="en-US" sz="1400" dirty="0"/>
          </a:p>
        </p:txBody>
      </p:sp>
      <p:sp>
        <p:nvSpPr>
          <p:cNvPr id="14" name="Shape 12"/>
          <p:cNvSpPr/>
          <p:nvPr/>
        </p:nvSpPr>
        <p:spPr>
          <a:xfrm>
            <a:off x="6187288" y="1645920"/>
            <a:ext cx="2636444" cy="3017520"/>
          </a:xfrm>
          <a:prstGeom prst="roundRect">
            <a:avLst>
              <a:gd name="adj" fmla="val 3468"/>
            </a:avLst>
          </a:prstGeom>
          <a:solidFill>
            <a:srgbClr val="FDFCF9"/>
          </a:solidFill>
          <a:ln w="9525">
            <a:solidFill>
              <a:srgbClr val="E3E0D6"/>
            </a:solidFill>
            <a:prstDash val="solid"/>
          </a:ln>
        </p:spPr>
      </p:sp>
      <p:sp>
        <p:nvSpPr>
          <p:cNvPr id="15" name="Shape 13"/>
          <p:cNvSpPr/>
          <p:nvPr/>
        </p:nvSpPr>
        <p:spPr>
          <a:xfrm>
            <a:off x="6187288" y="1645920"/>
            <a:ext cx="2636444" cy="73152"/>
          </a:xfrm>
          <a:prstGeom prst="rect">
            <a:avLst/>
          </a:prstGeom>
          <a:solidFill>
            <a:srgbClr val="1F6F66"/>
          </a:solidFill>
          <a:ln/>
        </p:spPr>
      </p:sp>
      <p:sp>
        <p:nvSpPr>
          <p:cNvPr id="16" name="Text 14"/>
          <p:cNvSpPr txBox="1"/>
          <p:nvPr/>
        </p:nvSpPr>
        <p:spPr>
          <a:xfrm>
            <a:off x="6415888" y="1920240"/>
            <a:ext cx="2179244" cy="548640"/>
          </a:xfrm>
          <a:prstGeom prst="rect">
            <a:avLst/>
          </a:prstGeom>
          <a:noFill/>
          <a:ln/>
        </p:spPr>
        <p:txBody>
          <a:bodyPr wrap="square" lIns="0" tIns="0" rIns="0" bIns="0" rtlCol="0" anchor="t"/>
          <a:lstStyle/>
          <a:p>
            <a:pPr indent="0" marL="0">
              <a:buNone/>
            </a:pPr>
            <a:r>
              <a:rPr lang="en-US" sz="3000" b="1" dirty="0">
                <a:solidFill>
                  <a:srgbClr val="1F6F66"/>
                </a:solidFill>
              </a:rPr>
              <a:t>C3</a:t>
            </a:r>
            <a:endParaRPr lang="en-US" sz="3000" dirty="0"/>
          </a:p>
        </p:txBody>
      </p:sp>
      <p:sp>
        <p:nvSpPr>
          <p:cNvPr id="17" name="Text 15"/>
          <p:cNvSpPr txBox="1"/>
          <p:nvPr/>
        </p:nvSpPr>
        <p:spPr>
          <a:xfrm>
            <a:off x="6415888"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 Train Brain preview</a:t>
            </a:r>
            <a:endParaRPr lang="en-US" sz="1800" dirty="0"/>
          </a:p>
        </p:txBody>
      </p:sp>
      <p:sp>
        <p:nvSpPr>
          <p:cNvPr id="18" name="Text 16"/>
          <p:cNvSpPr txBox="1"/>
          <p:nvPr/>
        </p:nvSpPr>
        <p:spPr>
          <a:xfrm>
            <a:off x="6415888"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Uses the loco’s warning to prepare before every bump.</a:t>
            </a:r>
            <a:endParaRPr lang="en-US" sz="1400" dirty="0"/>
          </a:p>
        </p:txBody>
      </p:sp>
      <p:sp>
        <p:nvSpPr>
          <p:cNvPr id="19" name="Shape 17"/>
          <p:cNvSpPr/>
          <p:nvPr/>
        </p:nvSpPr>
        <p:spPr>
          <a:xfrm>
            <a:off x="9006611" y="1645920"/>
            <a:ext cx="2636444" cy="3017520"/>
          </a:xfrm>
          <a:prstGeom prst="roundRect">
            <a:avLst>
              <a:gd name="adj" fmla="val 3468"/>
            </a:avLst>
          </a:prstGeom>
          <a:solidFill>
            <a:srgbClr val="FDFCF9"/>
          </a:solidFill>
          <a:ln w="9525">
            <a:solidFill>
              <a:srgbClr val="E3E0D6"/>
            </a:solidFill>
            <a:prstDash val="solid"/>
          </a:ln>
        </p:spPr>
      </p:sp>
      <p:sp>
        <p:nvSpPr>
          <p:cNvPr id="20" name="Shape 18"/>
          <p:cNvSpPr/>
          <p:nvPr/>
        </p:nvSpPr>
        <p:spPr>
          <a:xfrm>
            <a:off x="9006611" y="1645920"/>
            <a:ext cx="2636444" cy="73152"/>
          </a:xfrm>
          <a:prstGeom prst="rect">
            <a:avLst/>
          </a:prstGeom>
          <a:solidFill>
            <a:srgbClr val="A8520F"/>
          </a:solidFill>
          <a:ln/>
        </p:spPr>
      </p:sp>
      <p:sp>
        <p:nvSpPr>
          <p:cNvPr id="21" name="Text 19"/>
          <p:cNvSpPr txBox="1"/>
          <p:nvPr/>
        </p:nvSpPr>
        <p:spPr>
          <a:xfrm>
            <a:off x="9235211" y="1920240"/>
            <a:ext cx="2179244" cy="548640"/>
          </a:xfrm>
          <a:prstGeom prst="rect">
            <a:avLst/>
          </a:prstGeom>
          <a:noFill/>
          <a:ln/>
        </p:spPr>
        <p:txBody>
          <a:bodyPr wrap="square" lIns="0" tIns="0" rIns="0" bIns="0" rtlCol="0" anchor="t"/>
          <a:lstStyle/>
          <a:p>
            <a:pPr indent="0" marL="0">
              <a:buNone/>
            </a:pPr>
            <a:r>
              <a:rPr lang="en-US" sz="3000" b="1" dirty="0">
                <a:solidFill>
                  <a:srgbClr val="A8520F"/>
                </a:solidFill>
              </a:rPr>
              <a:t>C4</a:t>
            </a:r>
            <a:endParaRPr lang="en-US" sz="3000" dirty="0"/>
          </a:p>
        </p:txBody>
      </p:sp>
      <p:sp>
        <p:nvSpPr>
          <p:cNvPr id="22" name="Text 20"/>
          <p:cNvSpPr txBox="1"/>
          <p:nvPr/>
        </p:nvSpPr>
        <p:spPr>
          <a:xfrm>
            <a:off x="9235211"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 Push at bad spots</a:t>
            </a:r>
            <a:endParaRPr lang="en-US" sz="1800" dirty="0"/>
          </a:p>
        </p:txBody>
      </p:sp>
      <p:sp>
        <p:nvSpPr>
          <p:cNvPr id="23" name="Text 21"/>
          <p:cNvSpPr txBox="1"/>
          <p:nvPr/>
        </p:nvSpPr>
        <p:spPr>
          <a:xfrm>
            <a:off x="9235211"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At known bad spots the damper pushes, using its own stored energy.</a:t>
            </a:r>
            <a:endParaRPr lang="en-US" sz="1400" dirty="0"/>
          </a:p>
        </p:txBody>
      </p:sp>
      <p:sp>
        <p:nvSpPr>
          <p:cNvPr id="24" name="Shape 22"/>
          <p:cNvSpPr/>
          <p:nvPr/>
        </p:nvSpPr>
        <p:spPr>
          <a:xfrm>
            <a:off x="548640" y="4892040"/>
            <a:ext cx="11094415" cy="1097280"/>
          </a:xfrm>
          <a:prstGeom prst="roundRect">
            <a:avLst>
              <a:gd name="adj" fmla="val 8333"/>
            </a:avLst>
          </a:prstGeom>
          <a:solidFill>
            <a:srgbClr val="13233A"/>
          </a:solidFill>
          <a:ln/>
        </p:spPr>
      </p:sp>
      <p:sp>
        <p:nvSpPr>
          <p:cNvPr id="25" name="Text 23"/>
          <p:cNvSpPr txBox="1"/>
          <p:nvPr/>
        </p:nvSpPr>
        <p:spPr>
          <a:xfrm>
            <a:off x="822960" y="4983480"/>
            <a:ext cx="10545775" cy="914400"/>
          </a:xfrm>
          <a:prstGeom prst="rect">
            <a:avLst/>
          </a:prstGeom>
          <a:noFill/>
          <a:ln/>
        </p:spPr>
        <p:txBody>
          <a:bodyPr wrap="square" lIns="0" tIns="0" rIns="0" bIns="0" rtlCol="0" anchor="ctr"/>
          <a:lstStyle/>
          <a:p>
            <a:pPr indent="0" marL="0">
              <a:buNone/>
            </a:pPr>
            <a:r>
              <a:rPr lang="en-US" sz="1500" b="1" dirty="0">
                <a:solidFill>
                  <a:srgbClr val="F0974A"/>
                </a:solidFill>
              </a:rPr>
              <a:t>Inside every damper: </a:t>
            </a:r>
            <a:pPr indent="0" marL="0">
              <a:buNone/>
            </a:pPr>
            <a:r>
              <a:rPr lang="en-US" sz="1500" dirty="0">
                <a:solidFill>
                  <a:srgbClr val="E4E8EE"/>
                </a:solidFill>
              </a:rPr>
              <a:t>a fast current loop, 10,000 times a second, makes the coil follow the controller’s command. Today’s oil damper is the baseline we beat.</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7223760" cy="4572000"/>
          </a:xfrm>
          <a:prstGeom prst="roundRect">
            <a:avLst>
              <a:gd name="adj" fmla="val 1600"/>
            </a:avLst>
          </a:prstGeom>
          <a:solidFill>
            <a:srgbClr val="FFFFFF"/>
          </a:solidFill>
          <a:ln w="9525">
            <a:solidFill>
              <a:srgbClr val="E3E0D6"/>
            </a:solidFill>
            <a:prstDash val="solid"/>
          </a:ln>
        </p:spPr>
      </p:sp>
      <p:pic>
        <p:nvPicPr>
          <p:cNvPr id="5" name="ride" descr="Ride comfort against load for LHB, Vande Bharat, ICF and BOXN: today's damper and SwarmRide">    </p:cNvPr>
          <p:cNvPicPr>
            <a:picLocks noChangeAspect="1"/>
          </p:cNvPicPr>
          <p:nvPr/>
        </p:nvPicPr>
        <p:blipFill>
          <a:blip r:embed="rId1"/>
          <a:stretch>
            <a:fillRect/>
          </a:stretch>
        </p:blipFill>
        <p:spPr>
          <a:xfrm>
            <a:off x="1236692" y="1627632"/>
            <a:ext cx="5847656" cy="4425696"/>
          </a:xfrm>
          <a:prstGeom prst="rect">
            <a:avLst/>
          </a:prstGeom>
        </p:spPr>
      </p:pic>
      <p:sp>
        <p:nvSpPr>
          <p:cNvPr id="6" name="Shape 3"/>
          <p:cNvSpPr/>
          <p:nvPr/>
        </p:nvSpPr>
        <p:spPr>
          <a:xfrm>
            <a:off x="8046720" y="1554480"/>
            <a:ext cx="3596335" cy="2103120"/>
          </a:xfrm>
          <a:prstGeom prst="roundRect">
            <a:avLst>
              <a:gd name="adj" fmla="val 4348"/>
            </a:avLst>
          </a:prstGeom>
          <a:solidFill>
            <a:srgbClr val="13233A"/>
          </a:solidFill>
          <a:ln/>
        </p:spPr>
      </p:sp>
      <p:sp>
        <p:nvSpPr>
          <p:cNvPr id="7" name="Text 4"/>
          <p:cNvSpPr txBox="1"/>
          <p:nvPr/>
        </p:nvSpPr>
        <p:spPr>
          <a:xfrm>
            <a:off x="8247888" y="1700784"/>
            <a:ext cx="319399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8247888" y="2286000"/>
            <a:ext cx="3193999" cy="1261872"/>
          </a:xfrm>
          <a:prstGeom prst="rect">
            <a:avLst/>
          </a:prstGeom>
          <a:noFill/>
          <a:ln/>
        </p:spPr>
        <p:txBody>
          <a:bodyPr wrap="square" lIns="0" tIns="0" rIns="0" bIns="0" rtlCol="0" anchor="t"/>
          <a:lstStyle/>
          <a:p>
            <a:pPr indent="0" marL="0">
              <a:buNone/>
            </a:pPr>
            <a:r>
              <a:rPr lang="en-US" sz="1400" dirty="0">
                <a:solidFill>
                  <a:srgbClr val="E4E8EE"/>
                </a:solidFill>
              </a:rPr>
              <a:t>better ride on a crowded LHB coach at 160 km/h</a:t>
            </a:r>
            <a:endParaRPr lang="en-US" sz="1400" dirty="0"/>
          </a:p>
        </p:txBody>
      </p:sp>
      <p:sp>
        <p:nvSpPr>
          <p:cNvPr id="9" name="Shape 6"/>
          <p:cNvSpPr/>
          <p:nvPr/>
        </p:nvSpPr>
        <p:spPr>
          <a:xfrm>
            <a:off x="8046720" y="3886200"/>
            <a:ext cx="3596335" cy="2103120"/>
          </a:xfrm>
          <a:prstGeom prst="roundRect">
            <a:avLst>
              <a:gd name="adj" fmla="val 4348"/>
            </a:avLst>
          </a:prstGeom>
          <a:solidFill>
            <a:srgbClr val="FDFCF9"/>
          </a:solidFill>
          <a:ln w="9525">
            <a:solidFill>
              <a:srgbClr val="E3E0D6"/>
            </a:solidFill>
            <a:prstDash val="solid"/>
          </a:ln>
        </p:spPr>
      </p:sp>
      <p:sp>
        <p:nvSpPr>
          <p:cNvPr id="10" name="Text 7"/>
          <p:cNvSpPr txBox="1"/>
          <p:nvPr/>
        </p:nvSpPr>
        <p:spPr>
          <a:xfrm>
            <a:off x="8247888" y="4032504"/>
            <a:ext cx="319399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8247888" y="4617720"/>
            <a:ext cx="3193999" cy="1261872"/>
          </a:xfrm>
          <a:prstGeom prst="rect">
            <a:avLst/>
          </a:prstGeom>
          <a:noFill/>
          <a:ln/>
        </p:spPr>
        <p:txBody>
          <a:bodyPr wrap="square" lIns="0" tIns="0" rIns="0" bIns="0" rtlCol="0" anchor="t"/>
          <a:lstStyle/>
          <a:p>
            <a:pPr indent="0" marL="0">
              <a:buNone/>
            </a:pPr>
            <a:r>
              <a:rPr lang="en-US" sz="1400" dirty="0">
                <a:solidFill>
                  <a:srgbClr val="3D4A5C"/>
                </a:solidFill>
              </a:rPr>
              <a:t>less body shaking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bogie makes four times the power it needs</a:t>
            </a:r>
            <a:endParaRPr lang="en-US" sz="3000" dirty="0"/>
          </a:p>
        </p:txBody>
      </p:sp>
      <p:sp>
        <p:nvSpPr>
          <p:cNvPr id="4" name="Shape 2"/>
          <p:cNvSpPr/>
          <p:nvPr/>
        </p:nvSpPr>
        <p:spPr>
          <a:xfrm>
            <a:off x="548640" y="1737360"/>
            <a:ext cx="3545738" cy="2194560"/>
          </a:xfrm>
          <a:prstGeom prst="roundRect">
            <a:avLst>
              <a:gd name="adj" fmla="val 4167"/>
            </a:avLst>
          </a:prstGeom>
          <a:solidFill>
            <a:srgbClr val="13233A"/>
          </a:solidFill>
          <a:ln/>
        </p:spPr>
      </p:sp>
      <p:sp>
        <p:nvSpPr>
          <p:cNvPr id="5" name="Text 3"/>
          <p:cNvSpPr txBox="1"/>
          <p:nvPr/>
        </p:nvSpPr>
        <p:spPr>
          <a:xfrm>
            <a:off x="749808" y="188366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33 W</a:t>
            </a:r>
            <a:endParaRPr lang="en-US" sz="3200" dirty="0"/>
          </a:p>
        </p:txBody>
      </p:sp>
      <p:sp>
        <p:nvSpPr>
          <p:cNvPr id="6" name="Text 4"/>
          <p:cNvSpPr txBox="1"/>
          <p:nvPr/>
        </p:nvSpPr>
        <p:spPr>
          <a:xfrm>
            <a:off x="749808" y="2468880"/>
            <a:ext cx="3143402" cy="1353312"/>
          </a:xfrm>
          <a:prstGeom prst="rect">
            <a:avLst/>
          </a:prstGeom>
          <a:noFill/>
          <a:ln/>
        </p:spPr>
        <p:txBody>
          <a:bodyPr wrap="square" lIns="0" tIns="0" rIns="0" bIns="0" rtlCol="0" anchor="t"/>
          <a:lstStyle/>
          <a:p>
            <a:pPr indent="0" marL="0">
              <a:buNone/>
            </a:pPr>
            <a:r>
              <a:rPr lang="en-US" sz="1400" dirty="0">
                <a:solidFill>
                  <a:srgbClr val="E4E8EE"/>
                </a:solidFill>
              </a:rPr>
              <a:t>harvested per bogie on a crowded LHB coach</a:t>
            </a:r>
            <a:endParaRPr lang="en-US" sz="1400" dirty="0"/>
          </a:p>
        </p:txBody>
      </p:sp>
      <p:sp>
        <p:nvSpPr>
          <p:cNvPr id="7" name="Shape 5"/>
          <p:cNvSpPr/>
          <p:nvPr/>
        </p:nvSpPr>
        <p:spPr>
          <a:xfrm>
            <a:off x="4322978" y="1737360"/>
            <a:ext cx="3545738" cy="2194560"/>
          </a:xfrm>
          <a:prstGeom prst="roundRect">
            <a:avLst>
              <a:gd name="adj" fmla="val 4167"/>
            </a:avLst>
          </a:prstGeom>
          <a:solidFill>
            <a:srgbClr val="FDFCF9"/>
          </a:solidFill>
          <a:ln w="9525">
            <a:solidFill>
              <a:srgbClr val="E3E0D6"/>
            </a:solidFill>
            <a:prstDash val="solid"/>
          </a:ln>
        </p:spPr>
      </p:sp>
      <p:sp>
        <p:nvSpPr>
          <p:cNvPr id="8" name="Text 6"/>
          <p:cNvSpPr txBox="1"/>
          <p:nvPr/>
        </p:nvSpPr>
        <p:spPr>
          <a:xfrm>
            <a:off x="4524146" y="188366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 W</a:t>
            </a:r>
            <a:endParaRPr lang="en-US" sz="3200" dirty="0"/>
          </a:p>
        </p:txBody>
      </p:sp>
      <p:sp>
        <p:nvSpPr>
          <p:cNvPr id="9" name="Text 7"/>
          <p:cNvSpPr txBox="1"/>
          <p:nvPr/>
        </p:nvSpPr>
        <p:spPr>
          <a:xfrm>
            <a:off x="4524146" y="2468880"/>
            <a:ext cx="3143402" cy="1353312"/>
          </a:xfrm>
          <a:prstGeom prst="rect">
            <a:avLst/>
          </a:prstGeom>
          <a:noFill/>
          <a:ln/>
        </p:spPr>
        <p:txBody>
          <a:bodyPr wrap="square" lIns="0" tIns="0" rIns="0" bIns="0" rtlCol="0" anchor="t"/>
          <a:lstStyle/>
          <a:p>
            <a:pPr indent="0" marL="0">
              <a:buNone/>
            </a:pPr>
            <a:r>
              <a:rPr lang="en-US" sz="1400" dirty="0">
                <a:solidFill>
                  <a:srgbClr val="3D4A5C"/>
                </a:solidFill>
              </a:rPr>
              <a:t>needed by the bogie’s sensors, controller and radio</a:t>
            </a:r>
            <a:endParaRPr lang="en-US" sz="1400" dirty="0"/>
          </a:p>
        </p:txBody>
      </p:sp>
      <p:sp>
        <p:nvSpPr>
          <p:cNvPr id="10" name="Shape 8"/>
          <p:cNvSpPr/>
          <p:nvPr/>
        </p:nvSpPr>
        <p:spPr>
          <a:xfrm>
            <a:off x="8097317" y="1737360"/>
            <a:ext cx="3545738" cy="2194560"/>
          </a:xfrm>
          <a:prstGeom prst="roundRect">
            <a:avLst>
              <a:gd name="adj" fmla="val 4167"/>
            </a:avLst>
          </a:prstGeom>
          <a:solidFill>
            <a:srgbClr val="FDFCF9"/>
          </a:solidFill>
          <a:ln w="9525">
            <a:solidFill>
              <a:srgbClr val="E3E0D6"/>
            </a:solidFill>
            <a:prstDash val="solid"/>
          </a:ln>
        </p:spPr>
      </p:sp>
      <p:sp>
        <p:nvSpPr>
          <p:cNvPr id="11" name="Text 9"/>
          <p:cNvSpPr txBox="1"/>
          <p:nvPr/>
        </p:nvSpPr>
        <p:spPr>
          <a:xfrm>
            <a:off x="8298485" y="188366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25 W</a:t>
            </a:r>
            <a:endParaRPr lang="en-US" sz="3200" dirty="0"/>
          </a:p>
        </p:txBody>
      </p:sp>
      <p:sp>
        <p:nvSpPr>
          <p:cNvPr id="12" name="Text 10"/>
          <p:cNvSpPr txBox="1"/>
          <p:nvPr/>
        </p:nvSpPr>
        <p:spPr>
          <a:xfrm>
            <a:off x="8298485" y="2468880"/>
            <a:ext cx="3143402" cy="1353312"/>
          </a:xfrm>
          <a:prstGeom prst="rect">
            <a:avLst/>
          </a:prstGeom>
          <a:noFill/>
          <a:ln/>
        </p:spPr>
        <p:txBody>
          <a:bodyPr wrap="square" lIns="0" tIns="0" rIns="0" bIns="0" rtlCol="0" anchor="t"/>
          <a:lstStyle/>
          <a:p>
            <a:pPr indent="0" marL="0">
              <a:buNone/>
            </a:pPr>
            <a:r>
              <a:rPr lang="en-US" sz="1400" dirty="0">
                <a:solidFill>
                  <a:srgbClr val="3D4A5C"/>
                </a:solidFill>
              </a:rPr>
              <a:t>spare, stored in the bogie’s own battery</a:t>
            </a:r>
            <a:endParaRPr lang="en-US" sz="1400" dirty="0"/>
          </a:p>
        </p:txBody>
      </p:sp>
      <p:sp>
        <p:nvSpPr>
          <p:cNvPr id="13" name="Shape 11"/>
          <p:cNvSpPr/>
          <p:nvPr/>
        </p:nvSpPr>
        <p:spPr>
          <a:xfrm>
            <a:off x="548640" y="4343400"/>
            <a:ext cx="11094415" cy="1463040"/>
          </a:xfrm>
          <a:prstGeom prst="roundRect">
            <a:avLst>
              <a:gd name="adj" fmla="val 6250"/>
            </a:avLst>
          </a:prstGeom>
          <a:solidFill>
            <a:srgbClr val="FDFCF9"/>
          </a:solidFill>
          <a:ln w="9525">
            <a:solidFill>
              <a:srgbClr val="E3E0D6"/>
            </a:solidFill>
            <a:prstDash val="solid"/>
          </a:ln>
        </p:spPr>
      </p:sp>
      <p:sp>
        <p:nvSpPr>
          <p:cNvPr id="14" name="Text 12"/>
          <p:cNvSpPr txBox="1"/>
          <p:nvPr/>
        </p:nvSpPr>
        <p:spPr>
          <a:xfrm>
            <a:off x="868680" y="4480560"/>
            <a:ext cx="10454335" cy="1188720"/>
          </a:xfrm>
          <a:prstGeom prst="rect">
            <a:avLst/>
          </a:prstGeom>
          <a:noFill/>
          <a:ln/>
        </p:spPr>
        <p:txBody>
          <a:bodyPr wrap="square" lIns="0" tIns="0" rIns="0" bIns="0" rtlCol="0" anchor="ctr"/>
          <a:lstStyle/>
          <a:p>
            <a:pPr indent="0" marL="0">
              <a:buNone/>
            </a:pPr>
            <a:r>
              <a:rPr lang="en-US" sz="1800" b="1" dirty="0">
                <a:solidFill>
                  <a:srgbClr val="13233A"/>
                </a:solidFill>
              </a:rPr>
              <a:t>Every controller step improves comfort and still makes power. </a:t>
            </a:r>
            <a:pPr indent="0" marL="0">
              <a:buNone/>
            </a:pPr>
            <a:r>
              <a:rPr lang="en-US" sz="1800" dirty="0">
                <a:solidFill>
                  <a:srgbClr val="3D4A5C"/>
                </a:solidFill>
              </a:rPr>
              <a:t>No fixed damper setting matches SwarmRide’s comfort.</a:t>
            </a:r>
            <a:endParaRPr lang="en-US" sz="18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154680"/>
          </a:xfrm>
          <a:prstGeom prst="roundRect">
            <a:avLst>
              <a:gd name="adj" fmla="val 2319"/>
            </a:avLst>
          </a:prstGeom>
          <a:solidFill>
            <a:srgbClr val="FFFFFF"/>
          </a:solidFill>
          <a:ln w="9525">
            <a:solidFill>
              <a:srgbClr val="E3E0D6"/>
            </a:solidFill>
            <a:prstDash val="solid"/>
          </a:ln>
        </p:spPr>
      </p:sp>
      <p:pic>
        <p:nvPicPr>
          <p:cNvPr id="5" name="push" descr="Body shaking at a track dip: today's damper, resist only, and push">    </p:cNvPr>
          <p:cNvPicPr>
            <a:picLocks noChangeAspect="1"/>
          </p:cNvPicPr>
          <p:nvPr/>
        </p:nvPicPr>
        <p:blipFill>
          <a:blip r:embed="rId1"/>
          <a:stretch>
            <a:fillRect/>
          </a:stretch>
        </p:blipFill>
        <p:spPr>
          <a:xfrm>
            <a:off x="2947251" y="1627632"/>
            <a:ext cx="6297194" cy="3008376"/>
          </a:xfrm>
          <a:prstGeom prst="rect">
            <a:avLst/>
          </a:prstGeom>
        </p:spPr>
      </p:pic>
      <p:sp>
        <p:nvSpPr>
          <p:cNvPr id="6" name="Shape 3"/>
          <p:cNvSpPr/>
          <p:nvPr/>
        </p:nvSpPr>
        <p:spPr>
          <a:xfrm>
            <a:off x="548640" y="4892040"/>
            <a:ext cx="5410048" cy="1188720"/>
          </a:xfrm>
          <a:prstGeom prst="roundRect">
            <a:avLst>
              <a:gd name="adj" fmla="val 7692"/>
            </a:avLst>
          </a:prstGeom>
          <a:solidFill>
            <a:srgbClr val="13233A"/>
          </a:solidFill>
          <a:ln/>
        </p:spPr>
      </p:sp>
      <p:sp>
        <p:nvSpPr>
          <p:cNvPr id="7" name="Text 4"/>
          <p:cNvSpPr txBox="1"/>
          <p:nvPr/>
        </p:nvSpPr>
        <p:spPr>
          <a:xfrm>
            <a:off x="749808" y="5038344"/>
            <a:ext cx="500771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623560"/>
            <a:ext cx="5007712" cy="347472"/>
          </a:xfrm>
          <a:prstGeom prst="rect">
            <a:avLst/>
          </a:prstGeom>
          <a:noFill/>
          <a:ln/>
        </p:spPr>
        <p:txBody>
          <a:bodyPr wrap="square" lIns="0" tIns="0" rIns="0" bIns="0" rtlCol="0" anchor="t"/>
          <a:lstStyle/>
          <a:p>
            <a:pPr indent="0" marL="0">
              <a:buNone/>
            </a:pPr>
            <a:r>
              <a:rPr lang="en-US" sz="1400" dirty="0">
                <a:solidFill>
                  <a:srgbClr val="E4E8EE"/>
                </a:solidFill>
              </a:rPr>
              <a:t>less jolt at a known track dip</a:t>
            </a:r>
            <a:endParaRPr lang="en-US" sz="1400" dirty="0"/>
          </a:p>
        </p:txBody>
      </p:sp>
      <p:sp>
        <p:nvSpPr>
          <p:cNvPr id="9" name="Shape 6"/>
          <p:cNvSpPr/>
          <p:nvPr/>
        </p:nvSpPr>
        <p:spPr>
          <a:xfrm>
            <a:off x="6233008" y="4892040"/>
            <a:ext cx="5410048" cy="1188720"/>
          </a:xfrm>
          <a:prstGeom prst="roundRect">
            <a:avLst>
              <a:gd name="adj" fmla="val 7692"/>
            </a:avLst>
          </a:prstGeom>
          <a:solidFill>
            <a:srgbClr val="FDFCF9"/>
          </a:solidFill>
          <a:ln w="9525">
            <a:solidFill>
              <a:srgbClr val="E3E0D6"/>
            </a:solidFill>
            <a:prstDash val="solid"/>
          </a:ln>
        </p:spPr>
      </p:sp>
      <p:sp>
        <p:nvSpPr>
          <p:cNvPr id="10" name="Text 7"/>
          <p:cNvSpPr txBox="1"/>
          <p:nvPr/>
        </p:nvSpPr>
        <p:spPr>
          <a:xfrm>
            <a:off x="6434176" y="5038344"/>
            <a:ext cx="500771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6434176" y="5623560"/>
            <a:ext cx="5007712" cy="347472"/>
          </a:xfrm>
          <a:prstGeom prst="rect">
            <a:avLst/>
          </a:prstGeom>
          <a:noFill/>
          <a:ln/>
        </p:spPr>
        <p:txBody>
          <a:bodyPr wrap="square" lIns="0" tIns="0" rIns="0" bIns="0" rtlCol="0" anchor="t"/>
          <a:lstStyle/>
          <a:p>
            <a:pPr indent="0" marL="0">
              <a:buNone/>
            </a:pPr>
            <a:r>
              <a:rPr lang="en-US" sz="1400" dirty="0">
                <a:solidFill>
                  <a:srgbClr val="3D4A5C"/>
                </a:solidFill>
              </a:rPr>
              <a:t>per push, from the bogie’s own battery</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7223760" cy="4572000"/>
          </a:xfrm>
          <a:prstGeom prst="roundRect">
            <a:avLst>
              <a:gd name="adj" fmla="val 1600"/>
            </a:avLst>
          </a:prstGeom>
          <a:solidFill>
            <a:srgbClr val="FFFFFF"/>
          </a:solidFill>
          <a:ln w="9525">
            <a:solidFill>
              <a:srgbClr val="E3E0D6"/>
            </a:solidFill>
            <a:prstDash val="solid"/>
          </a:ln>
        </p:spPr>
      </p:sp>
      <p:pic>
        <p:nvPicPr>
          <p:cNvPr id="5" name="day" descr="Battery charge over a full day for LHB, Vande Bharat, ICF and BOXN">    </p:cNvPr>
          <p:cNvPicPr>
            <a:picLocks noChangeAspect="1"/>
          </p:cNvPicPr>
          <p:nvPr/>
        </p:nvPicPr>
        <p:blipFill>
          <a:blip r:embed="rId1"/>
          <a:stretch>
            <a:fillRect/>
          </a:stretch>
        </p:blipFill>
        <p:spPr>
          <a:xfrm>
            <a:off x="980894" y="1627632"/>
            <a:ext cx="6359253" cy="4425696"/>
          </a:xfrm>
          <a:prstGeom prst="rect">
            <a:avLst/>
          </a:prstGeom>
        </p:spPr>
      </p:pic>
      <p:sp>
        <p:nvSpPr>
          <p:cNvPr id="6" name="Shape 3"/>
          <p:cNvSpPr/>
          <p:nvPr/>
        </p:nvSpPr>
        <p:spPr>
          <a:xfrm>
            <a:off x="8046720" y="1554480"/>
            <a:ext cx="3596335" cy="2103120"/>
          </a:xfrm>
          <a:prstGeom prst="roundRect">
            <a:avLst>
              <a:gd name="adj" fmla="val 4348"/>
            </a:avLst>
          </a:prstGeom>
          <a:solidFill>
            <a:srgbClr val="13233A"/>
          </a:solidFill>
          <a:ln/>
        </p:spPr>
      </p:sp>
      <p:sp>
        <p:nvSpPr>
          <p:cNvPr id="7" name="Text 4"/>
          <p:cNvSpPr txBox="1"/>
          <p:nvPr/>
        </p:nvSpPr>
        <p:spPr>
          <a:xfrm>
            <a:off x="8247888" y="1700784"/>
            <a:ext cx="319399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24 h</a:t>
            </a:r>
            <a:endParaRPr lang="en-US" sz="3200" dirty="0"/>
          </a:p>
        </p:txBody>
      </p:sp>
      <p:sp>
        <p:nvSpPr>
          <p:cNvPr id="8" name="Text 5"/>
          <p:cNvSpPr txBox="1"/>
          <p:nvPr/>
        </p:nvSpPr>
        <p:spPr>
          <a:xfrm>
            <a:off x="8247888" y="2286000"/>
            <a:ext cx="3193999" cy="1261872"/>
          </a:xfrm>
          <a:prstGeom prst="rect">
            <a:avLst/>
          </a:prstGeom>
          <a:noFill/>
          <a:ln/>
        </p:spPr>
        <p:txBody>
          <a:bodyPr wrap="square" lIns="0" tIns="0" rIns="0" bIns="0" rtlCol="0" anchor="t"/>
          <a:lstStyle/>
          <a:p>
            <a:pPr indent="0" marL="0">
              <a:buNone/>
            </a:pPr>
            <a:r>
              <a:rPr lang="en-US" sz="1400" dirty="0">
                <a:solidFill>
                  <a:srgbClr val="E4E8EE"/>
                </a:solidFill>
              </a:rPr>
              <a:t>the bogie runs on its own power, day and night</a:t>
            </a:r>
            <a:endParaRPr lang="en-US" sz="1400" dirty="0"/>
          </a:p>
        </p:txBody>
      </p:sp>
      <p:sp>
        <p:nvSpPr>
          <p:cNvPr id="9" name="Shape 6"/>
          <p:cNvSpPr/>
          <p:nvPr/>
        </p:nvSpPr>
        <p:spPr>
          <a:xfrm>
            <a:off x="8046720" y="3886200"/>
            <a:ext cx="3596335" cy="2103120"/>
          </a:xfrm>
          <a:prstGeom prst="roundRect">
            <a:avLst>
              <a:gd name="adj" fmla="val 4348"/>
            </a:avLst>
          </a:prstGeom>
          <a:solidFill>
            <a:srgbClr val="FDFCF9"/>
          </a:solidFill>
          <a:ln w="9525">
            <a:solidFill>
              <a:srgbClr val="E3E0D6"/>
            </a:solidFill>
            <a:prstDash val="solid"/>
          </a:ln>
        </p:spPr>
      </p:sp>
      <p:sp>
        <p:nvSpPr>
          <p:cNvPr id="10" name="Text 7"/>
          <p:cNvSpPr txBox="1"/>
          <p:nvPr/>
        </p:nvSpPr>
        <p:spPr>
          <a:xfrm>
            <a:off x="8275320" y="4023360"/>
            <a:ext cx="3139135" cy="1828800"/>
          </a:xfrm>
          <a:prstGeom prst="rect">
            <a:avLst/>
          </a:prstGeom>
          <a:noFill/>
          <a:ln/>
        </p:spPr>
        <p:txBody>
          <a:bodyPr wrap="square" lIns="0" tIns="0" rIns="0" bIns="0" rtlCol="0" anchor="ctr"/>
          <a:lstStyle/>
          <a:p>
            <a:pPr indent="0" marL="0">
              <a:buNone/>
            </a:pPr>
            <a:r>
              <a:rPr lang="en-US" sz="1600" dirty="0">
                <a:solidFill>
                  <a:srgbClr val="3D4A5C"/>
                </a:solidFill>
              </a:rPr>
              <a:t>A 1 W sleep mode when parked keeps the battery level or rising. No sensor is ever left without power.</a:t>
            </a:r>
            <a:endParaRPr lang="en-US" sz="16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3108960"/>
          </a:xfrm>
          <a:prstGeom prst="roundRect">
            <a:avLst>
              <a:gd name="adj" fmla="val 2353"/>
            </a:avLst>
          </a:prstGeom>
          <a:solidFill>
            <a:srgbClr val="FFFFFF"/>
          </a:solidFill>
          <a:ln w="9525">
            <a:solidFill>
              <a:srgbClr val="E3E0D6"/>
            </a:solidFill>
            <a:prstDash val="solid"/>
          </a:ln>
        </p:spPr>
      </p:sp>
      <p:pic>
        <p:nvPicPr>
          <p:cNvPr id="5" name="axle" descr="Hot axle: bearing temperature rise and when it is detected">    </p:cNvPr>
          <p:cNvPicPr>
            <a:picLocks noChangeAspect="1"/>
          </p:cNvPicPr>
          <p:nvPr/>
        </p:nvPicPr>
        <p:blipFill>
          <a:blip r:embed="rId1"/>
          <a:stretch>
            <a:fillRect/>
          </a:stretch>
        </p:blipFill>
        <p:spPr>
          <a:xfrm>
            <a:off x="621792" y="1970300"/>
            <a:ext cx="5263744" cy="2277319"/>
          </a:xfrm>
          <a:prstGeom prst="rect">
            <a:avLst/>
          </a:prstGeom>
        </p:spPr>
      </p:pic>
      <p:sp>
        <p:nvSpPr>
          <p:cNvPr id="6" name="wheel frame"/>
          <p:cNvSpPr/>
          <p:nvPr/>
        </p:nvSpPr>
        <p:spPr>
          <a:xfrm>
            <a:off x="6233008" y="1554480"/>
            <a:ext cx="5410048" cy="3108960"/>
          </a:xfrm>
          <a:prstGeom prst="roundRect">
            <a:avLst>
              <a:gd name="adj" fmla="val 2353"/>
            </a:avLst>
          </a:prstGeom>
          <a:solidFill>
            <a:srgbClr val="FFFFFF"/>
          </a:solidFill>
          <a:ln w="9525">
            <a:solidFill>
              <a:srgbClr val="E3E0D6"/>
            </a:solidFill>
            <a:prstDash val="solid"/>
          </a:ln>
        </p:spPr>
      </p:sp>
      <p:pic>
        <p:nvPicPr>
          <p:cNvPr id="7" name="wheel" descr="Wheel defect seen in the damper coil signal">    </p:cNvPr>
          <p:cNvPicPr>
            <a:picLocks noChangeAspect="1"/>
          </p:cNvPicPr>
          <p:nvPr/>
        </p:nvPicPr>
        <p:blipFill>
          <a:blip r:embed="rId2"/>
          <a:stretch>
            <a:fillRect/>
          </a:stretch>
        </p:blipFill>
        <p:spPr>
          <a:xfrm>
            <a:off x="6306160" y="1934551"/>
            <a:ext cx="5263744" cy="2348818"/>
          </a:xfrm>
          <a:prstGeom prst="rect">
            <a:avLst/>
          </a:prstGeom>
        </p:spPr>
      </p:pic>
      <p:sp>
        <p:nvSpPr>
          <p:cNvPr id="8" name="Shape 4"/>
          <p:cNvSpPr/>
          <p:nvPr/>
        </p:nvSpPr>
        <p:spPr>
          <a:xfrm>
            <a:off x="548640" y="4846320"/>
            <a:ext cx="5410048" cy="1234440"/>
          </a:xfrm>
          <a:prstGeom prst="roundRect">
            <a:avLst>
              <a:gd name="adj" fmla="val 7407"/>
            </a:avLst>
          </a:prstGeom>
          <a:solidFill>
            <a:srgbClr val="13233A"/>
          </a:solidFill>
          <a:ln/>
        </p:spPr>
      </p:sp>
      <p:sp>
        <p:nvSpPr>
          <p:cNvPr id="9" name="Text 5"/>
          <p:cNvSpPr txBox="1"/>
          <p:nvPr/>
        </p:nvSpPr>
        <p:spPr>
          <a:xfrm>
            <a:off x="749808" y="4992624"/>
            <a:ext cx="500771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577840"/>
            <a:ext cx="5007712" cy="393192"/>
          </a:xfrm>
          <a:prstGeom prst="rect">
            <a:avLst/>
          </a:prstGeom>
          <a:noFill/>
          <a:ln/>
        </p:spPr>
        <p:txBody>
          <a:bodyPr wrap="square" lIns="0" tIns="0" rIns="0" bIns="0" rtlCol="0" anchor="t"/>
          <a:lstStyle/>
          <a:p>
            <a:pPr indent="0" marL="0">
              <a:buNone/>
            </a:pPr>
            <a:r>
              <a:rPr lang="en-US" sz="1400" dirty="0">
                <a:solidFill>
                  <a:srgbClr val="E4E8EE"/>
                </a:solidFill>
              </a:rPr>
              <a:t>to flag a hot axle, instead of hours at trackside checks</a:t>
            </a:r>
            <a:endParaRPr lang="en-US" sz="1400" dirty="0"/>
          </a:p>
        </p:txBody>
      </p:sp>
      <p:sp>
        <p:nvSpPr>
          <p:cNvPr id="11" name="Shape 7"/>
          <p:cNvSpPr/>
          <p:nvPr/>
        </p:nvSpPr>
        <p:spPr>
          <a:xfrm>
            <a:off x="6233008" y="4846320"/>
            <a:ext cx="5410048" cy="1234440"/>
          </a:xfrm>
          <a:prstGeom prst="roundRect">
            <a:avLst>
              <a:gd name="adj" fmla="val 7407"/>
            </a:avLst>
          </a:prstGeom>
          <a:solidFill>
            <a:srgbClr val="FDFCF9"/>
          </a:solidFill>
          <a:ln w="9525">
            <a:solidFill>
              <a:srgbClr val="E3E0D6"/>
            </a:solidFill>
            <a:prstDash val="solid"/>
          </a:ln>
        </p:spPr>
      </p:sp>
      <p:sp>
        <p:nvSpPr>
          <p:cNvPr id="12" name="Text 8"/>
          <p:cNvSpPr txBox="1"/>
          <p:nvPr/>
        </p:nvSpPr>
        <p:spPr>
          <a:xfrm>
            <a:off x="6434176" y="4992624"/>
            <a:ext cx="500771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Wheel defects</a:t>
            </a:r>
            <a:endParaRPr lang="en-US" sz="3200" dirty="0"/>
          </a:p>
        </p:txBody>
      </p:sp>
      <p:sp>
        <p:nvSpPr>
          <p:cNvPr id="13" name="Text 9"/>
          <p:cNvSpPr txBox="1"/>
          <p:nvPr/>
        </p:nvSpPr>
        <p:spPr>
          <a:xfrm>
            <a:off x="6434176" y="5577840"/>
            <a:ext cx="5007712" cy="393192"/>
          </a:xfrm>
          <a:prstGeom prst="rect">
            <a:avLst/>
          </a:prstGeom>
          <a:noFill/>
          <a:ln/>
        </p:spPr>
        <p:txBody>
          <a:bodyPr wrap="square" lIns="0" tIns="0" rIns="0" bIns="0" rtlCol="0" anchor="t"/>
          <a:lstStyle/>
          <a:p>
            <a:pPr indent="0" marL="0">
              <a:buNone/>
            </a:pPr>
            <a:r>
              <a:rPr lang="en-US" sz="1400" dirty="0">
                <a:solidFill>
                  <a:srgbClr val="3D4A5C"/>
                </a:solidFill>
              </a:rPr>
              <a:t>seen in the damper’s own signal, no extra sensor</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3108960"/>
          </a:xfrm>
          <a:prstGeom prst="roundRect">
            <a:avLst>
              <a:gd name="adj" fmla="val 2353"/>
            </a:avLst>
          </a:prstGeom>
          <a:solidFill>
            <a:srgbClr val="FFFFFF"/>
          </a:solidFill>
          <a:ln w="9525">
            <a:solidFill>
              <a:srgbClr val="E3E0D6"/>
            </a:solidFill>
            <a:prstDash val="solid"/>
          </a:ln>
        </p:spPr>
      </p:sp>
      <p:pic>
        <p:nvPicPr>
          <p:cNvPr id="5" name="breplay" descr="Bench model replaying the coach motion">    </p:cNvPr>
          <p:cNvPicPr>
            <a:picLocks noChangeAspect="1"/>
          </p:cNvPicPr>
          <p:nvPr/>
        </p:nvPicPr>
        <p:blipFill>
          <a:blip r:embed="rId1"/>
          <a:stretch>
            <a:fillRect/>
          </a:stretch>
        </p:blipFill>
        <p:spPr>
          <a:xfrm>
            <a:off x="621792" y="1921863"/>
            <a:ext cx="5263744" cy="2374194"/>
          </a:xfrm>
          <a:prstGeom prst="rect">
            <a:avLst/>
          </a:prstGeom>
        </p:spPr>
      </p:pic>
      <p:sp>
        <p:nvSpPr>
          <p:cNvPr id="6" name="bfs frame"/>
          <p:cNvSpPr/>
          <p:nvPr/>
        </p:nvSpPr>
        <p:spPr>
          <a:xfrm>
            <a:off x="6233008" y="1554480"/>
            <a:ext cx="5410048" cy="3108960"/>
          </a:xfrm>
          <a:prstGeom prst="roundRect">
            <a:avLst>
              <a:gd name="adj" fmla="val 2353"/>
            </a:avLst>
          </a:prstGeom>
          <a:solidFill>
            <a:srgbClr val="FFFFFF"/>
          </a:solidFill>
          <a:ln w="9525">
            <a:solidFill>
              <a:srgbClr val="E3E0D6"/>
            </a:solidFill>
            <a:prstDash val="solid"/>
          </a:ln>
        </p:spPr>
      </p:sp>
      <p:pic>
        <p:nvPicPr>
          <p:cNvPr id="7" name="bfs" descr="Fail-safe test on the bench model">    </p:cNvPr>
          <p:cNvPicPr>
            <a:picLocks noChangeAspect="1"/>
          </p:cNvPicPr>
          <p:nvPr/>
        </p:nvPicPr>
        <p:blipFill>
          <a:blip r:embed="rId2"/>
          <a:stretch>
            <a:fillRect/>
          </a:stretch>
        </p:blipFill>
        <p:spPr>
          <a:xfrm>
            <a:off x="6306160" y="1995408"/>
            <a:ext cx="5263744" cy="2227104"/>
          </a:xfrm>
          <a:prstGeom prst="rect">
            <a:avLst/>
          </a:prstGeom>
        </p:spPr>
      </p:pic>
      <p:sp>
        <p:nvSpPr>
          <p:cNvPr id="8" name="Shape 4"/>
          <p:cNvSpPr/>
          <p:nvPr/>
        </p:nvSpPr>
        <p:spPr>
          <a:xfrm>
            <a:off x="548640" y="4846320"/>
            <a:ext cx="5410048" cy="1234440"/>
          </a:xfrm>
          <a:prstGeom prst="roundRect">
            <a:avLst>
              <a:gd name="adj" fmla="val 7407"/>
            </a:avLst>
          </a:prstGeom>
          <a:solidFill>
            <a:srgbClr val="13233A"/>
          </a:solidFill>
          <a:ln/>
        </p:spPr>
      </p:sp>
      <p:sp>
        <p:nvSpPr>
          <p:cNvPr id="9" name="Text 5"/>
          <p:cNvSpPr txBox="1"/>
          <p:nvPr/>
        </p:nvSpPr>
        <p:spPr>
          <a:xfrm>
            <a:off x="749808" y="4992624"/>
            <a:ext cx="500771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 vs 14.5 W</a:t>
            </a:r>
            <a:endParaRPr lang="en-US" sz="3200" dirty="0"/>
          </a:p>
        </p:txBody>
      </p:sp>
      <p:sp>
        <p:nvSpPr>
          <p:cNvPr id="10" name="Text 6"/>
          <p:cNvSpPr txBox="1"/>
          <p:nvPr/>
        </p:nvSpPr>
        <p:spPr>
          <a:xfrm>
            <a:off x="749808" y="5577840"/>
            <a:ext cx="5007712" cy="393192"/>
          </a:xfrm>
          <a:prstGeom prst="rect">
            <a:avLst/>
          </a:prstGeom>
          <a:noFill/>
          <a:ln/>
        </p:spPr>
        <p:txBody>
          <a:bodyPr wrap="square" lIns="0" tIns="0" rIns="0" bIns="0" rtlCol="0" anchor="t"/>
          <a:lstStyle/>
          <a:p>
            <a:pPr indent="0" marL="0">
              <a:buNone/>
            </a:pPr>
            <a:r>
              <a:rPr lang="en-US" sz="1400" dirty="0">
                <a:solidFill>
                  <a:srgbClr val="E4E8EE"/>
                </a:solidFill>
              </a:rPr>
              <a:t>bench model and coach model agree</a:t>
            </a:r>
            <a:endParaRPr lang="en-US" sz="1400" dirty="0"/>
          </a:p>
        </p:txBody>
      </p:sp>
      <p:sp>
        <p:nvSpPr>
          <p:cNvPr id="11" name="Shape 7"/>
          <p:cNvSpPr/>
          <p:nvPr/>
        </p:nvSpPr>
        <p:spPr>
          <a:xfrm>
            <a:off x="6233008" y="4846320"/>
            <a:ext cx="5410048" cy="1234440"/>
          </a:xfrm>
          <a:prstGeom prst="roundRect">
            <a:avLst>
              <a:gd name="adj" fmla="val 7407"/>
            </a:avLst>
          </a:prstGeom>
          <a:solidFill>
            <a:srgbClr val="FDFCF9"/>
          </a:solidFill>
          <a:ln w="9525">
            <a:solidFill>
              <a:srgbClr val="E3E0D6"/>
            </a:solidFill>
            <a:prstDash val="solid"/>
          </a:ln>
        </p:spPr>
      </p:sp>
      <p:sp>
        <p:nvSpPr>
          <p:cNvPr id="12" name="Text 8"/>
          <p:cNvSpPr txBox="1"/>
          <p:nvPr/>
        </p:nvSpPr>
        <p:spPr>
          <a:xfrm>
            <a:off x="6434176" y="4992624"/>
            <a:ext cx="500771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3" name="Text 9"/>
          <p:cNvSpPr txBox="1"/>
          <p:nvPr/>
        </p:nvSpPr>
        <p:spPr>
          <a:xfrm>
            <a:off x="6434176" y="5577840"/>
            <a:ext cx="5007712" cy="393192"/>
          </a:xfrm>
          <a:prstGeom prst="rect">
            <a:avLst/>
          </a:prstGeom>
          <a:noFill/>
          <a:ln/>
        </p:spPr>
        <p:txBody>
          <a:bodyPr wrap="square" lIns="0" tIns="0" rIns="0" bIns="0" rtlCol="0" anchor="t"/>
          <a:lstStyle/>
          <a:p>
            <a:pPr indent="0" marL="0">
              <a:buNone/>
            </a:pPr>
            <a:r>
              <a:rPr lang="en-US" sz="1400" dirty="0">
                <a:solidFill>
                  <a:srgbClr val="3D4A5C"/>
                </a:solidFill>
              </a:rPr>
              <a:t>automatic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the current sets the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means not part of the base paper’s study, as described in its published abstract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2377440"/>
                <a:gridCol w="4023360"/>
                <a:gridCol w="4693615"/>
              </a:tblGrid>
              <a:tr h="640080">
                <a:tc>
                  <a:txBody>
                    <a:bodyPr/>
                    <a:lstStyle/>
                    <a:p>
                      <a:pPr indent="0" marL="0">
                        <a:buNone/>
                      </a:pP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400" b="1" dirty="0">
                          <a:solidFill>
                            <a:srgbClr val="6B7686"/>
                          </a:solidFill>
                          <a:latin typeface="Calibri" pitchFamily="34" charset="0"/>
                          <a:ea typeface="Calibri" pitchFamily="34" charset="-122"/>
                          <a:cs typeface="Calibri" pitchFamily="34" charset="-120"/>
                        </a:rPr>
                        <a:t>Base paper (Hua et al. 2022)</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400" b="1" dirty="0">
                          <a:solidFill>
                            <a:srgbClr val="6B7686"/>
                          </a:solidFill>
                          <a:latin typeface="Calibri" pitchFamily="34" charset="0"/>
                          <a:ea typeface="Calibri" pitchFamily="34" charset="-122"/>
                          <a:cs typeface="Calibri" pitchFamily="34" charset="-120"/>
                        </a:rPr>
                        <a:t>SwarmRide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640080">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Motion and speed</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Side to side, high-speed train</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Up and down, LHB / Vande Bharat, 160 km/h</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40080">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Ride</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Better than a passive damper</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b="1" dirty="0">
                          <a:solidFill>
                            <a:srgbClr val="1F2A37"/>
                          </a:solidFill>
                          <a:latin typeface="Calibri" pitchFamily="34" charset="0"/>
                          <a:ea typeface="Calibri" pitchFamily="34" charset="-122"/>
                          <a:cs typeface="Calibri" pitchFamily="34" charset="-120"/>
                        </a:rPr>
                        <a:t>17% better, stays good at every load</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40080">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Bad spots</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Resist only</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b="1" dirty="0">
                          <a:solidFill>
                            <a:srgbClr val="1F2A37"/>
                          </a:solidFill>
                          <a:latin typeface="Calibri" pitchFamily="34" charset="0"/>
                          <a:ea typeface="Calibri" pitchFamily="34" charset="-122"/>
                          <a:cs typeface="Calibri" pitchFamily="34" charset="-120"/>
                        </a:rPr>
                        <a:t>Pushes: 80% less jolt</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40080">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Harvested power</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dirty="0">
                          <a:solidFill>
                            <a:srgbClr val="1F2A37"/>
                          </a:solidFill>
                          <a:latin typeface="Calibri" pitchFamily="34" charset="0"/>
                          <a:ea typeface="Calibri" pitchFamily="34" charset="-122"/>
                          <a:cs typeface="Calibri" pitchFamily="34" charset="-120"/>
                        </a:rPr>
                        <a:t>Measured, not used</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800" b="1" dirty="0">
                          <a:solidFill>
                            <a:srgbClr val="1F2A37"/>
                          </a:solidFill>
                          <a:latin typeface="Calibri" pitchFamily="34" charset="0"/>
                          <a:ea typeface="Calibri" pitchFamily="34" charset="-122"/>
                          <a:cs typeface="Calibri" pitchFamily="34" charset="-120"/>
                        </a:rPr>
                        <a:t>Runs the bogie all day</a:t>
                      </a:r>
                      <a:endParaRPr lang="en-US" sz="18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094415" cy="914400"/>
          </a:xfrm>
          <a:prstGeom prst="roundRect">
            <a:avLst>
              <a:gd name="adj" fmla="val 10000"/>
            </a:avLst>
          </a:prstGeom>
          <a:solidFill>
            <a:srgbClr val="13233A"/>
          </a:solidFill>
          <a:ln/>
        </p:spPr>
      </p:sp>
      <p:sp>
        <p:nvSpPr>
          <p:cNvPr id="6" name="Text 3"/>
          <p:cNvSpPr txBox="1"/>
          <p:nvPr/>
        </p:nvSpPr>
        <p:spPr>
          <a:xfrm>
            <a:off x="822960" y="5120640"/>
            <a:ext cx="10545775" cy="822960"/>
          </a:xfrm>
          <a:prstGeom prst="rect">
            <a:avLst/>
          </a:prstGeom>
          <a:noFill/>
          <a:ln/>
        </p:spPr>
        <p:txBody>
          <a:bodyPr wrap="square" lIns="0" tIns="0" rIns="0" bIns="0" rtlCol="0" anchor="ctr"/>
          <a:lstStyle/>
          <a:p>
            <a:pPr indent="0" marL="0">
              <a:buNone/>
            </a:pPr>
            <a:r>
              <a:rPr lang="en-US" sz="1500" dirty="0">
                <a:solidFill>
                  <a:srgbClr val="E4E8EE"/>
                </a:solidFill>
              </a:rPr>
              <a:t>The trains and directions differ, so we compare capability, not watts: ours adapts to load, looks ahead, can push, and uses its energy on the bogie.</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before the bump</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2026-10-21T00:42:46Z</dcterms:created>
  <dcterms:modified xsi:type="dcterms:W3CDTF">2026-10-21T00:42:46Z</dcterms:modified>
</cp:coreProperties>
</file>