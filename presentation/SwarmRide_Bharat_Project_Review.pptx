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34731cc0-ba37-cac6-ecca-b956229e207a}">
          <p14:sldIdLst>
            <p14:sldId id="256"/>
            <p14:sldId id="257"/>
            <p14:sldId id="258"/>
          </p14:sldIdLst>
        </p14:section>
        <p14:section name="The solution" id="{f46838ea-0165-bbeb-1f15-ba8fa95137da}">
          <p14:sldIdLst>
            <p14:sldId id="259"/>
            <p14:sldId id="260"/>
          </p14:sldIdLst>
        </p14:section>
        <p14:section name="Literature review and base paper" id="{b2e17ae4-833f-bbd5-2a59-7c070ee05d0c}">
          <p14:sldIdLst>
            <p14:sldId id="261"/>
            <p14:sldId id="262"/>
          </p14:sldIdLst>
        </p14:section>
        <p14:section name="Architecture and control system design" id="{3e47fff6-c7fb-8107-850c-aabc6ed4080c}">
          <p14:sldIdLst>
            <p14:sldId id="263"/>
            <p14:sldId id="264"/>
            <p14:sldId id="265"/>
            <p14:sldId id="266"/>
            <p14:sldId id="267"/>
            <p14:sldId id="268"/>
          </p14:sldIdLst>
        </p14:section>
        <p14:section name="Results" id="{c0845809-53b5-53e0-05ee-6bedbcf9f576}">
          <p14:sldIdLst>
            <p14:sldId id="269"/>
            <p14:sldId id="270"/>
            <p14:sldId id="271"/>
            <p14:sldId id="272"/>
            <p14:sldId id="273"/>
            <p14:sldId id="274"/>
          </p14:sldIdLst>
        </p14:section>
        <p14:section name="Base paper vs SwarmRide" id="{ff415674-26a2-a995-beb4-50d41a8ecd7c}">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today’s oil damper on every train bogie becomes a smart electromagnetic damper that makes its own power, tunes the ride to the live load, gets a bump warning from the locomotive, and powers safety sensors on the bogie.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gaps (track, bearings, couplings) and three engineering gaps (comfort falls with load, energy wasted, no power on wagons). One device can close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the Casnub wagon bogie, a goods train and an LHB air spring. Our Stage 1 simulation of today’s trains shows the two engineering gaps: fixed dampers lose damping as load rises, and all suspension energy becomes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concept: a magnet moving through a coil makes electricity, and the current drawn sets how firm the damper is. Right, the physical model we simulate: an LHB half-coach with 4 degrees of freedom (body bounce and pitch, front and rear bogie). On each bogie the smart damper sits beside the air spring, in the same place and on the same mounts as today's oil damper. Design C is a ball screw driving a magnet generator, two per bogie, with a damping range of 0 to 246 kN s/m per bogie; if anything fails, the coil is switched onto resistors that give today's 35 kN s/m. So one device harvests, controls the ride, takes the preview, powers the sensors and fails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locomotive 20 m, LHB coach 23.5 m, measured to each coach’s front bogie. The controller runs at 100 Hz, so even coach 1 gets 50 steps to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10.1109/TVT.2012.2229308 (Li, Zuo, Luhrs, Lin, Qin 2013); 10.1109/TVT.2022.3149265 (Hua, Cai, Zhu 2022, base paper); 10.1177/1045389X231200146 (Dong et al. 2024); 10.1109/TTE.2023.3314056 (Tao et al. 2024); 10.1109/TTE.2024.3481067 (Cheng et al. 2025); 10.1109/TMECH.2025.3582402 (Xia, Ning et al. 2025). The field moved from car shock absorbers (2013) to train suspensions (2022) and now to self-powered dampers with supercapacitor management (2025). No paper combines load-scheduled control, train-wide preview, active push, a full-day power bank and self-powered health sensing on Indian rolling stock — that is SwarmRide’s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10.1109/TVT.2022.3149265, summary from the published abstract. Why this base paper: it is the IEEE Transactions paper closest to our idea — an electromagnetic damper on a train suspension that both controls vibration and harvests energy. Their controller is an LQG target force tracked semi-actively. We keep their core idea and extend it in five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levels top to bottom. The key architectural point versus the base paper: the harvested energy is stored and used on the bogie itself, so goods wagons with no electricity can run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LHB and Vande Bharat: replaces the vertical secondary dampers beside the air springs; load from air-spring pressure. ICF: secondary dampers on the bolster springs. BOXN: beside or in place of the friction wedges, with a geared smart damper.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Outer loop: the state observer estimates body bounce, pitch and bogie motion; the LPV-LQR gain, blended between five load points by the measured load, gives the ideal force; the Train Brain preview adds a feed-forward term. The semi-active map turns F* into a damping command the damper can give (resist only), except inside a push window at a known bad spot (C4). Inner loop: a PI current controller with back-EMF feed-forward makes the coil current follow i* within 0.5 ms; the current is the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in three rows. Top, the vehicle controller (outer loop, 100 Hz): the track map and Train Brain give the preview feed-forward, the state feedback (LPV-LQR) uses the estimated coach state, and the load estimate schedules both gains. The force command goes through the semi-active conversion and the damping law, or, at a known bad spot, the push command; the C4 switch picks one, then the current limit. Middle, the damper drive (inner loop, 10 kHz): the PI current controller with back-EMF feed-forward, the voltage limit and the contactor drive the coil; the electromagnetic damper and the ball screw make the damper force on the half-coach vehicle, and the measured coil current is fed back. Bottom: harvested energy goes through the power electronics to the bogie's power bank; the fail-safe supervisor switches the contactor to the fail-safe resistors on a fault or a low bank; sensors and the state estimator close the outer loop. The Simulink version is SR_ControlDiagram.slx.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of controllers proves each idea separately. C1 is the same kind of approach as the base paper’s fixed-duty-cycle damper. C2 is the optimal controller made load-adaptive (LPV). C3 adds the Train Brain preview, C4 the active push. The inner PI loop with back-EMF feed-forward cancels the coil’s own pole, so the current follows its reference as a first-order lag of 0.5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is generated by a MATLAB script, so the whole project rebuilds from code. Half-coach 4-DOF model; same coach, same rail, only the damper changes. The test suite checks the model against hand calculations, an independent state-space model, energy conservation and step-size convergence: 85 of 85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 same rail, poor track; controller C3 (LPV-LQR + preview) against today’s damper. Today’s ride gets worse as passengers board, because a fixed damper is tuned for one load. SwarmRide’s line stays nearly flat. Lower Wz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head-to-head ladder. C1, a fixed harvester, already beats today’s damper but only at one setting. The optimal LPV controller C2 does better at every load, and the preview C3 adds a little more. Power into the bank stays at 33–38 W per coach bogie across Vande Bharat and LHB.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LHB, 160 km/h. A semi-active damper (like the base paper’s) can only resist, so it cannot act before the motion starts — that is why the preview added only 1–2% in Stage 3. In Stage 4 the same H-bridge drives the coil as a motor for about a second around a known bad spot, using banked energy. The Train Brain warning finally pays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simulator stepping the Simulink power-bank rules over 14–20 h, with power tables from Simulink. Honest finding: the slow ICF coach and all-smooth track still drain slowly, so they need a small top-up or a lower sensing rate. That is a design rule for the product, not a showstopper.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axle: illustrative bearing model, checkpoints every 250 km. The danger window between the alarm temperature and failure is about 30 minutes, much shorter than the 2.5 h between trackside checkpoints. A sensor riding on the bogie, powered by the damper, is the only reliable way. Wheel: eccentric 0.5 mm and three-lobed 0.3 mm; the damper’s coil voltage already contains the wheel’s signature, so no extra sensor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Design-C damper: 48 V servo, 25 mm × 10 mm ball screw, 8 kN, 60 V / 46 A drive, 10 F supercap. The bench model adds everything the coach model idealised: a 10 kHz current loop with a voltage limit, inverter and DC-DC losses, a contactor that takes 20 ms, and winding heat. It still predicts the same power into the bank, and the fail-safe gives exactly today’s damping. The C firmware matches MATLAB on 2,700 test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base paper’s core idea — one electromagnetic device that both controls vibration and harvests energy on a train — and add the capabilities highlighted in teal: look-ahead, push, a power bank that actually runs the bogie, safety sensing, plus a hardware fail-safe and a verified firmware path to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the examiners: the base paper studies lateral ride at higher speeds, so their watts and ours are not a like-for-like contest. The comparison that matters is architectural, and our own controller ladder (C0 to C4) shows each new capability’s value on the same coach and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line. One part swapped, same mounts, fail-safe to today’s damper. Freight wagons have no electricity today; SwarmRide makes every wagon self-powered and watched. Passenger coaches get a ride tuned to their load and to the bump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 criteria: tests T1–T8 within their bands, T9 under the trip temperature, and the hardware-in-the-loop run at least 10% better than today’s damper. Then a field run on one LHB bogie with RDSO.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promise and invite questions. The website and repository have every model, result, the firmware and the bench prototype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5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A8520F"/>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13233A"/>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6B7686"/>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F0974A"/>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F7F5F0"/>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9AA8BC"/>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3233A"/>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CENT">
    <p:bg>
      <p:bgPr>
        <a:solidFill>
          <a:srgbClr val="E07A1F"/>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13233A"/>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b" descr="Vande Bharat train at a platform">    </p:cNvPr>
          <p:cNvPicPr>
            <a:picLocks noChangeAspect="1"/>
          </p:cNvPicPr>
          <p:nvPr/>
        </p:nvPicPr>
        <p:blipFill>
          <a:blip r:embed="rId1">
            <a:alphaModFix amt="55000"/>
          </a:blip>
          <a:srcRect l="0" r="0" t="0" b="0"/>
          <a:stretch/>
        </p:blipFill>
        <p:spPr>
          <a:xfrm>
            <a:off x="7498080" y="0"/>
            <a:ext cx="4693615" cy="6858000"/>
          </a:xfrm>
          <a:prstGeom prst="rect">
            <a:avLst/>
          </a:prstGeom>
        </p:spPr>
      </p:pic>
      <p:sp>
        <p:nvSpPr>
          <p:cNvPr id="3" name="Text 0"/>
          <p:cNvSpPr txBox="1"/>
          <p:nvPr/>
        </p:nvSpPr>
        <p:spPr>
          <a:xfrm>
            <a:off x="548640" y="685800"/>
            <a:ext cx="6949440" cy="365760"/>
          </a:xfrm>
          <a:prstGeom prst="rect">
            <a:avLst/>
          </a:prstGeom>
          <a:noFill/>
          <a:ln/>
        </p:spPr>
        <p:txBody>
          <a:bodyPr wrap="square" lIns="0" tIns="0" rIns="0" bIns="0" rtlCol="0" anchor="t"/>
          <a:lstStyle/>
          <a:p>
            <a:pPr indent="0" marL="0">
              <a:buNone/>
            </a:pPr>
            <a:r>
              <a:rPr lang="en-US" sz="1400" b="1" spc="300" kern="0" dirty="0">
                <a:solidFill>
                  <a:srgbClr val="F0974A"/>
                </a:solidFill>
              </a:rPr>
              <a:t>CONTROL SYSTEMS · PROJECT REVIEW</a:t>
            </a:r>
            <a:endParaRPr lang="en-US" sz="1400" dirty="0"/>
          </a:p>
        </p:txBody>
      </p:sp>
      <p:sp>
        <p:nvSpPr>
          <p:cNvPr id="4" name="Text 1"/>
          <p:cNvSpPr txBox="1"/>
          <p:nvPr/>
        </p:nvSpPr>
        <p:spPr>
          <a:xfrm>
            <a:off x="548640" y="1097280"/>
            <a:ext cx="6949440" cy="1097280"/>
          </a:xfrm>
          <a:prstGeom prst="rect">
            <a:avLst/>
          </a:prstGeom>
          <a:noFill/>
          <a:ln/>
        </p:spPr>
        <p:txBody>
          <a:bodyPr wrap="square" lIns="0" tIns="0" rIns="0" bIns="0" rtlCol="0" anchor="t"/>
          <a:lstStyle/>
          <a:p>
            <a:pPr indent="0" marL="0">
              <a:buNone/>
            </a:pPr>
            <a:r>
              <a:rPr lang="en-US" sz="6000" b="1" dirty="0">
                <a:solidFill>
                  <a:srgbClr val="F7F5F0"/>
                </a:solidFill>
                <a:latin typeface="Calibri" pitchFamily="34" charset="0"/>
                <a:ea typeface="Calibri" pitchFamily="34" charset="-122"/>
                <a:cs typeface="Calibri" pitchFamily="34" charset="-120"/>
              </a:rPr>
              <a:t>SwarmRide </a:t>
            </a:r>
            <a:pPr indent="0" marL="0">
              <a:buNone/>
            </a:pPr>
            <a:r>
              <a:rPr lang="en-US" sz="6000" b="1" dirty="0">
                <a:solidFill>
                  <a:srgbClr val="F0974A"/>
                </a:solidFill>
                <a:latin typeface="Calibri" pitchFamily="34" charset="0"/>
                <a:ea typeface="Calibri" pitchFamily="34" charset="-122"/>
                <a:cs typeface="Calibri" pitchFamily="34" charset="-120"/>
              </a:rPr>
              <a:t>Bharat</a:t>
            </a:r>
            <a:endParaRPr lang="en-US" sz="6000" dirty="0"/>
          </a:p>
        </p:txBody>
      </p:sp>
      <p:sp>
        <p:nvSpPr>
          <p:cNvPr id="5" name="Text 2"/>
          <p:cNvSpPr txBox="1"/>
          <p:nvPr/>
        </p:nvSpPr>
        <p:spPr>
          <a:xfrm>
            <a:off x="548640" y="2286000"/>
            <a:ext cx="6766560" cy="1188720"/>
          </a:xfrm>
          <a:prstGeom prst="rect">
            <a:avLst/>
          </a:prstGeom>
          <a:noFill/>
          <a:ln/>
        </p:spPr>
        <p:txBody>
          <a:bodyPr wrap="square" lIns="0" tIns="0" rIns="0" bIns="0" rtlCol="0" anchor="t"/>
          <a:lstStyle/>
          <a:p>
            <a:pPr indent="0" marL="0">
              <a:buNone/>
            </a:pPr>
            <a:r>
              <a:rPr lang="en-US" sz="1800" dirty="0">
                <a:solidFill>
                  <a:srgbClr val="C9D3E2"/>
                </a:solidFill>
              </a:rPr>
              <a:t>A self-powered, load-adaptive, train-synchronised suspension for Indian Railways — the damper that harvests energy, tunes the ride, and watches the bogie’s safety.</a:t>
            </a:r>
            <a:endParaRPr lang="en-US" sz="1800" dirty="0"/>
          </a:p>
        </p:txBody>
      </p:sp>
      <p:sp>
        <p:nvSpPr>
          <p:cNvPr id="6" name="Shape 3"/>
          <p:cNvSpPr/>
          <p:nvPr/>
        </p:nvSpPr>
        <p:spPr>
          <a:xfrm>
            <a:off x="548640" y="3886200"/>
            <a:ext cx="3246120" cy="822960"/>
          </a:xfrm>
          <a:prstGeom prst="roundRect">
            <a:avLst>
              <a:gd name="adj" fmla="val 11111"/>
            </a:avLst>
          </a:prstGeom>
          <a:solidFill>
            <a:srgbClr val="1E3557"/>
          </a:solidFill>
          <a:ln/>
        </p:spPr>
      </p:sp>
      <p:sp>
        <p:nvSpPr>
          <p:cNvPr id="7" name="Text 4"/>
          <p:cNvSpPr txBox="1"/>
          <p:nvPr/>
        </p:nvSpPr>
        <p:spPr>
          <a:xfrm>
            <a:off x="77724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Jaganath</a:t>
            </a:r>
            <a:endParaRPr lang="en-US" sz="1800" dirty="0"/>
          </a:p>
        </p:txBody>
      </p:sp>
      <p:sp>
        <p:nvSpPr>
          <p:cNvPr id="8" name="Text 5"/>
          <p:cNvSpPr txBox="1"/>
          <p:nvPr/>
        </p:nvSpPr>
        <p:spPr>
          <a:xfrm>
            <a:off x="77724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CB.AI.U4AID24021</a:t>
            </a:r>
            <a:endParaRPr lang="en-US" sz="1300" dirty="0"/>
          </a:p>
        </p:txBody>
      </p:sp>
      <p:sp>
        <p:nvSpPr>
          <p:cNvPr id="9" name="Shape 6"/>
          <p:cNvSpPr/>
          <p:nvPr/>
        </p:nvSpPr>
        <p:spPr>
          <a:xfrm>
            <a:off x="3931920" y="3886200"/>
            <a:ext cx="3246120" cy="822960"/>
          </a:xfrm>
          <a:prstGeom prst="roundRect">
            <a:avLst>
              <a:gd name="adj" fmla="val 11111"/>
            </a:avLst>
          </a:prstGeom>
          <a:solidFill>
            <a:srgbClr val="1E3557"/>
          </a:solidFill>
          <a:ln/>
        </p:spPr>
      </p:sp>
      <p:sp>
        <p:nvSpPr>
          <p:cNvPr id="10" name="Text 7"/>
          <p:cNvSpPr txBox="1"/>
          <p:nvPr/>
        </p:nvSpPr>
        <p:spPr>
          <a:xfrm>
            <a:off x="416052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Niranjan</a:t>
            </a:r>
            <a:endParaRPr lang="en-US" sz="1800" dirty="0"/>
          </a:p>
        </p:txBody>
      </p:sp>
      <p:sp>
        <p:nvSpPr>
          <p:cNvPr id="11" name="Text 8"/>
          <p:cNvSpPr txBox="1"/>
          <p:nvPr/>
        </p:nvSpPr>
        <p:spPr>
          <a:xfrm>
            <a:off x="416052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CB.AI.U4AID24035</a:t>
            </a:r>
            <a:endParaRPr lang="en-US" sz="1300" dirty="0"/>
          </a:p>
        </p:txBody>
      </p:sp>
      <p:sp>
        <p:nvSpPr>
          <p:cNvPr id="12" name="Shape 9"/>
          <p:cNvSpPr/>
          <p:nvPr/>
        </p:nvSpPr>
        <p:spPr>
          <a:xfrm>
            <a:off x="548640" y="4846320"/>
            <a:ext cx="3246120" cy="822960"/>
          </a:xfrm>
          <a:prstGeom prst="roundRect">
            <a:avLst>
              <a:gd name="adj" fmla="val 11111"/>
            </a:avLst>
          </a:prstGeom>
          <a:solidFill>
            <a:srgbClr val="1E3557"/>
          </a:solidFill>
          <a:ln/>
        </p:spPr>
      </p:sp>
      <p:sp>
        <p:nvSpPr>
          <p:cNvPr id="13" name="Text 10"/>
          <p:cNvSpPr txBox="1"/>
          <p:nvPr/>
        </p:nvSpPr>
        <p:spPr>
          <a:xfrm>
            <a:off x="77724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Kowshik</a:t>
            </a:r>
            <a:endParaRPr lang="en-US" sz="1800" dirty="0"/>
          </a:p>
        </p:txBody>
      </p:sp>
      <p:sp>
        <p:nvSpPr>
          <p:cNvPr id="14" name="Text 11"/>
          <p:cNvSpPr txBox="1"/>
          <p:nvPr/>
        </p:nvSpPr>
        <p:spPr>
          <a:xfrm>
            <a:off x="77724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CB.AI.U4AID24036</a:t>
            </a:r>
            <a:endParaRPr lang="en-US" sz="1300" dirty="0"/>
          </a:p>
        </p:txBody>
      </p:sp>
      <p:sp>
        <p:nvSpPr>
          <p:cNvPr id="15" name="Shape 12"/>
          <p:cNvSpPr/>
          <p:nvPr/>
        </p:nvSpPr>
        <p:spPr>
          <a:xfrm>
            <a:off x="3931920" y="4846320"/>
            <a:ext cx="3246120" cy="822960"/>
          </a:xfrm>
          <a:prstGeom prst="roundRect">
            <a:avLst>
              <a:gd name="adj" fmla="val 11111"/>
            </a:avLst>
          </a:prstGeom>
          <a:solidFill>
            <a:srgbClr val="1E3557"/>
          </a:solidFill>
          <a:ln/>
        </p:spPr>
      </p:sp>
      <p:sp>
        <p:nvSpPr>
          <p:cNvPr id="16" name="Text 13"/>
          <p:cNvSpPr txBox="1"/>
          <p:nvPr/>
        </p:nvSpPr>
        <p:spPr>
          <a:xfrm>
            <a:off x="416052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Sangeeth</a:t>
            </a:r>
            <a:endParaRPr lang="en-US" sz="1800" dirty="0"/>
          </a:p>
        </p:txBody>
      </p:sp>
      <p:sp>
        <p:nvSpPr>
          <p:cNvPr id="17" name="Text 14"/>
          <p:cNvSpPr txBox="1"/>
          <p:nvPr/>
        </p:nvSpPr>
        <p:spPr>
          <a:xfrm>
            <a:off x="416052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CB.AI.U4AID24050</a:t>
            </a:r>
            <a:endParaRPr lang="en-US" sz="1300" dirty="0"/>
          </a:p>
        </p:txBody>
      </p:sp>
      <p:sp>
        <p:nvSpPr>
          <p:cNvPr id="18" name="Text 15"/>
          <p:cNvSpPr txBox="1"/>
          <p:nvPr/>
        </p:nvSpPr>
        <p:spPr>
          <a:xfrm>
            <a:off x="548640" y="5943600"/>
            <a:ext cx="6949440" cy="320040"/>
          </a:xfrm>
          <a:prstGeom prst="rect">
            <a:avLst/>
          </a:prstGeom>
          <a:noFill/>
          <a:ln/>
        </p:spPr>
        <p:txBody>
          <a:bodyPr wrap="square" lIns="0" tIns="0" rIns="0" bIns="0" rtlCol="0" anchor="t"/>
          <a:lstStyle/>
          <a:p>
            <a:pPr indent="0" marL="0">
              <a:buNone/>
            </a:pPr>
            <a:r>
              <a:rPr lang="en-US" sz="1300" dirty="0">
                <a:solidFill>
                  <a:srgbClr val="C9D3E2"/>
                </a:solidFill>
              </a:rPr>
              <a:t>Amrita School of Artificial Intelligence, Coimbatore · Amrita Vishwa Vidyapeetham, India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F0974A"/>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F7F5F0"/>
                </a:solidFill>
              </a:rPr>
              <a:t>Today’s dampers waste energy, ride worse when the coach is full, and see nothing</a:t>
            </a:r>
            <a:endParaRPr lang="en-US" sz="3000" dirty="0"/>
          </a:p>
        </p:txBody>
      </p:sp>
      <p:sp>
        <p:nvSpPr>
          <p:cNvPr id="4" name="Shape 2"/>
          <p:cNvSpPr/>
          <p:nvPr/>
        </p:nvSpPr>
        <p:spPr>
          <a:xfrm>
            <a:off x="548640" y="1828800"/>
            <a:ext cx="3545738" cy="2011680"/>
          </a:xfrm>
          <a:prstGeom prst="roundRect">
            <a:avLst>
              <a:gd name="adj" fmla="val 4545"/>
            </a:avLst>
          </a:prstGeom>
          <a:solidFill>
            <a:srgbClr val="1E3557"/>
          </a:solidFill>
          <a:ln/>
        </p:spPr>
      </p:sp>
      <p:sp>
        <p:nvSpPr>
          <p:cNvPr id="5" name="Text 3"/>
          <p:cNvSpPr txBox="1"/>
          <p:nvPr/>
        </p:nvSpPr>
        <p:spPr>
          <a:xfrm>
            <a:off x="822960"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171</a:t>
            </a:r>
            <a:endParaRPr lang="en-US" sz="3600" dirty="0"/>
          </a:p>
        </p:txBody>
      </p:sp>
      <p:sp>
        <p:nvSpPr>
          <p:cNvPr id="6" name="Text 4"/>
          <p:cNvSpPr txBox="1"/>
          <p:nvPr/>
        </p:nvSpPr>
        <p:spPr>
          <a:xfrm>
            <a:off x="822960"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derailments from poor track maintenance, 2017–21</a:t>
            </a:r>
            <a:endParaRPr lang="en-US" sz="1500" dirty="0"/>
          </a:p>
        </p:txBody>
      </p:sp>
      <p:sp>
        <p:nvSpPr>
          <p:cNvPr id="7" name="Text 5"/>
          <p:cNvSpPr txBox="1"/>
          <p:nvPr/>
        </p:nvSpPr>
        <p:spPr>
          <a:xfrm>
            <a:off x="822960"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CAG Report 22 of 2022</a:t>
            </a:r>
            <a:endParaRPr lang="en-US" sz="1200" dirty="0"/>
          </a:p>
        </p:txBody>
      </p:sp>
      <p:sp>
        <p:nvSpPr>
          <p:cNvPr id="8" name="Shape 6"/>
          <p:cNvSpPr/>
          <p:nvPr/>
        </p:nvSpPr>
        <p:spPr>
          <a:xfrm>
            <a:off x="4322978" y="1828800"/>
            <a:ext cx="3545738" cy="2011680"/>
          </a:xfrm>
          <a:prstGeom prst="roundRect">
            <a:avLst>
              <a:gd name="adj" fmla="val 4545"/>
            </a:avLst>
          </a:prstGeom>
          <a:solidFill>
            <a:srgbClr val="1E3557"/>
          </a:solidFill>
          <a:ln/>
        </p:spPr>
      </p:sp>
      <p:sp>
        <p:nvSpPr>
          <p:cNvPr id="9" name="Text 7"/>
          <p:cNvSpPr txBox="1"/>
          <p:nvPr/>
        </p:nvSpPr>
        <p:spPr>
          <a:xfrm>
            <a:off x="4597298"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 3 / day</a:t>
            </a:r>
            <a:endParaRPr lang="en-US" sz="3600" dirty="0"/>
          </a:p>
        </p:txBody>
      </p:sp>
      <p:sp>
        <p:nvSpPr>
          <p:cNvPr id="10" name="Text 8"/>
          <p:cNvSpPr txBox="1"/>
          <p:nvPr/>
        </p:nvSpPr>
        <p:spPr>
          <a:xfrm>
            <a:off x="4597298"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hot-axle cases, checked at only ~25 trackside sites</a:t>
            </a:r>
            <a:endParaRPr lang="en-US" sz="1500" dirty="0"/>
          </a:p>
        </p:txBody>
      </p:sp>
      <p:sp>
        <p:nvSpPr>
          <p:cNvPr id="11" name="Text 9"/>
          <p:cNvSpPr txBox="1"/>
          <p:nvPr/>
        </p:nvSpPr>
        <p:spPr>
          <a:xfrm>
            <a:off x="4597298"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Railway Board, 2025</a:t>
            </a:r>
            <a:endParaRPr lang="en-US" sz="1200" dirty="0"/>
          </a:p>
        </p:txBody>
      </p:sp>
      <p:sp>
        <p:nvSpPr>
          <p:cNvPr id="12" name="Shape 10"/>
          <p:cNvSpPr/>
          <p:nvPr/>
        </p:nvSpPr>
        <p:spPr>
          <a:xfrm>
            <a:off x="8097317" y="1828800"/>
            <a:ext cx="3545738" cy="2011680"/>
          </a:xfrm>
          <a:prstGeom prst="roundRect">
            <a:avLst>
              <a:gd name="adj" fmla="val 4545"/>
            </a:avLst>
          </a:prstGeom>
          <a:solidFill>
            <a:srgbClr val="1E3557"/>
          </a:solidFill>
          <a:ln/>
        </p:spPr>
      </p:sp>
      <p:sp>
        <p:nvSpPr>
          <p:cNvPr id="13" name="Text 11"/>
          <p:cNvSpPr txBox="1"/>
          <p:nvPr/>
        </p:nvSpPr>
        <p:spPr>
          <a:xfrm>
            <a:off x="8371637"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643</a:t>
            </a:r>
            <a:endParaRPr lang="en-US" sz="3600" dirty="0"/>
          </a:p>
        </p:txBody>
      </p:sp>
      <p:sp>
        <p:nvSpPr>
          <p:cNvPr id="14" name="Text 12"/>
          <p:cNvSpPr txBox="1"/>
          <p:nvPr/>
        </p:nvSpPr>
        <p:spPr>
          <a:xfrm>
            <a:off x="8371637"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train partings + 2,059 wagon detachments, 2018–19</a:t>
            </a:r>
            <a:endParaRPr lang="en-US" sz="1500" dirty="0"/>
          </a:p>
        </p:txBody>
      </p:sp>
      <p:sp>
        <p:nvSpPr>
          <p:cNvPr id="15" name="Text 13"/>
          <p:cNvSpPr txBox="1"/>
          <p:nvPr/>
        </p:nvSpPr>
        <p:spPr>
          <a:xfrm>
            <a:off x="8371637"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Seen only at the last wagon</a:t>
            </a:r>
            <a:endParaRPr lang="en-US" sz="1200" dirty="0"/>
          </a:p>
        </p:txBody>
      </p:sp>
      <p:sp>
        <p:nvSpPr>
          <p:cNvPr id="16" name="Shape 14"/>
          <p:cNvSpPr/>
          <p:nvPr/>
        </p:nvSpPr>
        <p:spPr>
          <a:xfrm>
            <a:off x="548640" y="4069080"/>
            <a:ext cx="3545738" cy="2011680"/>
          </a:xfrm>
          <a:prstGeom prst="roundRect">
            <a:avLst>
              <a:gd name="adj" fmla="val 4545"/>
            </a:avLst>
          </a:prstGeom>
          <a:solidFill>
            <a:srgbClr val="1E3557"/>
          </a:solidFill>
          <a:ln/>
        </p:spPr>
      </p:sp>
      <p:sp>
        <p:nvSpPr>
          <p:cNvPr id="17" name="Text 15"/>
          <p:cNvSpPr txBox="1"/>
          <p:nvPr/>
        </p:nvSpPr>
        <p:spPr>
          <a:xfrm>
            <a:off x="822960"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17–30%</a:t>
            </a:r>
            <a:endParaRPr lang="en-US" sz="3600" dirty="0"/>
          </a:p>
        </p:txBody>
      </p:sp>
      <p:sp>
        <p:nvSpPr>
          <p:cNvPr id="18" name="Text 16"/>
          <p:cNvSpPr txBox="1"/>
          <p:nvPr/>
        </p:nvSpPr>
        <p:spPr>
          <a:xfrm>
            <a:off x="822960"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damping lost as a fixed-damper coach fills up</a:t>
            </a:r>
            <a:endParaRPr lang="en-US" sz="1500" dirty="0"/>
          </a:p>
        </p:txBody>
      </p:sp>
      <p:sp>
        <p:nvSpPr>
          <p:cNvPr id="19" name="Text 17"/>
          <p:cNvSpPr txBox="1"/>
          <p:nvPr/>
        </p:nvSpPr>
        <p:spPr>
          <a:xfrm>
            <a:off x="822960"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Our simulation, Stage 1</a:t>
            </a:r>
            <a:endParaRPr lang="en-US" sz="1200" dirty="0"/>
          </a:p>
        </p:txBody>
      </p:sp>
      <p:sp>
        <p:nvSpPr>
          <p:cNvPr id="20" name="Shape 18"/>
          <p:cNvSpPr/>
          <p:nvPr/>
        </p:nvSpPr>
        <p:spPr>
          <a:xfrm>
            <a:off x="4322978" y="4069080"/>
            <a:ext cx="3545738" cy="2011680"/>
          </a:xfrm>
          <a:prstGeom prst="roundRect">
            <a:avLst>
              <a:gd name="adj" fmla="val 4545"/>
            </a:avLst>
          </a:prstGeom>
          <a:solidFill>
            <a:srgbClr val="1E3557"/>
          </a:solidFill>
          <a:ln/>
        </p:spPr>
      </p:sp>
      <p:sp>
        <p:nvSpPr>
          <p:cNvPr id="21" name="Text 19"/>
          <p:cNvSpPr txBox="1"/>
          <p:nvPr/>
        </p:nvSpPr>
        <p:spPr>
          <a:xfrm>
            <a:off x="4597298"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20–90 W</a:t>
            </a:r>
            <a:endParaRPr lang="en-US" sz="3600" dirty="0"/>
          </a:p>
        </p:txBody>
      </p:sp>
      <p:sp>
        <p:nvSpPr>
          <p:cNvPr id="22" name="Text 20"/>
          <p:cNvSpPr txBox="1"/>
          <p:nvPr/>
        </p:nvSpPr>
        <p:spPr>
          <a:xfrm>
            <a:off x="4597298"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per coach bogie burned as heat by today’s dampers</a:t>
            </a:r>
            <a:endParaRPr lang="en-US" sz="1500" dirty="0"/>
          </a:p>
        </p:txBody>
      </p:sp>
      <p:sp>
        <p:nvSpPr>
          <p:cNvPr id="23" name="Text 21"/>
          <p:cNvSpPr txBox="1"/>
          <p:nvPr/>
        </p:nvSpPr>
        <p:spPr>
          <a:xfrm>
            <a:off x="4597298"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 210 W per loaded wagon bogie · Stage 1</a:t>
            </a:r>
            <a:endParaRPr lang="en-US" sz="1200" dirty="0"/>
          </a:p>
        </p:txBody>
      </p:sp>
      <p:sp>
        <p:nvSpPr>
          <p:cNvPr id="24" name="Shape 22"/>
          <p:cNvSpPr/>
          <p:nvPr/>
        </p:nvSpPr>
        <p:spPr>
          <a:xfrm>
            <a:off x="8097317" y="4069080"/>
            <a:ext cx="3545738" cy="2011680"/>
          </a:xfrm>
          <a:prstGeom prst="roundRect">
            <a:avLst>
              <a:gd name="adj" fmla="val 4545"/>
            </a:avLst>
          </a:prstGeom>
          <a:solidFill>
            <a:srgbClr val="1E3557"/>
          </a:solidFill>
          <a:ln/>
        </p:spPr>
      </p:sp>
      <p:sp>
        <p:nvSpPr>
          <p:cNvPr id="25" name="Text 23"/>
          <p:cNvSpPr txBox="1"/>
          <p:nvPr/>
        </p:nvSpPr>
        <p:spPr>
          <a:xfrm>
            <a:off x="8371637"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0 W</a:t>
            </a:r>
            <a:endParaRPr lang="en-US" sz="3600" dirty="0"/>
          </a:p>
        </p:txBody>
      </p:sp>
      <p:sp>
        <p:nvSpPr>
          <p:cNvPr id="26" name="Text 24"/>
          <p:cNvSpPr txBox="1"/>
          <p:nvPr/>
        </p:nvSpPr>
        <p:spPr>
          <a:xfrm>
            <a:off x="8371637"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electricity on goods wagons — so no sensors at all</a:t>
            </a:r>
            <a:endParaRPr lang="en-US" sz="1500" dirty="0"/>
          </a:p>
        </p:txBody>
      </p:sp>
      <p:sp>
        <p:nvSpPr>
          <p:cNvPr id="27" name="Text 25"/>
          <p:cNvSpPr txBox="1"/>
          <p:nvPr/>
        </p:nvSpPr>
        <p:spPr>
          <a:xfrm>
            <a:off x="8371637"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Indian Railways freight stock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Today’s bogie: a passive damper tuned for one load</a:t>
            </a:r>
            <a:endParaRPr lang="en-US" sz="3000" dirty="0"/>
          </a:p>
        </p:txBody>
      </p:sp>
      <p:pic>
        <p:nvPicPr>
          <p:cNvPr id="4" name="casnub" descr="Casnub bogie of a BOXN goods wagon">    </p:cNvPr>
          <p:cNvPicPr>
            <a:picLocks noChangeAspect="1"/>
          </p:cNvPicPr>
          <p:nvPr/>
        </p:nvPicPr>
        <p:blipFill>
          <a:blip r:embed="rId1"/>
          <a:srcRect l="0" r="0" t="0" b="0"/>
          <a:stretch/>
        </p:blipFill>
        <p:spPr>
          <a:xfrm>
            <a:off x="548640" y="1600200"/>
            <a:ext cx="3576218" cy="1828800"/>
          </a:xfrm>
          <a:prstGeom prst="rect">
            <a:avLst/>
          </a:prstGeom>
        </p:spPr>
      </p:pic>
      <p:pic>
        <p:nvPicPr>
          <p:cNvPr id="5" name="goods" descr="Indian goods train">    </p:cNvPr>
          <p:cNvPicPr>
            <a:picLocks noChangeAspect="1"/>
          </p:cNvPicPr>
          <p:nvPr/>
        </p:nvPicPr>
        <p:blipFill>
          <a:blip r:embed="rId2"/>
          <a:srcRect l="0" r="0" t="0" b="0"/>
          <a:stretch/>
        </p:blipFill>
        <p:spPr>
          <a:xfrm>
            <a:off x="4307738" y="1600200"/>
            <a:ext cx="3576218" cy="1828800"/>
          </a:xfrm>
          <a:prstGeom prst="rect">
            <a:avLst/>
          </a:prstGeom>
        </p:spPr>
      </p:pic>
      <p:pic>
        <p:nvPicPr>
          <p:cNvPr id="6" name="air" descr="LHB coach bogie air spring">    </p:cNvPr>
          <p:cNvPicPr>
            <a:picLocks noChangeAspect="1"/>
          </p:cNvPicPr>
          <p:nvPr/>
        </p:nvPicPr>
        <p:blipFill>
          <a:blip r:embed="rId3"/>
          <a:srcRect l="0" r="0" t="0" b="0"/>
          <a:stretch/>
        </p:blipFill>
        <p:spPr>
          <a:xfrm>
            <a:off x="8066837" y="1600200"/>
            <a:ext cx="3576218" cy="1828800"/>
          </a:xfrm>
          <a:prstGeom prst="rect">
            <a:avLst/>
          </a:prstGeom>
        </p:spPr>
      </p:pic>
      <p:sp>
        <p:nvSpPr>
          <p:cNvPr id="7" name="zeta frame"/>
          <p:cNvSpPr/>
          <p:nvPr/>
        </p:nvSpPr>
        <p:spPr>
          <a:xfrm>
            <a:off x="548640" y="3611880"/>
            <a:ext cx="5410048" cy="2240280"/>
          </a:xfrm>
          <a:prstGeom prst="roundRect">
            <a:avLst>
              <a:gd name="adj" fmla="val 3265"/>
            </a:avLst>
          </a:prstGeom>
          <a:solidFill>
            <a:srgbClr val="FFFFFF"/>
          </a:solidFill>
          <a:ln w="9525">
            <a:solidFill>
              <a:srgbClr val="E3E0D6"/>
            </a:solidFill>
            <a:prstDash val="solid"/>
          </a:ln>
        </p:spPr>
      </p:sp>
      <p:pic>
        <p:nvPicPr>
          <p:cNvPr id="8" name="zeta" descr="Damping ratio falls as load rises on LHB, Vande Bharat and ICF">    </p:cNvPr>
          <p:cNvPicPr>
            <a:picLocks noChangeAspect="1"/>
          </p:cNvPicPr>
          <p:nvPr/>
        </p:nvPicPr>
        <p:blipFill>
          <a:blip r:embed="rId4"/>
          <a:stretch>
            <a:fillRect/>
          </a:stretch>
        </p:blipFill>
        <p:spPr>
          <a:xfrm>
            <a:off x="1287653" y="3685032"/>
            <a:ext cx="3932022" cy="2093976"/>
          </a:xfrm>
          <a:prstGeom prst="rect">
            <a:avLst/>
          </a:prstGeom>
        </p:spPr>
      </p:pic>
      <p:sp>
        <p:nvSpPr>
          <p:cNvPr id="9" name="heat frame"/>
          <p:cNvSpPr/>
          <p:nvPr/>
        </p:nvSpPr>
        <p:spPr>
          <a:xfrm>
            <a:off x="6233008" y="3611880"/>
            <a:ext cx="5410048" cy="2240280"/>
          </a:xfrm>
          <a:prstGeom prst="roundRect">
            <a:avLst>
              <a:gd name="adj" fmla="val 3265"/>
            </a:avLst>
          </a:prstGeom>
          <a:solidFill>
            <a:srgbClr val="FFFFFF"/>
          </a:solidFill>
          <a:ln w="9525">
            <a:solidFill>
              <a:srgbClr val="E3E0D6"/>
            </a:solidFill>
            <a:prstDash val="solid"/>
          </a:ln>
        </p:spPr>
      </p:sp>
      <p:pic>
        <p:nvPicPr>
          <p:cNvPr id="10" name="heat" descr="Heat wasted by today's dampers per bogie">    </p:cNvPr>
          <p:cNvPicPr>
            <a:picLocks noChangeAspect="1"/>
          </p:cNvPicPr>
          <p:nvPr/>
        </p:nvPicPr>
        <p:blipFill>
          <a:blip r:embed="rId5"/>
          <a:stretch>
            <a:fillRect/>
          </a:stretch>
        </p:blipFill>
        <p:spPr>
          <a:xfrm>
            <a:off x="6886287" y="3685032"/>
            <a:ext cx="4103489" cy="2093976"/>
          </a:xfrm>
          <a:prstGeom prst="rect">
            <a:avLst/>
          </a:prstGeom>
        </p:spPr>
      </p:pic>
      <p:sp>
        <p:nvSpPr>
          <p:cNvPr id="11" name="Text 4"/>
          <p:cNvSpPr txBox="1"/>
          <p:nvPr/>
        </p:nvSpPr>
        <p:spPr>
          <a:xfrm>
            <a:off x="548640"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Comfort falls with load: </a:t>
            </a:r>
            <a:pPr indent="0" marL="0">
              <a:buNone/>
            </a:pPr>
            <a:r>
              <a:rPr lang="en-US" sz="1400" dirty="0">
                <a:solidFill>
                  <a:srgbClr val="3D4A5C"/>
                </a:solidFill>
              </a:rPr>
              <a:t>damping ratio 0.14 → 0.10 on LHB as passengers board.</a:t>
            </a:r>
            <a:endParaRPr lang="en-US" sz="1400" dirty="0"/>
          </a:p>
        </p:txBody>
      </p:sp>
      <p:sp>
        <p:nvSpPr>
          <p:cNvPr id="12" name="Text 5"/>
          <p:cNvSpPr txBox="1"/>
          <p:nvPr/>
        </p:nvSpPr>
        <p:spPr>
          <a:xfrm>
            <a:off x="6233008"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Energy thrown away: </a:t>
            </a:r>
            <a:pPr indent="0" marL="0">
              <a:buNone/>
            </a:pPr>
            <a:r>
              <a:rPr lang="en-US" sz="1400" dirty="0">
                <a:solidFill>
                  <a:srgbClr val="3D4A5C"/>
                </a:solidFill>
              </a:rPr>
              <a:t>64–73 W per LHB bogie, 214 W per loaded BOXN bogie.</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One smart electromagnetic damper. Five jobs.</a:t>
            </a:r>
            <a:endParaRPr lang="en-US" sz="3000" dirty="0"/>
          </a:p>
        </p:txBody>
      </p:sp>
      <p:sp>
        <p:nvSpPr>
          <p:cNvPr id="4" name="damper frame"/>
          <p:cNvSpPr/>
          <p:nvPr/>
        </p:nvSpPr>
        <p:spPr>
          <a:xfrm>
            <a:off x="548640" y="1417320"/>
            <a:ext cx="5212080" cy="3611880"/>
          </a:xfrm>
          <a:prstGeom prst="roundRect">
            <a:avLst>
              <a:gd name="adj" fmla="val 2025"/>
            </a:avLst>
          </a:prstGeom>
          <a:solidFill>
            <a:srgbClr val="FFFFFF"/>
          </a:solidFill>
          <a:ln w="9525">
            <a:solidFill>
              <a:srgbClr val="E3E0D6"/>
            </a:solidFill>
            <a:prstDash val="solid"/>
          </a:ln>
        </p:spPr>
      </p:sp>
      <p:pic>
        <p:nvPicPr>
          <p:cNvPr id="5" name="damper" descr="Smart damper concept: magnet stack moving through a fixed copper coil">    </p:cNvPr>
          <p:cNvPicPr>
            <a:picLocks noChangeAspect="1"/>
          </p:cNvPicPr>
          <p:nvPr/>
        </p:nvPicPr>
        <p:blipFill>
          <a:blip r:embed="rId1"/>
          <a:stretch>
            <a:fillRect/>
          </a:stretch>
        </p:blipFill>
        <p:spPr>
          <a:xfrm>
            <a:off x="703623" y="1490472"/>
            <a:ext cx="4902113" cy="3465576"/>
          </a:xfrm>
          <a:prstGeom prst="rect">
            <a:avLst/>
          </a:prstGeom>
        </p:spPr>
      </p:pic>
      <p:sp>
        <p:nvSpPr>
          <p:cNvPr id="6" name="phys frame"/>
          <p:cNvSpPr/>
          <p:nvPr/>
        </p:nvSpPr>
        <p:spPr>
          <a:xfrm>
            <a:off x="5943600" y="1417320"/>
            <a:ext cx="5699455" cy="3611880"/>
          </a:xfrm>
          <a:prstGeom prst="roundRect">
            <a:avLst>
              <a:gd name="adj" fmla="val 2025"/>
            </a:avLst>
          </a:prstGeom>
          <a:solidFill>
            <a:srgbClr val="FFFFFF"/>
          </a:solidFill>
          <a:ln w="9525">
            <a:solidFill>
              <a:srgbClr val="E3E0D6"/>
            </a:solidFill>
            <a:prstDash val="solid"/>
          </a:ln>
        </p:spPr>
      </p:sp>
      <p:pic>
        <p:nvPicPr>
          <p:cNvPr id="7" name="phys" descr="Physical model: LHB half-coach with the smart electromagnetic damper in parallel with the air spring on each bogie">    </p:cNvPr>
          <p:cNvPicPr>
            <a:picLocks noChangeAspect="1"/>
          </p:cNvPicPr>
          <p:nvPr/>
        </p:nvPicPr>
        <p:blipFill>
          <a:blip r:embed="rId2"/>
          <a:stretch>
            <a:fillRect/>
          </a:stretch>
        </p:blipFill>
        <p:spPr>
          <a:xfrm>
            <a:off x="6104519" y="1490472"/>
            <a:ext cx="5377618" cy="3465576"/>
          </a:xfrm>
          <a:prstGeom prst="rect">
            <a:avLst/>
          </a:prstGeom>
        </p:spPr>
      </p:pic>
      <p:sp>
        <p:nvSpPr>
          <p:cNvPr id="8" name="Text 4"/>
          <p:cNvSpPr txBox="1"/>
          <p:nvPr/>
        </p:nvSpPr>
        <p:spPr>
          <a:xfrm>
            <a:off x="548640" y="5074920"/>
            <a:ext cx="5212080" cy="274320"/>
          </a:xfrm>
          <a:prstGeom prst="rect">
            <a:avLst/>
          </a:prstGeom>
          <a:noFill/>
          <a:ln/>
        </p:spPr>
        <p:txBody>
          <a:bodyPr wrap="square" lIns="0" tIns="0" rIns="0" bIns="0" rtlCol="0" anchor="t"/>
          <a:lstStyle/>
          <a:p>
            <a:pPr indent="0" marL="0">
              <a:buNone/>
            </a:pPr>
            <a:r>
              <a:rPr lang="en-US" sz="1200" b="1" dirty="0">
                <a:solidFill>
                  <a:srgbClr val="13233A"/>
                </a:solidFill>
              </a:rPr>
              <a:t>Concept: </a:t>
            </a:r>
            <a:pPr indent="0" marL="0">
              <a:buNone/>
            </a:pPr>
            <a:r>
              <a:rPr lang="en-US" sz="1200" dirty="0">
                <a:solidFill>
                  <a:srgbClr val="3D4A5C"/>
                </a:solidFill>
              </a:rPr>
              <a:t>a magnet moving through a coil</a:t>
            </a:r>
            <a:endParaRPr lang="en-US" sz="1200" dirty="0"/>
          </a:p>
        </p:txBody>
      </p:sp>
      <p:sp>
        <p:nvSpPr>
          <p:cNvPr id="9" name="Text 5"/>
          <p:cNvSpPr txBox="1"/>
          <p:nvPr/>
        </p:nvSpPr>
        <p:spPr>
          <a:xfrm>
            <a:off x="5943600" y="5074920"/>
            <a:ext cx="5699455" cy="274320"/>
          </a:xfrm>
          <a:prstGeom prst="rect">
            <a:avLst/>
          </a:prstGeom>
          <a:noFill/>
          <a:ln/>
        </p:spPr>
        <p:txBody>
          <a:bodyPr wrap="square" lIns="0" tIns="0" rIns="0" bIns="0" rtlCol="0" anchor="t"/>
          <a:lstStyle/>
          <a:p>
            <a:pPr indent="0" marL="0">
              <a:buNone/>
            </a:pPr>
            <a:r>
              <a:rPr lang="en-US" sz="1200" b="1" dirty="0">
                <a:solidFill>
                  <a:srgbClr val="13233A"/>
                </a:solidFill>
              </a:rPr>
              <a:t>Physical model: </a:t>
            </a:r>
            <a:pPr indent="0" marL="0">
              <a:buNone/>
            </a:pPr>
            <a:r>
              <a:rPr lang="en-US" sz="1200" dirty="0">
                <a:solidFill>
                  <a:srgbClr val="3D4A5C"/>
                </a:solidFill>
              </a:rPr>
              <a:t>the smart damper takes the oil damper’s place, beside the air spring</a:t>
            </a:r>
            <a:endParaRPr lang="en-US" sz="1200" dirty="0"/>
          </a:p>
        </p:txBody>
      </p:sp>
      <p:sp>
        <p:nvSpPr>
          <p:cNvPr id="10" name="Shape 6"/>
          <p:cNvSpPr/>
          <p:nvPr/>
        </p:nvSpPr>
        <p:spPr>
          <a:xfrm>
            <a:off x="548640" y="5440680"/>
            <a:ext cx="2145731" cy="658368"/>
          </a:xfrm>
          <a:prstGeom prst="roundRect">
            <a:avLst>
              <a:gd name="adj" fmla="val 13889"/>
            </a:avLst>
          </a:prstGeom>
          <a:solidFill>
            <a:srgbClr val="FDFCF9"/>
          </a:solidFill>
          <a:ln w="9525">
            <a:solidFill>
              <a:srgbClr val="E3E0D6"/>
            </a:solidFill>
            <a:prstDash val="solid"/>
          </a:ln>
        </p:spPr>
      </p:sp>
      <p:sp>
        <p:nvSpPr>
          <p:cNvPr id="11" name="Text 7"/>
          <p:cNvSpPr txBox="1"/>
          <p:nvPr/>
        </p:nvSpPr>
        <p:spPr>
          <a:xfrm>
            <a:off x="685800"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1 · Harvest</a:t>
            </a:r>
            <a:endParaRPr lang="en-US" sz="1400" dirty="0"/>
          </a:p>
        </p:txBody>
      </p:sp>
      <p:sp>
        <p:nvSpPr>
          <p:cNvPr id="12" name="Text 8"/>
          <p:cNvSpPr txBox="1"/>
          <p:nvPr/>
        </p:nvSpPr>
        <p:spPr>
          <a:xfrm>
            <a:off x="685800"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bounce → power bank</a:t>
            </a:r>
            <a:endParaRPr lang="en-US" sz="1200" dirty="0"/>
          </a:p>
        </p:txBody>
      </p:sp>
      <p:sp>
        <p:nvSpPr>
          <p:cNvPr id="13" name="Shape 9"/>
          <p:cNvSpPr/>
          <p:nvPr/>
        </p:nvSpPr>
        <p:spPr>
          <a:xfrm>
            <a:off x="2785811" y="5440680"/>
            <a:ext cx="2145731" cy="658368"/>
          </a:xfrm>
          <a:prstGeom prst="roundRect">
            <a:avLst>
              <a:gd name="adj" fmla="val 13889"/>
            </a:avLst>
          </a:prstGeom>
          <a:solidFill>
            <a:srgbClr val="FDFCF9"/>
          </a:solidFill>
          <a:ln w="9525">
            <a:solidFill>
              <a:srgbClr val="E3E0D6"/>
            </a:solidFill>
            <a:prstDash val="solid"/>
          </a:ln>
        </p:spPr>
      </p:sp>
      <p:sp>
        <p:nvSpPr>
          <p:cNvPr id="14" name="Text 10"/>
          <p:cNvSpPr txBox="1"/>
          <p:nvPr/>
        </p:nvSpPr>
        <p:spPr>
          <a:xfrm>
            <a:off x="2922971"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2 · Control</a:t>
            </a:r>
            <a:endParaRPr lang="en-US" sz="1400" dirty="0"/>
          </a:p>
        </p:txBody>
      </p:sp>
      <p:sp>
        <p:nvSpPr>
          <p:cNvPr id="15" name="Text 11"/>
          <p:cNvSpPr txBox="1"/>
          <p:nvPr/>
        </p:nvSpPr>
        <p:spPr>
          <a:xfrm>
            <a:off x="2922971"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current sets damping</a:t>
            </a:r>
            <a:endParaRPr lang="en-US" sz="1200" dirty="0"/>
          </a:p>
        </p:txBody>
      </p:sp>
      <p:sp>
        <p:nvSpPr>
          <p:cNvPr id="16" name="Shape 12"/>
          <p:cNvSpPr/>
          <p:nvPr/>
        </p:nvSpPr>
        <p:spPr>
          <a:xfrm>
            <a:off x="5022982" y="5440680"/>
            <a:ext cx="2145731" cy="658368"/>
          </a:xfrm>
          <a:prstGeom prst="roundRect">
            <a:avLst>
              <a:gd name="adj" fmla="val 13889"/>
            </a:avLst>
          </a:prstGeom>
          <a:solidFill>
            <a:srgbClr val="FDFCF9"/>
          </a:solidFill>
          <a:ln w="9525">
            <a:solidFill>
              <a:srgbClr val="E3E0D6"/>
            </a:solidFill>
            <a:prstDash val="solid"/>
          </a:ln>
        </p:spPr>
      </p:sp>
      <p:sp>
        <p:nvSpPr>
          <p:cNvPr id="17" name="Text 13"/>
          <p:cNvSpPr txBox="1"/>
          <p:nvPr/>
        </p:nvSpPr>
        <p:spPr>
          <a:xfrm>
            <a:off x="5160142"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3 · Preview</a:t>
            </a:r>
            <a:endParaRPr lang="en-US" sz="1400" dirty="0"/>
          </a:p>
        </p:txBody>
      </p:sp>
      <p:sp>
        <p:nvSpPr>
          <p:cNvPr id="18" name="Text 14"/>
          <p:cNvSpPr txBox="1"/>
          <p:nvPr/>
        </p:nvSpPr>
        <p:spPr>
          <a:xfrm>
            <a:off x="5160142"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loco warns each coach</a:t>
            </a:r>
            <a:endParaRPr lang="en-US" sz="1200" dirty="0"/>
          </a:p>
        </p:txBody>
      </p:sp>
      <p:sp>
        <p:nvSpPr>
          <p:cNvPr id="19" name="Shape 15"/>
          <p:cNvSpPr/>
          <p:nvPr/>
        </p:nvSpPr>
        <p:spPr>
          <a:xfrm>
            <a:off x="7260153" y="5440680"/>
            <a:ext cx="2145731" cy="658368"/>
          </a:xfrm>
          <a:prstGeom prst="roundRect">
            <a:avLst>
              <a:gd name="adj" fmla="val 13889"/>
            </a:avLst>
          </a:prstGeom>
          <a:solidFill>
            <a:srgbClr val="FDFCF9"/>
          </a:solidFill>
          <a:ln w="9525">
            <a:solidFill>
              <a:srgbClr val="E3E0D6"/>
            </a:solidFill>
            <a:prstDash val="solid"/>
          </a:ln>
        </p:spPr>
      </p:sp>
      <p:sp>
        <p:nvSpPr>
          <p:cNvPr id="20" name="Text 16"/>
          <p:cNvSpPr txBox="1"/>
          <p:nvPr/>
        </p:nvSpPr>
        <p:spPr>
          <a:xfrm>
            <a:off x="7397313"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4 · Protect</a:t>
            </a:r>
            <a:endParaRPr lang="en-US" sz="1400" dirty="0"/>
          </a:p>
        </p:txBody>
      </p:sp>
      <p:sp>
        <p:nvSpPr>
          <p:cNvPr id="21" name="Text 17"/>
          <p:cNvSpPr txBox="1"/>
          <p:nvPr/>
        </p:nvSpPr>
        <p:spPr>
          <a:xfrm>
            <a:off x="7397313"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powers safety sensors</a:t>
            </a:r>
            <a:endParaRPr lang="en-US" sz="1200" dirty="0"/>
          </a:p>
        </p:txBody>
      </p:sp>
      <p:sp>
        <p:nvSpPr>
          <p:cNvPr id="22" name="Shape 18"/>
          <p:cNvSpPr/>
          <p:nvPr/>
        </p:nvSpPr>
        <p:spPr>
          <a:xfrm>
            <a:off x="9497324" y="5440680"/>
            <a:ext cx="2145731" cy="658368"/>
          </a:xfrm>
          <a:prstGeom prst="roundRect">
            <a:avLst>
              <a:gd name="adj" fmla="val 13889"/>
            </a:avLst>
          </a:prstGeom>
          <a:solidFill>
            <a:srgbClr val="FDFCF9"/>
          </a:solidFill>
          <a:ln w="9525">
            <a:solidFill>
              <a:srgbClr val="E3E0D6"/>
            </a:solidFill>
            <a:prstDash val="solid"/>
          </a:ln>
        </p:spPr>
      </p:sp>
      <p:sp>
        <p:nvSpPr>
          <p:cNvPr id="23" name="Text 19"/>
          <p:cNvSpPr txBox="1"/>
          <p:nvPr/>
        </p:nvSpPr>
        <p:spPr>
          <a:xfrm>
            <a:off x="9634484"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5 · Fail-safe</a:t>
            </a:r>
            <a:endParaRPr lang="en-US" sz="1400" dirty="0"/>
          </a:p>
        </p:txBody>
      </p:sp>
      <p:sp>
        <p:nvSpPr>
          <p:cNvPr id="24" name="Text 20"/>
          <p:cNvSpPr txBox="1"/>
          <p:nvPr/>
        </p:nvSpPr>
        <p:spPr>
          <a:xfrm>
            <a:off x="9634484"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relay → today’s damper</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Train Brain: the loco warns every coach before the bump</a:t>
            </a:r>
            <a:endParaRPr lang="en-US" sz="3000" dirty="0"/>
          </a:p>
        </p:txBody>
      </p:sp>
      <p:sp>
        <p:nvSpPr>
          <p:cNvPr id="4" name="preview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preview" descr="The locomotive warns every coach; today's bogie compared with the SwarmRide bogie">    </p:cNvPr>
          <p:cNvPicPr>
            <a:picLocks noChangeAspect="1"/>
          </p:cNvPicPr>
          <p:nvPr/>
        </p:nvPicPr>
        <p:blipFill>
          <a:blip r:embed="rId1"/>
          <a:stretch>
            <a:fillRect/>
          </a:stretch>
        </p:blipFill>
        <p:spPr>
          <a:xfrm>
            <a:off x="621792" y="1684837"/>
            <a:ext cx="6163056" cy="4357007"/>
          </a:xfrm>
          <a:prstGeom prst="rect">
            <a:avLst/>
          </a:prstGeom>
        </p:spPr>
      </p:pic>
      <p:sp>
        <p:nvSpPr>
          <p:cNvPr id="6" name="Text 3"/>
          <p:cNvSpPr txBox="1"/>
          <p:nvPr/>
        </p:nvSpPr>
        <p:spPr>
          <a:xfrm>
            <a:off x="7132320" y="1645920"/>
            <a:ext cx="4510735" cy="640080"/>
          </a:xfrm>
          <a:prstGeom prst="rect">
            <a:avLst/>
          </a:prstGeom>
          <a:noFill/>
          <a:ln/>
        </p:spPr>
        <p:txBody>
          <a:bodyPr wrap="square" lIns="0" tIns="0" rIns="0" bIns="0" rtlCol="0" anchor="t"/>
          <a:lstStyle/>
          <a:p>
            <a:pPr indent="0" marL="0">
              <a:buNone/>
            </a:pPr>
            <a:r>
              <a:rPr lang="en-US" sz="1600" dirty="0">
                <a:solidFill>
                  <a:srgbClr val="3D4A5C"/>
                </a:solidFill>
              </a:rPr>
              <a:t>The lead bogie feels every bump first. Coach n reaches the same spot after</a:t>
            </a:r>
            <a:endParaRPr lang="en-US" sz="1600" dirty="0"/>
          </a:p>
        </p:txBody>
      </p:sp>
      <p:sp>
        <p:nvSpPr>
          <p:cNvPr id="7" name="Shape 4"/>
          <p:cNvSpPr/>
          <p:nvPr/>
        </p:nvSpPr>
        <p:spPr>
          <a:xfrm>
            <a:off x="7132320" y="2331720"/>
            <a:ext cx="4510735" cy="731520"/>
          </a:xfrm>
          <a:prstGeom prst="roundRect">
            <a:avLst>
              <a:gd name="adj" fmla="val 12500"/>
            </a:avLst>
          </a:prstGeom>
          <a:solidFill>
            <a:srgbClr val="FDFCF9"/>
          </a:solidFill>
          <a:ln w="9525">
            <a:solidFill>
              <a:srgbClr val="E3E0D6"/>
            </a:solidFill>
            <a:prstDash val="solid"/>
          </a:ln>
        </p:spPr>
      </p:sp>
      <p:sp>
        <p:nvSpPr>
          <p:cNvPr id="8" name="Text 5"/>
          <p:cNvSpPr txBox="1"/>
          <p:nvPr/>
        </p:nvSpPr>
        <p:spPr>
          <a:xfrm>
            <a:off x="7132320" y="2331720"/>
            <a:ext cx="4510735" cy="731520"/>
          </a:xfrm>
          <a:prstGeom prst="rect">
            <a:avLst/>
          </a:prstGeom>
          <a:noFill/>
          <a:ln/>
        </p:spPr>
        <p:txBody>
          <a:bodyPr wrap="square" lIns="0" tIns="0" rIns="0" bIns="0" rtlCol="0" anchor="ctr"/>
          <a:lstStyle/>
          <a:p>
            <a:pPr algn="ctr" indent="0" marL="0">
              <a:buNone/>
            </a:pPr>
            <a:r>
              <a:rPr lang="en-US" sz="3000" b="1" dirty="0">
                <a:solidFill>
                  <a:srgbClr val="13233A"/>
                </a:solidFill>
                <a:latin typeface="Courier New" pitchFamily="34" charset="0"/>
                <a:ea typeface="Courier New" pitchFamily="34" charset="-122"/>
                <a:cs typeface="Courier New" pitchFamily="34" charset="-120"/>
              </a:rPr>
              <a:t>tₙ = dₙ / v</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3291840"/>
          <a:ext cx="4510735" cy="914400"/>
        </p:xfrm>
        <a:graphic>
          <a:graphicData uri="http://schemas.openxmlformats.org/drawingml/2006/table">
            <a:tbl>
              <a:tblPr/>
              <a:tblGrid>
                <a:gridCol w="1894509"/>
                <a:gridCol w="2616226"/>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At 160 km/h</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Warning</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0.5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5</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2.6 s = 260 control steps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5.3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7132320" y="5120640"/>
            <a:ext cx="4510735" cy="914400"/>
          </a:xfrm>
          <a:prstGeom prst="rect">
            <a:avLst/>
          </a:prstGeom>
          <a:noFill/>
          <a:ln/>
        </p:spPr>
        <p:txBody>
          <a:bodyPr wrap="square" lIns="0" tIns="0" rIns="0" bIns="0" rtlCol="0" anchor="t"/>
          <a:lstStyle/>
          <a:p>
            <a:pPr indent="0" marL="0">
              <a:buNone/>
            </a:pPr>
            <a:r>
              <a:rPr lang="en-US" sz="1500" dirty="0">
                <a:solidFill>
                  <a:srgbClr val="3D4A5C"/>
                </a:solidFill>
              </a:rPr>
              <a:t>Tested robust to a ±20 ms late warning. The Train Brain also keeps a map of known bad spots for the push (C4).</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LITERATURE REVIEW</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Regenerative dampers: from cars to trains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685800"/>
                <a:gridCol w="4114800"/>
                <a:gridCol w="3429000"/>
                <a:gridCol w="2864815"/>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Paper · venue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Key idea</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SwarmRide adds</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2013</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Li, Zuo et al. · IEEE Trans. Vehicular Technology</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Energy-harvesting shock absorber, road tests (cars)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Train suspension, control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2022</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Hua, Cai, Zhu · IEEE Trans. Vehicular Technology — BASE PAPER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 damper cum harvester, semi-active, high-speed train (lateral)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Load scheduling, preview, push, power bank</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Dong et al. · J. Intell. Mater. Syst. Struct.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Harvest potential on freight wagons: 33–960 W per absorber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 controller that uses it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Tao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 harvesting for freight-train sensors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Sensors powered by the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Cheng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Self-powered PMSM damper, economic MPC</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Railway duty, fail-safe</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Xia, Ning et al. · IEEE/ASME Trans. Mechatronics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Supercapacitor-voltage control in an EM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Full-day bank on a train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All six verified in Crossref · DOIs in the speaker notes</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BASE PAPER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Hua, Cai &amp; Zhu, IEEE Trans. Vehicular Technology 71(5), 2022</a:t>
            </a:r>
            <a:endParaRPr lang="en-US" sz="3000" dirty="0"/>
          </a:p>
        </p:txBody>
      </p:sp>
      <p:sp>
        <p:nvSpPr>
          <p:cNvPr id="4" name="Text 2"/>
          <p:cNvSpPr txBox="1"/>
          <p:nvPr/>
        </p:nvSpPr>
        <p:spPr>
          <a:xfrm>
            <a:off x="548640" y="1481328"/>
            <a:ext cx="11094415" cy="457200"/>
          </a:xfrm>
          <a:prstGeom prst="rect">
            <a:avLst/>
          </a:prstGeom>
          <a:noFill/>
          <a:ln/>
        </p:spPr>
        <p:txBody>
          <a:bodyPr wrap="square" lIns="0" tIns="0" rIns="0" bIns="0" rtlCol="0" anchor="t"/>
          <a:lstStyle/>
          <a:p>
            <a:pPr indent="0" marL="0">
              <a:buNone/>
            </a:pPr>
            <a:r>
              <a:rPr lang="en-US" sz="1500" i="1" dirty="0">
                <a:solidFill>
                  <a:srgbClr val="3D4A5C"/>
                </a:solidFill>
              </a:rPr>
              <a:t>“Energy-Regenerative Semiactive Lateral Suspension Control in High-Speed Trains Using Electromagnetic Damper Cum Energy Harvester”</a:t>
            </a:r>
            <a:endParaRPr lang="en-US" sz="1500" dirty="0"/>
          </a:p>
        </p:txBody>
      </p:sp>
      <p:sp>
        <p:nvSpPr>
          <p:cNvPr id="5" name="Shape 3"/>
          <p:cNvSpPr/>
          <p:nvPr/>
        </p:nvSpPr>
        <p:spPr>
          <a:xfrm>
            <a:off x="548640" y="2103120"/>
            <a:ext cx="5410048" cy="4069080"/>
          </a:xfrm>
          <a:prstGeom prst="roundRect">
            <a:avLst>
              <a:gd name="adj" fmla="val 2247"/>
            </a:avLst>
          </a:prstGeom>
          <a:solidFill>
            <a:srgbClr val="FDFCF9"/>
          </a:solidFill>
          <a:ln w="9525">
            <a:solidFill>
              <a:srgbClr val="E3E0D6"/>
            </a:solidFill>
            <a:prstDash val="solid"/>
          </a:ln>
        </p:spPr>
      </p:sp>
      <p:sp>
        <p:nvSpPr>
          <p:cNvPr id="6" name="Text 4"/>
          <p:cNvSpPr txBox="1"/>
          <p:nvPr/>
        </p:nvSpPr>
        <p:spPr>
          <a:xfrm>
            <a:off x="822960" y="2286000"/>
            <a:ext cx="4861408" cy="411480"/>
          </a:xfrm>
          <a:prstGeom prst="rect">
            <a:avLst/>
          </a:prstGeom>
          <a:noFill/>
          <a:ln/>
        </p:spPr>
        <p:txBody>
          <a:bodyPr wrap="square" lIns="0" tIns="0" rIns="0" bIns="0" rtlCol="0" anchor="t"/>
          <a:lstStyle/>
          <a:p>
            <a:pPr indent="0" marL="0">
              <a:buNone/>
            </a:pPr>
            <a:r>
              <a:rPr lang="en-US" sz="2000" b="1" dirty="0">
                <a:solidFill>
                  <a:srgbClr val="13233A"/>
                </a:solidFill>
              </a:rPr>
              <a:t>What they did</a:t>
            </a:r>
            <a:endParaRPr lang="en-US" sz="2000" dirty="0"/>
          </a:p>
        </p:txBody>
      </p:sp>
      <p:sp>
        <p:nvSpPr>
          <p:cNvPr id="7" name="Text 5"/>
          <p:cNvSpPr txBox="1"/>
          <p:nvPr/>
        </p:nvSpPr>
        <p:spPr>
          <a:xfrm>
            <a:off x="822960"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A5C"/>
                </a:solidFill>
              </a:rPr>
              <a:t>Full-scale EM damper cum harvester (EMDEH), tested in cyclic tests</a:t>
            </a:r>
            <a:endParaRPr lang="en-US" sz="1500" dirty="0"/>
          </a:p>
          <a:p>
            <a:pPr marL="342900" indent="-342900">
              <a:spcAft>
                <a:spcPts val="800"/>
              </a:spcAft>
              <a:buSzPct val="100000"/>
              <a:buChar char="•"/>
            </a:pPr>
            <a:r>
              <a:rPr lang="en-US" sz="1500" dirty="0">
                <a:solidFill>
                  <a:srgbClr val="3D4A5C"/>
                </a:solidFill>
              </a:rPr>
              <a:t>Damping tuned by the duty cycle of the harvesting circuit</a:t>
            </a:r>
            <a:endParaRPr lang="en-US" sz="1500" dirty="0"/>
          </a:p>
          <a:p>
            <a:pPr marL="342900" indent="-342900">
              <a:spcAft>
                <a:spcPts val="800"/>
              </a:spcAft>
              <a:buSzPct val="100000"/>
              <a:buChar char="•"/>
            </a:pPr>
            <a:r>
              <a:rPr lang="en-US" sz="1500" dirty="0">
                <a:solidFill>
                  <a:srgbClr val="3D4A5C"/>
                </a:solidFill>
              </a:rPr>
              <a:t>Semi-active tracking of an LQG target force</a:t>
            </a:r>
            <a:endParaRPr lang="en-US" sz="1500" dirty="0"/>
          </a:p>
          <a:p>
            <a:pPr marL="342900" indent="-342900">
              <a:spcAft>
                <a:spcPts val="800"/>
              </a:spcAft>
              <a:buSzPct val="100000"/>
              <a:buChar char="•"/>
            </a:pPr>
            <a:r>
              <a:rPr lang="en-US" sz="1500" dirty="0">
                <a:solidFill>
                  <a:srgbClr val="3D4A5C"/>
                </a:solidFill>
              </a:rPr>
              <a:t>Lateral secondary suspension, high-speed train, 200–350 km/h</a:t>
            </a:r>
            <a:endParaRPr lang="en-US" sz="1500" dirty="0"/>
          </a:p>
          <a:p>
            <a:pPr marL="342900" indent="-342900">
              <a:spcAft>
                <a:spcPts val="800"/>
              </a:spcAft>
              <a:buSzPct val="100000"/>
              <a:buChar char="•"/>
            </a:pPr>
            <a:r>
              <a:rPr lang="en-US" sz="1500" dirty="0">
                <a:solidFill>
                  <a:srgbClr val="3D4A5C"/>
                </a:solidFill>
              </a:rPr>
              <a:t>Beat passive and fixed-duty dampers on car-body vibration; harvested 25.89–153.19 W</a:t>
            </a:r>
            <a:endParaRPr lang="en-US" sz="1500" dirty="0"/>
          </a:p>
        </p:txBody>
      </p:sp>
      <p:sp>
        <p:nvSpPr>
          <p:cNvPr id="8" name="Shape 6"/>
          <p:cNvSpPr/>
          <p:nvPr/>
        </p:nvSpPr>
        <p:spPr>
          <a:xfrm>
            <a:off x="6233008" y="2103120"/>
            <a:ext cx="5410048" cy="4069080"/>
          </a:xfrm>
          <a:prstGeom prst="roundRect">
            <a:avLst>
              <a:gd name="adj" fmla="val 2247"/>
            </a:avLst>
          </a:prstGeom>
          <a:solidFill>
            <a:srgbClr val="13233A"/>
          </a:solidFill>
          <a:ln/>
        </p:spPr>
      </p:sp>
      <p:sp>
        <p:nvSpPr>
          <p:cNvPr id="9" name="Text 7"/>
          <p:cNvSpPr txBox="1"/>
          <p:nvPr/>
        </p:nvSpPr>
        <p:spPr>
          <a:xfrm>
            <a:off x="6507328" y="2286000"/>
            <a:ext cx="4861408" cy="411480"/>
          </a:xfrm>
          <a:prstGeom prst="rect">
            <a:avLst/>
          </a:prstGeom>
          <a:noFill/>
          <a:ln/>
        </p:spPr>
        <p:txBody>
          <a:bodyPr wrap="square" lIns="0" tIns="0" rIns="0" bIns="0" rtlCol="0" anchor="t"/>
          <a:lstStyle/>
          <a:p>
            <a:pPr indent="0" marL="0">
              <a:buNone/>
            </a:pPr>
            <a:r>
              <a:rPr lang="en-US" sz="2000" b="1" dirty="0">
                <a:solidFill>
                  <a:srgbClr val="F0974A"/>
                </a:solidFill>
              </a:rPr>
              <a:t>Where SwarmRide goes further</a:t>
            </a:r>
            <a:endParaRPr lang="en-US" sz="2000" dirty="0"/>
          </a:p>
        </p:txBody>
      </p:sp>
      <p:sp>
        <p:nvSpPr>
          <p:cNvPr id="10" name="Text 8"/>
          <p:cNvSpPr txBox="1"/>
          <p:nvPr/>
        </p:nvSpPr>
        <p:spPr>
          <a:xfrm>
            <a:off x="6507328"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4E8EE"/>
                </a:solidFill>
              </a:rPr>
              <a:t>Vertical ride on LHB, Vande Bharat, ICF and BOXN freight</a:t>
            </a:r>
            <a:endParaRPr lang="en-US" sz="1500" dirty="0"/>
          </a:p>
          <a:p>
            <a:pPr marL="342900" indent="-342900">
              <a:spcAft>
                <a:spcPts val="800"/>
              </a:spcAft>
              <a:buSzPct val="100000"/>
              <a:buChar char="•"/>
            </a:pPr>
            <a:r>
              <a:rPr lang="en-US" sz="1500" dirty="0">
                <a:solidFill>
                  <a:srgbClr val="E4E8EE"/>
                </a:solidFill>
              </a:rPr>
              <a:t>LPV gains scheduled on the measured load</a:t>
            </a:r>
            <a:endParaRPr lang="en-US" sz="1500" dirty="0"/>
          </a:p>
          <a:p>
            <a:pPr marL="342900" indent="-342900">
              <a:spcAft>
                <a:spcPts val="800"/>
              </a:spcAft>
              <a:buSzPct val="100000"/>
              <a:buChar char="•"/>
            </a:pPr>
            <a:r>
              <a:rPr lang="en-US" sz="1500" dirty="0">
                <a:solidFill>
                  <a:srgbClr val="E4E8EE"/>
                </a:solidFill>
              </a:rPr>
              <a:t>Train Brain preview shared along the train</a:t>
            </a:r>
            <a:endParaRPr lang="en-US" sz="1500" dirty="0"/>
          </a:p>
          <a:p>
            <a:pPr marL="342900" indent="-342900">
              <a:spcAft>
                <a:spcPts val="800"/>
              </a:spcAft>
              <a:buSzPct val="100000"/>
              <a:buChar char="•"/>
            </a:pPr>
            <a:r>
              <a:rPr lang="en-US" sz="1500" dirty="0">
                <a:solidFill>
                  <a:srgbClr val="E4E8EE"/>
                </a:solidFill>
              </a:rPr>
              <a:t>Active push (C4) from the bogie’s own bank</a:t>
            </a:r>
            <a:endParaRPr lang="en-US" sz="1500" dirty="0"/>
          </a:p>
          <a:p>
            <a:pPr marL="342900" indent="-342900">
              <a:spcAft>
                <a:spcPts val="800"/>
              </a:spcAft>
              <a:buSzPct val="100000"/>
              <a:buChar char="•"/>
            </a:pPr>
            <a:r>
              <a:rPr lang="en-US" sz="1500" dirty="0">
                <a:solidFill>
                  <a:srgbClr val="E4E8EE"/>
                </a:solidFill>
              </a:rPr>
              <a:t>Full-day power bank + self-powered health sensing</a:t>
            </a:r>
            <a:endParaRPr lang="en-US" sz="1500" dirty="0"/>
          </a:p>
          <a:p>
            <a:pPr marL="342900" indent="-342900">
              <a:spcAft>
                <a:spcPts val="800"/>
              </a:spcAft>
              <a:buSzPct val="100000"/>
              <a:buChar char="•"/>
            </a:pPr>
            <a:r>
              <a:rPr lang="en-US" sz="1500" dirty="0">
                <a:solidFill>
                  <a:srgbClr val="E4E8EE"/>
                </a:solidFill>
              </a:rPr>
              <a:t>Fail-safe, C firmware, bench design, 85 checks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Three levels: train, vehicle, self-powered bogie</a:t>
            </a:r>
            <a:endParaRPr lang="en-US" sz="3000" dirty="0"/>
          </a:p>
        </p:txBody>
      </p:sp>
      <p:sp>
        <p:nvSpPr>
          <p:cNvPr id="4" name="arch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arch" descr="SwarmRide end-to-end system architecture: Train Brain, vehicle controller, bogie unit">    </p:cNvPr>
          <p:cNvPicPr>
            <a:picLocks noChangeAspect="1"/>
          </p:cNvPicPr>
          <p:nvPr/>
        </p:nvPicPr>
        <p:blipFill>
          <a:blip r:embed="rId1"/>
          <a:stretch>
            <a:fillRect/>
          </a:stretch>
        </p:blipFill>
        <p:spPr>
          <a:xfrm>
            <a:off x="621792" y="1706270"/>
            <a:ext cx="6163056" cy="4314139"/>
          </a:xfrm>
          <a:prstGeom prst="rect">
            <a:avLst/>
          </a:prstGeom>
        </p:spPr>
      </p:pic>
      <p:sp>
        <p:nvSpPr>
          <p:cNvPr id="6" name="Shape 3"/>
          <p:cNvSpPr/>
          <p:nvPr/>
        </p:nvSpPr>
        <p:spPr>
          <a:xfrm>
            <a:off x="7132320" y="1600200"/>
            <a:ext cx="4510735" cy="1188720"/>
          </a:xfrm>
          <a:prstGeom prst="roundRect">
            <a:avLst>
              <a:gd name="adj" fmla="val 7692"/>
            </a:avLst>
          </a:prstGeom>
          <a:solidFill>
            <a:srgbClr val="FDFCF9"/>
          </a:solidFill>
          <a:ln w="9525">
            <a:solidFill>
              <a:srgbClr val="E3E0D6"/>
            </a:solidFill>
            <a:prstDash val="solid"/>
          </a:ln>
        </p:spPr>
      </p:sp>
      <p:sp>
        <p:nvSpPr>
          <p:cNvPr id="7" name="Shape 4"/>
          <p:cNvSpPr/>
          <p:nvPr/>
        </p:nvSpPr>
        <p:spPr>
          <a:xfrm>
            <a:off x="7315200" y="1828800"/>
            <a:ext cx="274320" cy="274320"/>
          </a:xfrm>
          <a:prstGeom prst="ellipse">
            <a:avLst/>
          </a:prstGeom>
          <a:solidFill>
            <a:srgbClr val="13233A"/>
          </a:solidFill>
          <a:ln/>
        </p:spPr>
      </p:sp>
      <p:sp>
        <p:nvSpPr>
          <p:cNvPr id="8" name="Text 5"/>
          <p:cNvSpPr txBox="1"/>
          <p:nvPr/>
        </p:nvSpPr>
        <p:spPr>
          <a:xfrm>
            <a:off x="7726680" y="176479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① Train Brain · locomotive</a:t>
            </a:r>
            <a:endParaRPr lang="en-US" sz="1700" dirty="0"/>
          </a:p>
        </p:txBody>
      </p:sp>
      <p:sp>
        <p:nvSpPr>
          <p:cNvPr id="9" name="Text 6"/>
          <p:cNvSpPr txBox="1"/>
          <p:nvPr/>
        </p:nvSpPr>
        <p:spPr>
          <a:xfrm>
            <a:off x="7726680" y="2167128"/>
            <a:ext cx="3733495" cy="566928"/>
          </a:xfrm>
          <a:prstGeom prst="rect">
            <a:avLst/>
          </a:prstGeom>
          <a:noFill/>
          <a:ln/>
        </p:spPr>
        <p:txBody>
          <a:bodyPr wrap="square" lIns="0" tIns="0" rIns="0" bIns="0" rtlCol="0" anchor="t"/>
          <a:lstStyle/>
          <a:p>
            <a:pPr indent="0" marL="0">
              <a:buNone/>
            </a:pPr>
            <a:r>
              <a:rPr lang="en-US" sz="1400" dirty="0">
                <a:solidFill>
                  <a:srgbClr val="3D4A5C"/>
                </a:solidFill>
              </a:rPr>
              <a:t>Lead-bogie bump sensing, track map, timed warnings tₙ = dₙ / v</a:t>
            </a:r>
            <a:endParaRPr lang="en-US" sz="1400" dirty="0"/>
          </a:p>
        </p:txBody>
      </p:sp>
      <p:sp>
        <p:nvSpPr>
          <p:cNvPr id="10" name="Shape 7"/>
          <p:cNvSpPr/>
          <p:nvPr/>
        </p:nvSpPr>
        <p:spPr>
          <a:xfrm>
            <a:off x="7132320" y="2926080"/>
            <a:ext cx="4510735" cy="1188720"/>
          </a:xfrm>
          <a:prstGeom prst="roundRect">
            <a:avLst>
              <a:gd name="adj" fmla="val 7692"/>
            </a:avLst>
          </a:prstGeom>
          <a:solidFill>
            <a:srgbClr val="FDFCF9"/>
          </a:solidFill>
          <a:ln w="9525">
            <a:solidFill>
              <a:srgbClr val="E3E0D6"/>
            </a:solidFill>
            <a:prstDash val="solid"/>
          </a:ln>
        </p:spPr>
      </p:sp>
      <p:sp>
        <p:nvSpPr>
          <p:cNvPr id="11" name="Shape 8"/>
          <p:cNvSpPr/>
          <p:nvPr/>
        </p:nvSpPr>
        <p:spPr>
          <a:xfrm>
            <a:off x="7315200" y="3154680"/>
            <a:ext cx="274320" cy="274320"/>
          </a:xfrm>
          <a:prstGeom prst="ellipse">
            <a:avLst/>
          </a:prstGeom>
          <a:solidFill>
            <a:srgbClr val="1F6F66"/>
          </a:solidFill>
          <a:ln/>
        </p:spPr>
      </p:sp>
      <p:sp>
        <p:nvSpPr>
          <p:cNvPr id="12" name="Text 9"/>
          <p:cNvSpPr txBox="1"/>
          <p:nvPr/>
        </p:nvSpPr>
        <p:spPr>
          <a:xfrm>
            <a:off x="7726680" y="309067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② Vehicle controller · 100 Hz</a:t>
            </a:r>
            <a:endParaRPr lang="en-US" sz="1700" dirty="0"/>
          </a:p>
        </p:txBody>
      </p:sp>
      <p:sp>
        <p:nvSpPr>
          <p:cNvPr id="13" name="Text 10"/>
          <p:cNvSpPr txBox="1"/>
          <p:nvPr/>
        </p:nvSpPr>
        <p:spPr>
          <a:xfrm>
            <a:off x="7726680" y="3493008"/>
            <a:ext cx="3733495" cy="566928"/>
          </a:xfrm>
          <a:prstGeom prst="rect">
            <a:avLst/>
          </a:prstGeom>
          <a:noFill/>
          <a:ln/>
        </p:spPr>
        <p:txBody>
          <a:bodyPr wrap="square" lIns="0" tIns="0" rIns="0" bIns="0" rtlCol="0" anchor="t"/>
          <a:lstStyle/>
          <a:p>
            <a:pPr indent="0" marL="0">
              <a:buNone/>
            </a:pPr>
            <a:r>
              <a:rPr lang="en-US" sz="1400" dirty="0">
                <a:solidFill>
                  <a:srgbClr val="3D4A5C"/>
                </a:solidFill>
              </a:rPr>
              <a:t>Load estimate, LPV-LQR + preview, push windows, health analytics</a:t>
            </a:r>
            <a:endParaRPr lang="en-US" sz="1400" dirty="0"/>
          </a:p>
        </p:txBody>
      </p:sp>
      <p:sp>
        <p:nvSpPr>
          <p:cNvPr id="14" name="Shape 11"/>
          <p:cNvSpPr/>
          <p:nvPr/>
        </p:nvSpPr>
        <p:spPr>
          <a:xfrm>
            <a:off x="7132320" y="4251960"/>
            <a:ext cx="4510735" cy="1188720"/>
          </a:xfrm>
          <a:prstGeom prst="roundRect">
            <a:avLst>
              <a:gd name="adj" fmla="val 7692"/>
            </a:avLst>
          </a:prstGeom>
          <a:solidFill>
            <a:srgbClr val="FDFCF9"/>
          </a:solidFill>
          <a:ln w="9525">
            <a:solidFill>
              <a:srgbClr val="E3E0D6"/>
            </a:solidFill>
            <a:prstDash val="solid"/>
          </a:ln>
        </p:spPr>
      </p:sp>
      <p:sp>
        <p:nvSpPr>
          <p:cNvPr id="15" name="Shape 12"/>
          <p:cNvSpPr/>
          <p:nvPr/>
        </p:nvSpPr>
        <p:spPr>
          <a:xfrm>
            <a:off x="7315200" y="4480560"/>
            <a:ext cx="274320" cy="274320"/>
          </a:xfrm>
          <a:prstGeom prst="ellipse">
            <a:avLst/>
          </a:prstGeom>
          <a:solidFill>
            <a:srgbClr val="A8520F"/>
          </a:solidFill>
          <a:ln/>
        </p:spPr>
      </p:sp>
      <p:sp>
        <p:nvSpPr>
          <p:cNvPr id="16" name="Text 13"/>
          <p:cNvSpPr txBox="1"/>
          <p:nvPr/>
        </p:nvSpPr>
        <p:spPr>
          <a:xfrm>
            <a:off x="7726680" y="441655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③ Bogie unit · self-powered</a:t>
            </a:r>
            <a:endParaRPr lang="en-US" sz="1700" dirty="0"/>
          </a:p>
        </p:txBody>
      </p:sp>
      <p:sp>
        <p:nvSpPr>
          <p:cNvPr id="17" name="Text 14"/>
          <p:cNvSpPr txBox="1"/>
          <p:nvPr/>
        </p:nvSpPr>
        <p:spPr>
          <a:xfrm>
            <a:off x="7726680" y="4818888"/>
            <a:ext cx="3733495" cy="566928"/>
          </a:xfrm>
          <a:prstGeom prst="rect">
            <a:avLst/>
          </a:prstGeom>
          <a:noFill/>
          <a:ln/>
        </p:spPr>
        <p:txBody>
          <a:bodyPr wrap="square" lIns="0" tIns="0" rIns="0" bIns="0" rtlCol="0" anchor="t"/>
          <a:lstStyle/>
          <a:p>
            <a:pPr indent="0" marL="0">
              <a:buNone/>
            </a:pPr>
            <a:r>
              <a:rPr lang="en-US" sz="1400" dirty="0">
                <a:solidFill>
                  <a:srgbClr val="3D4A5C"/>
                </a:solidFill>
              </a:rPr>
              <a:t>Smart dampers, 10 kHz drive, supercap + LiFePO4, sensors, fail-safe relay</a:t>
            </a:r>
            <a:endParaRPr lang="en-US" sz="1400" dirty="0"/>
          </a:p>
        </p:txBody>
      </p:sp>
      <p:sp>
        <p:nvSpPr>
          <p:cNvPr id="18" name="Text 15"/>
          <p:cNvSpPr txBox="1"/>
          <p:nvPr/>
        </p:nvSpPr>
        <p:spPr>
          <a:xfrm>
            <a:off x="7132320" y="5669280"/>
            <a:ext cx="4510735" cy="457200"/>
          </a:xfrm>
          <a:prstGeom prst="rect">
            <a:avLst/>
          </a:prstGeom>
          <a:noFill/>
          <a:ln/>
        </p:spPr>
        <p:txBody>
          <a:bodyPr wrap="square" lIns="0" tIns="0" rIns="0" bIns="0" rtlCol="0" anchor="t"/>
          <a:lstStyle/>
          <a:p>
            <a:pPr indent="0" marL="0">
              <a:buNone/>
            </a:pPr>
            <a:r>
              <a:rPr lang="en-US" sz="1500" b="1" dirty="0">
                <a:solidFill>
                  <a:srgbClr val="13233A"/>
                </a:solidFill>
              </a:rPr>
              <a:t>Energy stays on the bogie; only data travels along the train.</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 a real bogie: no new bogie, no new cables</a:t>
            </a:r>
            <a:endParaRPr lang="en-US" sz="3000" dirty="0"/>
          </a:p>
        </p:txBody>
      </p:sp>
      <p:pic>
        <p:nvPicPr>
          <p:cNvPr id="4" name="casnub_ann" descr="Casnub bogie of a BOXN wagon annotated with SwarmRide components">    </p:cNvPr>
          <p:cNvPicPr>
            <a:picLocks noChangeAspect="1"/>
          </p:cNvPicPr>
          <p:nvPr/>
        </p:nvPicPr>
        <p:blipFill>
          <a:blip r:embed="rId1"/>
          <a:srcRect l="0" r="0" t="0" b="0"/>
          <a:stretch/>
        </p:blipFill>
        <p:spPr>
          <a:xfrm>
            <a:off x="548640" y="1600200"/>
            <a:ext cx="5410048" cy="4023360"/>
          </a:xfrm>
          <a:prstGeom prst="rect">
            <a:avLst/>
          </a:prstGeom>
        </p:spPr>
      </p:pic>
      <p:sp>
        <p:nvSpPr>
          <p:cNvPr id="5" name="bogies frame"/>
          <p:cNvSpPr/>
          <p:nvPr/>
        </p:nvSpPr>
        <p:spPr>
          <a:xfrm>
            <a:off x="6233008" y="1600200"/>
            <a:ext cx="5410048" cy="4023360"/>
          </a:xfrm>
          <a:prstGeom prst="roundRect">
            <a:avLst>
              <a:gd name="adj" fmla="val 1818"/>
            </a:avLst>
          </a:prstGeom>
          <a:solidFill>
            <a:srgbClr val="FFFFFF"/>
          </a:solidFill>
          <a:ln w="9525">
            <a:solidFill>
              <a:srgbClr val="E3E0D6"/>
            </a:solidFill>
            <a:prstDash val="solid"/>
          </a:ln>
        </p:spPr>
      </p:sp>
      <p:pic>
        <p:nvPicPr>
          <p:cNvPr id="6" name="bogies" descr="LHB, ICF and Casnub bogies with the smart damper swapped in">    </p:cNvPr>
          <p:cNvPicPr>
            <a:picLocks noChangeAspect="1"/>
          </p:cNvPicPr>
          <p:nvPr/>
        </p:nvPicPr>
        <p:blipFill>
          <a:blip r:embed="rId2"/>
          <a:stretch>
            <a:fillRect/>
          </a:stretch>
        </p:blipFill>
        <p:spPr>
          <a:xfrm>
            <a:off x="6306160" y="1751264"/>
            <a:ext cx="5263744" cy="3721233"/>
          </a:xfrm>
          <a:prstGeom prst="rect">
            <a:avLst/>
          </a:prstGeom>
        </p:spPr>
      </p:pic>
      <p:sp>
        <p:nvSpPr>
          <p:cNvPr id="7" name="Text 3"/>
          <p:cNvSpPr txBox="1"/>
          <p:nvPr/>
        </p:nvSpPr>
        <p:spPr>
          <a:xfrm>
            <a:off x="548640"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Casnub (BOXN wagon): </a:t>
            </a:r>
            <a:pPr indent="0" marL="0">
              <a:buNone/>
            </a:pPr>
            <a:r>
              <a:rPr lang="en-US" sz="1500" dirty="0">
                <a:solidFill>
                  <a:srgbClr val="3D4A5C"/>
                </a:solidFill>
              </a:rPr>
              <a:t>where each SwarmRide part goes</a:t>
            </a:r>
            <a:endParaRPr lang="en-US" sz="1500" dirty="0"/>
          </a:p>
        </p:txBody>
      </p:sp>
      <p:sp>
        <p:nvSpPr>
          <p:cNvPr id="8" name="Text 4"/>
          <p:cNvSpPr txBox="1"/>
          <p:nvPr/>
        </p:nvSpPr>
        <p:spPr>
          <a:xfrm>
            <a:off x="6233008"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LHB · ICF · Casnub: </a:t>
            </a:r>
            <a:pPr indent="0" marL="0">
              <a:buNone/>
            </a:pPr>
            <a:r>
              <a:rPr lang="en-US" sz="1500" dirty="0">
                <a:solidFill>
                  <a:srgbClr val="3D4A5C"/>
                </a:solidFill>
              </a:rPr>
              <a:t>one part swapped, same mounts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Closed-loop block diagram: two loops, one plant</a:t>
            </a:r>
            <a:endParaRPr lang="en-US" sz="3000" dirty="0"/>
          </a:p>
        </p:txBody>
      </p:sp>
      <p:sp>
        <p:nvSpPr>
          <p:cNvPr id="4" name="Text 2"/>
          <p:cNvSpPr txBox="1"/>
          <p:nvPr/>
        </p:nvSpPr>
        <p:spPr>
          <a:xfrm>
            <a:off x="812800" y="2095500"/>
            <a:ext cx="1079500" cy="317500"/>
          </a:xfrm>
          <a:prstGeom prst="rect">
            <a:avLst/>
          </a:prstGeom>
          <a:noFill/>
          <a:ln/>
        </p:spPr>
        <p:txBody>
          <a:bodyPr wrap="square" lIns="0" tIns="0" rIns="0" bIns="0" rtlCol="0" anchor="t"/>
          <a:lstStyle/>
          <a:p>
            <a:pPr indent="0" marL="0">
              <a:buNone/>
            </a:pPr>
            <a:r>
              <a:rPr lang="en-US" sz="1400" b="1" dirty="0">
                <a:solidFill>
                  <a:srgbClr val="13233A"/>
                </a:solidFill>
              </a:rPr>
              <a:t>Track w(t)</a:t>
            </a:r>
            <a:endParaRPr lang="en-US" sz="1400" dirty="0"/>
          </a:p>
        </p:txBody>
      </p:sp>
      <p:sp>
        <p:nvSpPr>
          <p:cNvPr id="5" name="Shape 3"/>
          <p:cNvSpPr/>
          <p:nvPr/>
        </p:nvSpPr>
        <p:spPr>
          <a:xfrm>
            <a:off x="1905000" y="1905000"/>
            <a:ext cx="1651000" cy="698500"/>
          </a:xfrm>
          <a:prstGeom prst="roundRect">
            <a:avLst>
              <a:gd name="adj" fmla="val 7855"/>
            </a:avLst>
          </a:prstGeom>
          <a:solidFill>
            <a:srgbClr val="DCE8F9"/>
          </a:solidFill>
          <a:ln w="19050">
            <a:solidFill>
              <a:srgbClr val="13233A"/>
            </a:solidFill>
            <a:prstDash val="solid"/>
          </a:ln>
        </p:spPr>
      </p:sp>
      <p:sp>
        <p:nvSpPr>
          <p:cNvPr id="6" name="Text 4"/>
          <p:cNvSpPr txBox="1"/>
          <p:nvPr/>
        </p:nvSpPr>
        <p:spPr>
          <a:xfrm>
            <a:off x="1905000" y="1905000"/>
            <a:ext cx="1651000" cy="6985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Train Brain</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p = rail ahead</a:t>
            </a:r>
            <a:endParaRPr lang="en-US" sz="1400" dirty="0"/>
          </a:p>
        </p:txBody>
      </p:sp>
      <p:sp>
        <p:nvSpPr>
          <p:cNvPr id="7" name="Shape 5"/>
          <p:cNvSpPr/>
          <p:nvPr/>
        </p:nvSpPr>
        <p:spPr>
          <a:xfrm>
            <a:off x="4064000" y="1905000"/>
            <a:ext cx="1397000" cy="698500"/>
          </a:xfrm>
          <a:prstGeom prst="roundRect">
            <a:avLst>
              <a:gd name="adj" fmla="val 7855"/>
            </a:avLst>
          </a:prstGeom>
          <a:solidFill>
            <a:srgbClr val="D6EFEA"/>
          </a:solidFill>
          <a:ln w="19050">
            <a:solidFill>
              <a:srgbClr val="1F6F66"/>
            </a:solidFill>
            <a:prstDash val="solid"/>
          </a:ln>
        </p:spPr>
      </p:sp>
      <p:sp>
        <p:nvSpPr>
          <p:cNvPr id="8" name="Text 6"/>
          <p:cNvSpPr txBox="1"/>
          <p:nvPr/>
        </p:nvSpPr>
        <p:spPr>
          <a:xfrm>
            <a:off x="4064000" y="1905000"/>
            <a:ext cx="1397000" cy="6985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Preview gain</a:t>
            </a:r>
            <a:endParaRPr lang="en-US" sz="1400" dirty="0"/>
          </a:p>
          <a:p>
            <a:pPr algn="ctr" indent="0" marL="0">
              <a:buNone/>
            </a:pPr>
            <a:r>
              <a:rPr lang="en-US" sz="1400" dirty="0">
                <a:solidFill>
                  <a:srgbClr val="13233A"/>
                </a:solidFill>
                <a:latin typeface="Courier New" pitchFamily="34" charset="0"/>
                <a:ea typeface="Courier New" pitchFamily="34" charset="-122"/>
                <a:cs typeface="Courier New" pitchFamily="34" charset="-120"/>
              </a:rPr>
              <a:t>Kp(m)</a:t>
            </a:r>
            <a:endParaRPr lang="en-US" sz="1400" dirty="0"/>
          </a:p>
        </p:txBody>
      </p:sp>
      <p:sp>
        <p:nvSpPr>
          <p:cNvPr id="9" name="Shape 7"/>
          <p:cNvSpPr/>
          <p:nvPr/>
        </p:nvSpPr>
        <p:spPr>
          <a:xfrm>
            <a:off x="5839968" y="3299968"/>
            <a:ext cx="512064" cy="512064"/>
          </a:xfrm>
          <a:prstGeom prst="ellipse">
            <a:avLst/>
          </a:prstGeom>
          <a:solidFill>
            <a:srgbClr val="FDFCF9"/>
          </a:solidFill>
          <a:ln w="25400">
            <a:solidFill>
              <a:srgbClr val="13233A"/>
            </a:solidFill>
            <a:prstDash val="solid"/>
          </a:ln>
        </p:spPr>
      </p:sp>
      <p:sp>
        <p:nvSpPr>
          <p:cNvPr id="10" name="Text 8"/>
          <p:cNvSpPr txBox="1"/>
          <p:nvPr/>
        </p:nvSpPr>
        <p:spPr>
          <a:xfrm>
            <a:off x="5839968" y="3299968"/>
            <a:ext cx="512064" cy="512064"/>
          </a:xfrm>
          <a:prstGeom prst="rect">
            <a:avLst/>
          </a:prstGeom>
          <a:noFill/>
          <a:ln/>
        </p:spPr>
        <p:txBody>
          <a:bodyPr wrap="square" lIns="0" tIns="0" rIns="0" bIns="0" rtlCol="0" anchor="ctr"/>
          <a:lstStyle/>
          <a:p>
            <a:pPr algn="ctr" indent="0" marL="0">
              <a:buNone/>
            </a:pPr>
            <a:r>
              <a:rPr lang="en-US" sz="2000" b="1" dirty="0">
                <a:solidFill>
                  <a:srgbClr val="13233A"/>
                </a:solidFill>
              </a:rPr>
              <a:t>Σ</a:t>
            </a:r>
            <a:endParaRPr lang="en-US" sz="2000" dirty="0"/>
          </a:p>
        </p:txBody>
      </p:sp>
      <p:sp>
        <p:nvSpPr>
          <p:cNvPr id="11" name="Shape 9"/>
          <p:cNvSpPr/>
          <p:nvPr/>
        </p:nvSpPr>
        <p:spPr>
          <a:xfrm>
            <a:off x="6731000" y="3175000"/>
            <a:ext cx="1778000" cy="762000"/>
          </a:xfrm>
          <a:prstGeom prst="roundRect">
            <a:avLst>
              <a:gd name="adj" fmla="val 7200"/>
            </a:avLst>
          </a:prstGeom>
          <a:solidFill>
            <a:srgbClr val="FCE3CC"/>
          </a:solidFill>
          <a:ln w="19050">
            <a:solidFill>
              <a:srgbClr val="A8520F"/>
            </a:solidFill>
            <a:prstDash val="solid"/>
          </a:ln>
        </p:spPr>
      </p:sp>
      <p:sp>
        <p:nvSpPr>
          <p:cNvPr id="12" name="Text 10"/>
          <p:cNvSpPr txBox="1"/>
          <p:nvPr/>
        </p:nvSpPr>
        <p:spPr>
          <a:xfrm>
            <a:off x="6731000" y="3175000"/>
            <a:ext cx="1778000" cy="762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Semi-active map</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 C4 push → i*</a:t>
            </a:r>
            <a:endParaRPr lang="en-US" sz="1400" dirty="0"/>
          </a:p>
        </p:txBody>
      </p:sp>
      <p:sp>
        <p:nvSpPr>
          <p:cNvPr id="13" name="Shape 11"/>
          <p:cNvSpPr/>
          <p:nvPr/>
        </p:nvSpPr>
        <p:spPr>
          <a:xfrm>
            <a:off x="8887968" y="3299968"/>
            <a:ext cx="512064" cy="512064"/>
          </a:xfrm>
          <a:prstGeom prst="ellipse">
            <a:avLst/>
          </a:prstGeom>
          <a:solidFill>
            <a:srgbClr val="FDFCF9"/>
          </a:solidFill>
          <a:ln w="25400">
            <a:solidFill>
              <a:srgbClr val="13233A"/>
            </a:solidFill>
            <a:prstDash val="solid"/>
          </a:ln>
        </p:spPr>
      </p:sp>
      <p:sp>
        <p:nvSpPr>
          <p:cNvPr id="14" name="Text 12"/>
          <p:cNvSpPr txBox="1"/>
          <p:nvPr/>
        </p:nvSpPr>
        <p:spPr>
          <a:xfrm>
            <a:off x="8887968" y="3299968"/>
            <a:ext cx="512064" cy="512064"/>
          </a:xfrm>
          <a:prstGeom prst="rect">
            <a:avLst/>
          </a:prstGeom>
          <a:noFill/>
          <a:ln/>
        </p:spPr>
        <p:txBody>
          <a:bodyPr wrap="square" lIns="0" tIns="0" rIns="0" bIns="0" rtlCol="0" anchor="ctr"/>
          <a:lstStyle/>
          <a:p>
            <a:pPr algn="ctr" indent="0" marL="0">
              <a:buNone/>
            </a:pPr>
            <a:r>
              <a:rPr lang="en-US" sz="2000" b="1" dirty="0">
                <a:solidFill>
                  <a:srgbClr val="13233A"/>
                </a:solidFill>
              </a:rPr>
              <a:t>Σ</a:t>
            </a:r>
            <a:endParaRPr lang="en-US" sz="2000" dirty="0"/>
          </a:p>
        </p:txBody>
      </p:sp>
      <p:sp>
        <p:nvSpPr>
          <p:cNvPr id="15" name="Shape 13"/>
          <p:cNvSpPr/>
          <p:nvPr/>
        </p:nvSpPr>
        <p:spPr>
          <a:xfrm>
            <a:off x="9779000" y="3048000"/>
            <a:ext cx="1600200" cy="1016000"/>
          </a:xfrm>
          <a:prstGeom prst="roundRect">
            <a:avLst>
              <a:gd name="adj" fmla="val 5400"/>
            </a:avLst>
          </a:prstGeom>
          <a:solidFill>
            <a:srgbClr val="FFF4D6"/>
          </a:solidFill>
          <a:ln w="19050">
            <a:solidFill>
              <a:srgbClr val="A8520F"/>
            </a:solidFill>
            <a:prstDash val="solid"/>
          </a:ln>
        </p:spPr>
      </p:sp>
      <p:sp>
        <p:nvSpPr>
          <p:cNvPr id="16" name="Text 14"/>
          <p:cNvSpPr txBox="1"/>
          <p:nvPr/>
        </p:nvSpPr>
        <p:spPr>
          <a:xfrm>
            <a:off x="9779000" y="3048000"/>
            <a:ext cx="1600200" cy="1016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PI current loop</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 back-EMF FF</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coil: F = Ke·i</a:t>
            </a:r>
            <a:endParaRPr lang="en-US" sz="1400" dirty="0"/>
          </a:p>
        </p:txBody>
      </p:sp>
      <p:sp>
        <p:nvSpPr>
          <p:cNvPr id="17" name="Shape 15"/>
          <p:cNvSpPr/>
          <p:nvPr/>
        </p:nvSpPr>
        <p:spPr>
          <a:xfrm>
            <a:off x="8763000" y="4699000"/>
            <a:ext cx="2616200" cy="889000"/>
          </a:xfrm>
          <a:prstGeom prst="roundRect">
            <a:avLst>
              <a:gd name="adj" fmla="val 6171"/>
            </a:avLst>
          </a:prstGeom>
          <a:solidFill>
            <a:srgbClr val="DCE8F9"/>
          </a:solidFill>
          <a:ln w="19050">
            <a:solidFill>
              <a:srgbClr val="13233A"/>
            </a:solidFill>
            <a:prstDash val="solid"/>
          </a:ln>
        </p:spPr>
      </p:sp>
      <p:sp>
        <p:nvSpPr>
          <p:cNvPr id="18" name="Text 16"/>
          <p:cNvSpPr txBox="1"/>
          <p:nvPr/>
        </p:nvSpPr>
        <p:spPr>
          <a:xfrm>
            <a:off x="8763000" y="4699000"/>
            <a:ext cx="2616200" cy="889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Half-coach vehicle G(s)</a:t>
            </a:r>
            <a:endParaRPr lang="en-US" sz="1400" dirty="0"/>
          </a:p>
          <a:p>
            <a:pPr algn="ctr" indent="0" marL="0">
              <a:buNone/>
            </a:pPr>
            <a:r>
              <a:rPr lang="en-US" sz="1300" dirty="0">
                <a:solidFill>
                  <a:srgbClr val="13233A"/>
                </a:solidFill>
                <a:latin typeface="Courier New" pitchFamily="34" charset="0"/>
                <a:ea typeface="Courier New" pitchFamily="34" charset="-122"/>
                <a:cs typeface="Courier New" pitchFamily="34" charset="-120"/>
              </a:rPr>
              <a:t>ẋ = A(m)x + B_F F + B_w w</a:t>
            </a:r>
            <a:endParaRPr lang="en-US" sz="1400" dirty="0"/>
          </a:p>
        </p:txBody>
      </p:sp>
      <p:sp>
        <p:nvSpPr>
          <p:cNvPr id="19" name="Shape 17"/>
          <p:cNvSpPr/>
          <p:nvPr/>
        </p:nvSpPr>
        <p:spPr>
          <a:xfrm>
            <a:off x="6223000" y="4826000"/>
            <a:ext cx="1778000" cy="635000"/>
          </a:xfrm>
          <a:prstGeom prst="roundRect">
            <a:avLst>
              <a:gd name="adj" fmla="val 8640"/>
            </a:avLst>
          </a:prstGeom>
          <a:solidFill>
            <a:srgbClr val="D6EFEA"/>
          </a:solidFill>
          <a:ln w="19050">
            <a:solidFill>
              <a:srgbClr val="1F6F66"/>
            </a:solidFill>
            <a:prstDash val="solid"/>
          </a:ln>
        </p:spPr>
      </p:sp>
      <p:sp>
        <p:nvSpPr>
          <p:cNvPr id="20" name="Text 18"/>
          <p:cNvSpPr txBox="1"/>
          <p:nvPr/>
        </p:nvSpPr>
        <p:spPr>
          <a:xfrm>
            <a:off x="6223000" y="4826000"/>
            <a:ext cx="1778000" cy="635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State observer x̂</a:t>
            </a:r>
            <a:endParaRPr lang="en-US" sz="1400" dirty="0"/>
          </a:p>
        </p:txBody>
      </p:sp>
      <p:sp>
        <p:nvSpPr>
          <p:cNvPr id="21" name="Shape 19"/>
          <p:cNvSpPr/>
          <p:nvPr/>
        </p:nvSpPr>
        <p:spPr>
          <a:xfrm>
            <a:off x="3556000" y="4826000"/>
            <a:ext cx="1905000" cy="635000"/>
          </a:xfrm>
          <a:prstGeom prst="roundRect">
            <a:avLst>
              <a:gd name="adj" fmla="val 8640"/>
            </a:avLst>
          </a:prstGeom>
          <a:solidFill>
            <a:srgbClr val="D6EFEA"/>
          </a:solidFill>
          <a:ln w="19050">
            <a:solidFill>
              <a:srgbClr val="1F6F66"/>
            </a:solidFill>
            <a:prstDash val="solid"/>
          </a:ln>
        </p:spPr>
      </p:sp>
      <p:sp>
        <p:nvSpPr>
          <p:cNvPr id="22" name="Text 20"/>
          <p:cNvSpPr txBox="1"/>
          <p:nvPr/>
        </p:nvSpPr>
        <p:spPr>
          <a:xfrm>
            <a:off x="3556000" y="4826000"/>
            <a:ext cx="1905000" cy="635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LPV-LQR gain</a:t>
            </a:r>
            <a:endParaRPr lang="en-US" sz="1400" dirty="0"/>
          </a:p>
          <a:p>
            <a:pPr algn="ctr" indent="0" marL="0">
              <a:buNone/>
            </a:pPr>
            <a:r>
              <a:rPr lang="en-US" sz="1400" dirty="0">
                <a:solidFill>
                  <a:srgbClr val="13233A"/>
                </a:solidFill>
                <a:latin typeface="Courier New" pitchFamily="34" charset="0"/>
                <a:ea typeface="Courier New" pitchFamily="34" charset="-122"/>
                <a:cs typeface="Courier New" pitchFamily="34" charset="-120"/>
              </a:rPr>
              <a:t>Kx(m)</a:t>
            </a:r>
            <a:endParaRPr lang="en-US" sz="1400" dirty="0"/>
          </a:p>
        </p:txBody>
      </p:sp>
      <p:sp>
        <p:nvSpPr>
          <p:cNvPr id="23" name="Shape 21"/>
          <p:cNvSpPr/>
          <p:nvPr/>
        </p:nvSpPr>
        <p:spPr>
          <a:xfrm>
            <a:off x="1778000" y="2254250"/>
            <a:ext cx="127000" cy="914"/>
          </a:xfrm>
          <a:prstGeom prst="line">
            <a:avLst/>
          </a:prstGeom>
          <a:noFill/>
          <a:ln w="25400">
            <a:solidFill>
              <a:srgbClr val="13233A"/>
            </a:solidFill>
            <a:prstDash val="solid"/>
            <a:tailEnd type="triangle"/>
          </a:ln>
        </p:spPr>
      </p:sp>
      <p:sp>
        <p:nvSpPr>
          <p:cNvPr id="24" name="Shape 22"/>
          <p:cNvSpPr/>
          <p:nvPr/>
        </p:nvSpPr>
        <p:spPr>
          <a:xfrm>
            <a:off x="3556000" y="2254250"/>
            <a:ext cx="508000" cy="914"/>
          </a:xfrm>
          <a:prstGeom prst="line">
            <a:avLst/>
          </a:prstGeom>
          <a:noFill/>
          <a:ln w="25400">
            <a:solidFill>
              <a:srgbClr val="13233A"/>
            </a:solidFill>
            <a:prstDash val="solid"/>
            <a:tailEnd type="triangle"/>
          </a:ln>
        </p:spPr>
      </p:sp>
      <p:sp>
        <p:nvSpPr>
          <p:cNvPr id="25" name="Shape 23"/>
          <p:cNvSpPr/>
          <p:nvPr/>
        </p:nvSpPr>
        <p:spPr>
          <a:xfrm>
            <a:off x="5461000" y="2254250"/>
            <a:ext cx="635000" cy="914"/>
          </a:xfrm>
          <a:prstGeom prst="line">
            <a:avLst/>
          </a:prstGeom>
          <a:noFill/>
          <a:ln w="25400">
            <a:solidFill>
              <a:srgbClr val="13233A"/>
            </a:solidFill>
            <a:prstDash val="solid"/>
          </a:ln>
        </p:spPr>
      </p:sp>
      <p:sp>
        <p:nvSpPr>
          <p:cNvPr id="26" name="Shape 24"/>
          <p:cNvSpPr/>
          <p:nvPr/>
        </p:nvSpPr>
        <p:spPr>
          <a:xfrm>
            <a:off x="6096000" y="2254250"/>
            <a:ext cx="914" cy="1047750"/>
          </a:xfrm>
          <a:prstGeom prst="line">
            <a:avLst/>
          </a:prstGeom>
          <a:noFill/>
          <a:ln w="25400">
            <a:solidFill>
              <a:srgbClr val="13233A"/>
            </a:solidFill>
            <a:prstDash val="solid"/>
            <a:tailEnd type="triangle"/>
          </a:ln>
        </p:spPr>
      </p:sp>
      <p:sp>
        <p:nvSpPr>
          <p:cNvPr id="27" name="Shape 25"/>
          <p:cNvSpPr/>
          <p:nvPr/>
        </p:nvSpPr>
        <p:spPr>
          <a:xfrm>
            <a:off x="6350000" y="3556000"/>
            <a:ext cx="381000" cy="914"/>
          </a:xfrm>
          <a:prstGeom prst="line">
            <a:avLst/>
          </a:prstGeom>
          <a:noFill/>
          <a:ln w="25400">
            <a:solidFill>
              <a:srgbClr val="13233A"/>
            </a:solidFill>
            <a:prstDash val="solid"/>
            <a:tailEnd type="triangle"/>
          </a:ln>
        </p:spPr>
      </p:sp>
      <p:sp>
        <p:nvSpPr>
          <p:cNvPr id="28" name="Shape 26"/>
          <p:cNvSpPr/>
          <p:nvPr/>
        </p:nvSpPr>
        <p:spPr>
          <a:xfrm>
            <a:off x="8509000" y="3556000"/>
            <a:ext cx="381000" cy="914"/>
          </a:xfrm>
          <a:prstGeom prst="line">
            <a:avLst/>
          </a:prstGeom>
          <a:noFill/>
          <a:ln w="25400">
            <a:solidFill>
              <a:srgbClr val="13233A"/>
            </a:solidFill>
            <a:prstDash val="solid"/>
            <a:tailEnd type="triangle"/>
          </a:ln>
        </p:spPr>
      </p:sp>
      <p:sp>
        <p:nvSpPr>
          <p:cNvPr id="29" name="Shape 27"/>
          <p:cNvSpPr/>
          <p:nvPr/>
        </p:nvSpPr>
        <p:spPr>
          <a:xfrm>
            <a:off x="9398000" y="3556000"/>
            <a:ext cx="381000" cy="914"/>
          </a:xfrm>
          <a:prstGeom prst="line">
            <a:avLst/>
          </a:prstGeom>
          <a:noFill/>
          <a:ln w="25400">
            <a:solidFill>
              <a:srgbClr val="13233A"/>
            </a:solidFill>
            <a:prstDash val="solid"/>
            <a:tailEnd type="triangle"/>
          </a:ln>
        </p:spPr>
      </p:sp>
      <p:sp>
        <p:nvSpPr>
          <p:cNvPr id="30" name="Shape 28"/>
          <p:cNvSpPr/>
          <p:nvPr/>
        </p:nvSpPr>
        <p:spPr>
          <a:xfrm>
            <a:off x="10668000" y="4064000"/>
            <a:ext cx="914" cy="635000"/>
          </a:xfrm>
          <a:prstGeom prst="line">
            <a:avLst/>
          </a:prstGeom>
          <a:noFill/>
          <a:ln w="25400">
            <a:solidFill>
              <a:srgbClr val="13233A"/>
            </a:solidFill>
            <a:prstDash val="solid"/>
            <a:tailEnd type="triangle"/>
          </a:ln>
        </p:spPr>
      </p:sp>
      <p:sp>
        <p:nvSpPr>
          <p:cNvPr id="31" name="Shape 29"/>
          <p:cNvSpPr/>
          <p:nvPr/>
        </p:nvSpPr>
        <p:spPr>
          <a:xfrm flipH="1">
            <a:off x="8001000" y="5143500"/>
            <a:ext cx="762000" cy="914"/>
          </a:xfrm>
          <a:prstGeom prst="line">
            <a:avLst/>
          </a:prstGeom>
          <a:noFill/>
          <a:ln w="25400">
            <a:solidFill>
              <a:srgbClr val="13233A"/>
            </a:solidFill>
            <a:prstDash val="solid"/>
            <a:tailEnd type="triangle"/>
          </a:ln>
        </p:spPr>
      </p:sp>
      <p:sp>
        <p:nvSpPr>
          <p:cNvPr id="32" name="Shape 30"/>
          <p:cNvSpPr/>
          <p:nvPr/>
        </p:nvSpPr>
        <p:spPr>
          <a:xfrm flipH="1">
            <a:off x="5461000" y="5143500"/>
            <a:ext cx="762000" cy="914"/>
          </a:xfrm>
          <a:prstGeom prst="line">
            <a:avLst/>
          </a:prstGeom>
          <a:noFill/>
          <a:ln w="25400">
            <a:solidFill>
              <a:srgbClr val="13233A"/>
            </a:solidFill>
            <a:prstDash val="solid"/>
            <a:tailEnd type="triangle"/>
          </a:ln>
        </p:spPr>
      </p:sp>
      <p:sp>
        <p:nvSpPr>
          <p:cNvPr id="33" name="Shape 31"/>
          <p:cNvSpPr/>
          <p:nvPr/>
        </p:nvSpPr>
        <p:spPr>
          <a:xfrm flipV="1">
            <a:off x="4508500" y="3556000"/>
            <a:ext cx="914" cy="1270000"/>
          </a:xfrm>
          <a:prstGeom prst="line">
            <a:avLst/>
          </a:prstGeom>
          <a:noFill/>
          <a:ln w="25400">
            <a:solidFill>
              <a:srgbClr val="13233A"/>
            </a:solidFill>
            <a:prstDash val="solid"/>
          </a:ln>
        </p:spPr>
      </p:sp>
      <p:sp>
        <p:nvSpPr>
          <p:cNvPr id="34" name="Shape 32"/>
          <p:cNvSpPr/>
          <p:nvPr/>
        </p:nvSpPr>
        <p:spPr>
          <a:xfrm>
            <a:off x="4508500" y="3556000"/>
            <a:ext cx="1333500" cy="914"/>
          </a:xfrm>
          <a:prstGeom prst="line">
            <a:avLst/>
          </a:prstGeom>
          <a:noFill/>
          <a:ln w="25400">
            <a:solidFill>
              <a:srgbClr val="13233A"/>
            </a:solidFill>
            <a:prstDash val="solid"/>
            <a:tailEnd type="triangle"/>
          </a:ln>
        </p:spPr>
      </p:sp>
      <p:sp>
        <p:nvSpPr>
          <p:cNvPr id="35" name="Shape 33"/>
          <p:cNvSpPr/>
          <p:nvPr/>
        </p:nvSpPr>
        <p:spPr>
          <a:xfrm>
            <a:off x="10033000" y="4064000"/>
            <a:ext cx="914" cy="317500"/>
          </a:xfrm>
          <a:prstGeom prst="line">
            <a:avLst/>
          </a:prstGeom>
          <a:noFill/>
          <a:ln w="25400">
            <a:solidFill>
              <a:srgbClr val="A8520F"/>
            </a:solidFill>
            <a:prstDash val="dash"/>
          </a:ln>
        </p:spPr>
      </p:sp>
      <p:sp>
        <p:nvSpPr>
          <p:cNvPr id="36" name="Shape 34"/>
          <p:cNvSpPr/>
          <p:nvPr/>
        </p:nvSpPr>
        <p:spPr>
          <a:xfrm flipH="1">
            <a:off x="9144000" y="4381500"/>
            <a:ext cx="889000" cy="914"/>
          </a:xfrm>
          <a:prstGeom prst="line">
            <a:avLst/>
          </a:prstGeom>
          <a:noFill/>
          <a:ln w="25400">
            <a:solidFill>
              <a:srgbClr val="A8520F"/>
            </a:solidFill>
            <a:prstDash val="dash"/>
          </a:ln>
        </p:spPr>
      </p:sp>
      <p:sp>
        <p:nvSpPr>
          <p:cNvPr id="37" name="Shape 35"/>
          <p:cNvSpPr/>
          <p:nvPr/>
        </p:nvSpPr>
        <p:spPr>
          <a:xfrm flipV="1">
            <a:off x="9144000" y="3810000"/>
            <a:ext cx="914" cy="571500"/>
          </a:xfrm>
          <a:prstGeom prst="line">
            <a:avLst/>
          </a:prstGeom>
          <a:noFill/>
          <a:ln w="25400">
            <a:solidFill>
              <a:srgbClr val="A8520F"/>
            </a:solidFill>
            <a:prstDash val="dash"/>
            <a:tailEnd type="triangle"/>
          </a:ln>
        </p:spPr>
      </p:sp>
      <p:sp>
        <p:nvSpPr>
          <p:cNvPr id="38" name="Text 36"/>
          <p:cNvSpPr txBox="1"/>
          <p:nvPr/>
        </p:nvSpPr>
        <p:spPr>
          <a:xfrm>
            <a:off x="6191250" y="2984500"/>
            <a:ext cx="254000" cy="254000"/>
          </a:xfrm>
          <a:prstGeom prst="rect">
            <a:avLst/>
          </a:prstGeom>
          <a:noFill/>
          <a:ln/>
        </p:spPr>
        <p:txBody>
          <a:bodyPr wrap="square" lIns="0" tIns="0" rIns="0" bIns="0" rtlCol="0" anchor="t"/>
          <a:lstStyle/>
          <a:p>
            <a:pPr indent="0" marL="0">
              <a:buNone/>
            </a:pPr>
            <a:r>
              <a:rPr lang="en-US" sz="1800" b="1" dirty="0">
                <a:solidFill>
                  <a:srgbClr val="C0392B"/>
                </a:solidFill>
              </a:rPr>
              <a:t>−</a:t>
            </a:r>
            <a:endParaRPr lang="en-US" sz="1800" dirty="0"/>
          </a:p>
        </p:txBody>
      </p:sp>
      <p:sp>
        <p:nvSpPr>
          <p:cNvPr id="39" name="Text 37"/>
          <p:cNvSpPr txBox="1"/>
          <p:nvPr/>
        </p:nvSpPr>
        <p:spPr>
          <a:xfrm>
            <a:off x="5588000" y="3587750"/>
            <a:ext cx="254000" cy="254000"/>
          </a:xfrm>
          <a:prstGeom prst="rect">
            <a:avLst/>
          </a:prstGeom>
          <a:noFill/>
          <a:ln/>
        </p:spPr>
        <p:txBody>
          <a:bodyPr wrap="square" lIns="0" tIns="0" rIns="0" bIns="0" rtlCol="0" anchor="t"/>
          <a:lstStyle/>
          <a:p>
            <a:pPr indent="0" marL="0">
              <a:buNone/>
            </a:pPr>
            <a:r>
              <a:rPr lang="en-US" sz="1800" b="1" dirty="0">
                <a:solidFill>
                  <a:srgbClr val="C0392B"/>
                </a:solidFill>
              </a:rPr>
              <a:t>−</a:t>
            </a:r>
            <a:endParaRPr lang="en-US" sz="1800" dirty="0"/>
          </a:p>
        </p:txBody>
      </p:sp>
      <p:sp>
        <p:nvSpPr>
          <p:cNvPr id="40" name="Text 38"/>
          <p:cNvSpPr txBox="1"/>
          <p:nvPr/>
        </p:nvSpPr>
        <p:spPr>
          <a:xfrm>
            <a:off x="9207500" y="3810000"/>
            <a:ext cx="254000" cy="254000"/>
          </a:xfrm>
          <a:prstGeom prst="rect">
            <a:avLst/>
          </a:prstGeom>
          <a:noFill/>
          <a:ln/>
        </p:spPr>
        <p:txBody>
          <a:bodyPr wrap="square" lIns="0" tIns="0" rIns="0" bIns="0" rtlCol="0" anchor="t"/>
          <a:lstStyle/>
          <a:p>
            <a:pPr indent="0" marL="0">
              <a:buNone/>
            </a:pPr>
            <a:r>
              <a:rPr lang="en-US" sz="1800" b="1" dirty="0">
                <a:solidFill>
                  <a:srgbClr val="C0392B"/>
                </a:solidFill>
              </a:rPr>
              <a:t>−</a:t>
            </a:r>
            <a:endParaRPr lang="en-US" sz="1800" dirty="0"/>
          </a:p>
        </p:txBody>
      </p:sp>
      <p:sp>
        <p:nvSpPr>
          <p:cNvPr id="41" name="Text 39"/>
          <p:cNvSpPr txBox="1"/>
          <p:nvPr/>
        </p:nvSpPr>
        <p:spPr>
          <a:xfrm>
            <a:off x="6381750" y="3270250"/>
            <a:ext cx="444500" cy="254000"/>
          </a:xfrm>
          <a:prstGeom prst="rect">
            <a:avLst/>
          </a:prstGeom>
          <a:noFill/>
          <a:ln/>
        </p:spPr>
        <p:txBody>
          <a:bodyPr wrap="square" lIns="0" tIns="0" rIns="0" bIns="0" rtlCol="0" anchor="t"/>
          <a:lstStyle/>
          <a:p>
            <a:pPr indent="0" marL="0">
              <a:buNone/>
            </a:pPr>
            <a:r>
              <a:rPr lang="en-US" sz="1400" b="1" dirty="0">
                <a:solidFill>
                  <a:srgbClr val="13233A"/>
                </a:solidFill>
              </a:rPr>
              <a:t>F*</a:t>
            </a:r>
            <a:endParaRPr lang="en-US" sz="1400" dirty="0"/>
          </a:p>
        </p:txBody>
      </p:sp>
      <p:sp>
        <p:nvSpPr>
          <p:cNvPr id="42" name="Text 40"/>
          <p:cNvSpPr txBox="1"/>
          <p:nvPr/>
        </p:nvSpPr>
        <p:spPr>
          <a:xfrm>
            <a:off x="8540750" y="3270250"/>
            <a:ext cx="444500" cy="254000"/>
          </a:xfrm>
          <a:prstGeom prst="rect">
            <a:avLst/>
          </a:prstGeom>
          <a:noFill/>
          <a:ln/>
        </p:spPr>
        <p:txBody>
          <a:bodyPr wrap="square" lIns="0" tIns="0" rIns="0" bIns="0" rtlCol="0" anchor="t"/>
          <a:lstStyle/>
          <a:p>
            <a:pPr indent="0" marL="0">
              <a:buNone/>
            </a:pPr>
            <a:r>
              <a:rPr lang="en-US" sz="1400" b="1" dirty="0">
                <a:solidFill>
                  <a:srgbClr val="13233A"/>
                </a:solidFill>
              </a:rPr>
              <a:t>i*</a:t>
            </a:r>
            <a:endParaRPr lang="en-US" sz="1400" dirty="0"/>
          </a:p>
        </p:txBody>
      </p:sp>
      <p:sp>
        <p:nvSpPr>
          <p:cNvPr id="43" name="Text 41"/>
          <p:cNvSpPr txBox="1"/>
          <p:nvPr/>
        </p:nvSpPr>
        <p:spPr>
          <a:xfrm>
            <a:off x="10763250" y="4267200"/>
            <a:ext cx="444500" cy="254000"/>
          </a:xfrm>
          <a:prstGeom prst="rect">
            <a:avLst/>
          </a:prstGeom>
          <a:noFill/>
          <a:ln/>
        </p:spPr>
        <p:txBody>
          <a:bodyPr wrap="square" lIns="0" tIns="0" rIns="0" bIns="0" rtlCol="0" anchor="t"/>
          <a:lstStyle/>
          <a:p>
            <a:pPr indent="0" marL="0">
              <a:buNone/>
            </a:pPr>
            <a:r>
              <a:rPr lang="en-US" sz="1400" b="1" dirty="0">
                <a:solidFill>
                  <a:srgbClr val="13233A"/>
                </a:solidFill>
              </a:rPr>
              <a:t>F_d</a:t>
            </a:r>
            <a:endParaRPr lang="en-US" sz="1400" dirty="0"/>
          </a:p>
        </p:txBody>
      </p:sp>
      <p:sp>
        <p:nvSpPr>
          <p:cNvPr id="44" name="Text 42"/>
          <p:cNvSpPr txBox="1"/>
          <p:nvPr/>
        </p:nvSpPr>
        <p:spPr>
          <a:xfrm>
            <a:off x="8255000" y="4857750"/>
            <a:ext cx="444500" cy="254000"/>
          </a:xfrm>
          <a:prstGeom prst="rect">
            <a:avLst/>
          </a:prstGeom>
          <a:noFill/>
          <a:ln/>
        </p:spPr>
        <p:txBody>
          <a:bodyPr wrap="square" lIns="0" tIns="0" rIns="0" bIns="0" rtlCol="0" anchor="t"/>
          <a:lstStyle/>
          <a:p>
            <a:pPr indent="0" marL="0">
              <a:buNone/>
            </a:pPr>
            <a:r>
              <a:rPr lang="en-US" sz="1400" b="1" dirty="0">
                <a:solidFill>
                  <a:srgbClr val="13233A"/>
                </a:solidFill>
              </a:rPr>
              <a:t>x</a:t>
            </a:r>
            <a:endParaRPr lang="en-US" sz="1400" dirty="0"/>
          </a:p>
        </p:txBody>
      </p:sp>
      <p:sp>
        <p:nvSpPr>
          <p:cNvPr id="45" name="Text 43"/>
          <p:cNvSpPr txBox="1"/>
          <p:nvPr/>
        </p:nvSpPr>
        <p:spPr>
          <a:xfrm>
            <a:off x="9271000" y="4445000"/>
            <a:ext cx="825500" cy="228600"/>
          </a:xfrm>
          <a:prstGeom prst="rect">
            <a:avLst/>
          </a:prstGeom>
          <a:noFill/>
          <a:ln/>
        </p:spPr>
        <p:txBody>
          <a:bodyPr wrap="square" lIns="0" tIns="0" rIns="0" bIns="0" rtlCol="0" anchor="t"/>
          <a:lstStyle/>
          <a:p>
            <a:pPr indent="0" marL="0">
              <a:buNone/>
            </a:pPr>
            <a:r>
              <a:rPr lang="en-US" sz="1200" dirty="0">
                <a:solidFill>
                  <a:srgbClr val="A8520F"/>
                </a:solidFill>
              </a:rPr>
              <a:t>i (meas.)</a:t>
            </a:r>
            <a:endParaRPr lang="en-US" sz="1200" dirty="0"/>
          </a:p>
        </p:txBody>
      </p:sp>
      <p:sp>
        <p:nvSpPr>
          <p:cNvPr id="46" name="Shape 44"/>
          <p:cNvSpPr/>
          <p:nvPr/>
        </p:nvSpPr>
        <p:spPr>
          <a:xfrm>
            <a:off x="812800" y="2825750"/>
            <a:ext cx="3429000" cy="1714500"/>
          </a:xfrm>
          <a:prstGeom prst="roundRect">
            <a:avLst>
              <a:gd name="adj" fmla="val 5333"/>
            </a:avLst>
          </a:prstGeom>
          <a:solidFill>
            <a:srgbClr val="13233A"/>
          </a:solidFill>
          <a:ln/>
        </p:spPr>
      </p:sp>
      <p:sp>
        <p:nvSpPr>
          <p:cNvPr id="47" name="Text 45"/>
          <p:cNvSpPr txBox="1"/>
          <p:nvPr/>
        </p:nvSpPr>
        <p:spPr>
          <a:xfrm>
            <a:off x="995680" y="2962910"/>
            <a:ext cx="3063240" cy="1440180"/>
          </a:xfrm>
          <a:prstGeom prst="rect">
            <a:avLst/>
          </a:prstGeom>
          <a:noFill/>
          <a:ln/>
        </p:spPr>
        <p:txBody>
          <a:bodyPr wrap="square" lIns="0" tIns="0" rIns="0" bIns="0" rtlCol="0" anchor="t"/>
          <a:lstStyle/>
          <a:p>
            <a:pPr indent="0" marL="0">
              <a:spcAft>
                <a:spcPts val="400"/>
              </a:spcAft>
              <a:buNone/>
            </a:pPr>
            <a:r>
              <a:rPr lang="en-US" sz="1500" b="1" dirty="0">
                <a:solidFill>
                  <a:srgbClr val="F0974A"/>
                </a:solidFill>
              </a:rPr>
              <a:t>Controllers used</a:t>
            </a:r>
            <a:endParaRPr lang="en-US" sz="1300" dirty="0"/>
          </a:p>
          <a:p>
            <a:pPr indent="0" marL="0">
              <a:spcAft>
                <a:spcPts val="400"/>
              </a:spcAft>
              <a:buNone/>
            </a:pPr>
            <a:r>
              <a:rPr lang="en-US" sz="1300" dirty="0">
                <a:solidFill>
                  <a:srgbClr val="E4E8EE"/>
                </a:solidFill>
              </a:rPr>
              <a:t>Outer: LPV-LQR state feedback + preview, 100 Hz</a:t>
            </a:r>
            <a:endParaRPr lang="en-US" sz="1300" dirty="0"/>
          </a:p>
          <a:p>
            <a:pPr indent="0" marL="0">
              <a:spcAft>
                <a:spcPts val="400"/>
              </a:spcAft>
              <a:buNone/>
            </a:pPr>
            <a:r>
              <a:rPr lang="en-US" sz="1300" dirty="0">
                <a:solidFill>
                  <a:srgbClr val="E4E8EE"/>
                </a:solidFill>
                <a:latin typeface="Courier New" pitchFamily="34" charset="0"/>
                <a:ea typeface="Courier New" pitchFamily="34" charset="-122"/>
                <a:cs typeface="Courier New" pitchFamily="34" charset="-120"/>
              </a:rPr>
              <a:t>F* = −Kx(m)·x − Kp(m)·p</a:t>
            </a:r>
            <a:endParaRPr lang="en-US" sz="1300" dirty="0"/>
          </a:p>
          <a:p>
            <a:pPr indent="0" marL="0">
              <a:spcAft>
                <a:spcPts val="400"/>
              </a:spcAft>
              <a:buNone/>
            </a:pPr>
            <a:r>
              <a:rPr lang="en-US" sz="1300" dirty="0">
                <a:solidFill>
                  <a:srgbClr val="E4E8EE"/>
                </a:solidFill>
              </a:rPr>
              <a:t>Inner: PI current loop + back-EMF feed-forward, 10 kHz, τ = 0.5 ms</a:t>
            </a:r>
            <a:endParaRPr lang="en-US" sz="1300" dirty="0"/>
          </a:p>
        </p:txBody>
      </p:sp>
      <p:sp>
        <p:nvSpPr>
          <p:cNvPr id="48" name="Text 46"/>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m = measured load (air-spring pressure) schedules both gains · dashed = inner current feedback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 system architecture: two loops, self-powered, fail-safe</a:t>
            </a:r>
            <a:endParaRPr lang="en-US" sz="3000" dirty="0"/>
          </a:p>
        </p:txBody>
      </p:sp>
      <p:sp>
        <p:nvSpPr>
          <p:cNvPr id="4" name="ctrl frame"/>
          <p:cNvSpPr/>
          <p:nvPr/>
        </p:nvSpPr>
        <p:spPr>
          <a:xfrm>
            <a:off x="548640" y="1417320"/>
            <a:ext cx="11094415" cy="4617720"/>
          </a:xfrm>
          <a:prstGeom prst="roundRect">
            <a:avLst>
              <a:gd name="adj" fmla="val 1584"/>
            </a:avLst>
          </a:prstGeom>
          <a:solidFill>
            <a:srgbClr val="FFFFFF"/>
          </a:solidFill>
          <a:ln w="9525">
            <a:solidFill>
              <a:srgbClr val="E3E0D6"/>
            </a:solidFill>
            <a:prstDash val="solid"/>
          </a:ln>
        </p:spPr>
      </p:sp>
      <p:pic>
        <p:nvPicPr>
          <p:cNvPr id="5" name="ctrl" descr="SwarmRide control system architecture: vehicle controller outer loop, damper drive inner loop, smart damper and vehicle, power, fail-safe and sensing">    </p:cNvPr>
          <p:cNvPicPr>
            <a:picLocks noChangeAspect="1"/>
          </p:cNvPicPr>
          <p:nvPr/>
        </p:nvPicPr>
        <p:blipFill>
          <a:blip r:embed="rId1"/>
          <a:stretch>
            <a:fillRect/>
          </a:stretch>
        </p:blipFill>
        <p:spPr>
          <a:xfrm>
            <a:off x="1470245" y="1490472"/>
            <a:ext cx="9251206" cy="4471416"/>
          </a:xfrm>
          <a:prstGeom prst="rect">
            <a:avLst/>
          </a:prstGeom>
        </p:spPr>
      </p:pic>
      <p:sp>
        <p:nvSpPr>
          <p:cNvPr id="6" name="Text 3"/>
          <p:cNvSpPr txBox="1"/>
          <p:nvPr/>
        </p:nvSpPr>
        <p:spPr>
          <a:xfrm>
            <a:off x="548640" y="6089904"/>
            <a:ext cx="11094415" cy="274320"/>
          </a:xfrm>
          <a:prstGeom prst="rect">
            <a:avLst/>
          </a:prstGeom>
          <a:noFill/>
          <a:ln/>
        </p:spPr>
        <p:txBody>
          <a:bodyPr wrap="square" lIns="0" tIns="0" rIns="0" bIns="0" rtlCol="0" anchor="t"/>
          <a:lstStyle/>
          <a:p>
            <a:pPr indent="0" marL="0">
              <a:buNone/>
            </a:pPr>
            <a:r>
              <a:rPr lang="en-US" sz="1200" dirty="0">
                <a:solidFill>
                  <a:srgbClr val="6B7686"/>
                </a:solidFill>
              </a:rPr>
              <a:t>Outer loop 100 Hz · inner current loop 10 kHz · harvested energy to the bogie bank · contactor falls back to today’s damper on a fault</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Controllers used: optimal, load-scheduled, with preview</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1737360"/>
                <a:gridCol w="3749040"/>
                <a:gridCol w="1188720"/>
              </a:tblGrid>
              <a:tr h="612648">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 law</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C0 Oil damper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Passive, fixed c = c_today</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C1 Fixed harvester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One fixed damping setting</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Benchmark</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C2 LPV-LQR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LQR at 5 loads, gains blended by load m, Tc = 10 ms</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Core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C3 + preview</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States [x; p], 221 rail samples ahead and behind</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C4 + push</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Coil motors inside a window at a known bad spot</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Stage 4</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Drive PI</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Kp = L/τ, Ki = R/τ, τ = 0.5 ms, back-EMF FF, anti-windup</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10 kHz</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7498080" y="1645920"/>
            <a:ext cx="4144975" cy="4343400"/>
          </a:xfrm>
          <a:prstGeom prst="roundRect">
            <a:avLst>
              <a:gd name="adj" fmla="val 2206"/>
            </a:avLst>
          </a:prstGeom>
          <a:solidFill>
            <a:srgbClr val="13233A"/>
          </a:solidFill>
          <a:ln/>
        </p:spPr>
      </p:sp>
      <p:sp>
        <p:nvSpPr>
          <p:cNvPr id="6" name="Text 3"/>
          <p:cNvSpPr txBox="1"/>
          <p:nvPr/>
        </p:nvSpPr>
        <p:spPr>
          <a:xfrm>
            <a:off x="7772400" y="1874520"/>
            <a:ext cx="3596335" cy="3931920"/>
          </a:xfrm>
          <a:prstGeom prst="rect">
            <a:avLst/>
          </a:prstGeom>
          <a:noFill/>
          <a:ln/>
        </p:spPr>
        <p:txBody>
          <a:bodyPr wrap="square" lIns="0" tIns="0" rIns="0" bIns="0" rtlCol="0" anchor="t"/>
          <a:lstStyle/>
          <a:p>
            <a:pPr indent="0" marL="0">
              <a:buNone/>
            </a:pPr>
            <a:r>
              <a:rPr lang="en-US" sz="1800" b="1" dirty="0">
                <a:solidFill>
                  <a:srgbClr val="F0974A"/>
                </a:solidFill>
              </a:rPr>
              <a:t>Optimal design (LQR)</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J = Σ (a/a_ref)² + (d/s_ref)²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      + r_w·(F/F_ref)²</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F* = −Kx(m)·x − Kp(m)·p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 = F*·v / (v² + ε²)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c_floor ≤ c* ≤ c_cap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BFD8D5"/>
                </a:solidFill>
              </a:rPr>
              <a:t>Stable at every load: closed-loop spectral radius 0.979–0.981 (LHB, &lt; 1)</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a = body acceleration over both bogies · d = suspension stroke · F = damper force · m = measured load</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IMPLEMENTATION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Built and run in MATLAB/Simulink R2024b</a:t>
            </a:r>
            <a:endParaRPr lang="en-US" sz="3000" dirty="0"/>
          </a:p>
        </p:txBody>
      </p:sp>
      <p:sp>
        <p:nvSpPr>
          <p:cNvPr id="4" name="m4 frame"/>
          <p:cNvSpPr/>
          <p:nvPr/>
        </p:nvSpPr>
        <p:spPr>
          <a:xfrm>
            <a:off x="548640" y="1554480"/>
            <a:ext cx="6492240" cy="4114800"/>
          </a:xfrm>
          <a:prstGeom prst="roundRect">
            <a:avLst>
              <a:gd name="adj" fmla="val 1778"/>
            </a:avLst>
          </a:prstGeom>
          <a:solidFill>
            <a:srgbClr val="FFFFFF"/>
          </a:solidFill>
          <a:ln w="9525">
            <a:solidFill>
              <a:srgbClr val="E3E0D6"/>
            </a:solidFill>
            <a:prstDash val="solid"/>
          </a:ln>
        </p:spPr>
      </p:sp>
      <p:pic>
        <p:nvPicPr>
          <p:cNvPr id="5" name="m4" descr="Simulink model SR_Stage4: track, Train Brain, controller, smart damper, power electronics, power bank, scopes">    </p:cNvPr>
          <p:cNvPicPr>
            <a:picLocks noChangeAspect="1"/>
          </p:cNvPicPr>
          <p:nvPr/>
        </p:nvPicPr>
        <p:blipFill>
          <a:blip r:embed="rId1"/>
          <a:stretch>
            <a:fillRect/>
          </a:stretch>
        </p:blipFill>
        <p:spPr>
          <a:xfrm>
            <a:off x="621792" y="1942981"/>
            <a:ext cx="6345936" cy="3337798"/>
          </a:xfrm>
          <a:prstGeom prst="rect">
            <a:avLst/>
          </a:prstGeom>
        </p:spPr>
      </p:pic>
      <p:sp>
        <p:nvSpPr>
          <p:cNvPr id="6" name="Text 3"/>
          <p:cNvSpPr txBox="1"/>
          <p:nvPr/>
        </p:nvSpPr>
        <p:spPr>
          <a:xfrm>
            <a:off x="548640" y="5760720"/>
            <a:ext cx="6492240" cy="365760"/>
          </a:xfrm>
          <a:prstGeom prst="rect">
            <a:avLst/>
          </a:prstGeom>
          <a:noFill/>
          <a:ln/>
        </p:spPr>
        <p:txBody>
          <a:bodyPr wrap="square" lIns="0" tIns="0" rIns="0" bIns="0" rtlCol="0" anchor="t"/>
          <a:lstStyle/>
          <a:p>
            <a:pPr indent="0" marL="0">
              <a:buNone/>
            </a:pPr>
            <a:r>
              <a:rPr lang="en-US" sz="1400" b="1" dirty="0">
                <a:solidFill>
                  <a:srgbClr val="13233A"/>
                </a:solidFill>
              </a:rPr>
              <a:t>SR_Stage4: </a:t>
            </a:r>
            <a:pPr indent="0" marL="0">
              <a:buNone/>
            </a:pPr>
            <a:r>
              <a:rPr lang="en-US" sz="1400" dirty="0">
                <a:solidFill>
                  <a:srgbClr val="3D4A5C"/>
                </a:solidFill>
              </a:rPr>
              <a:t>track · Train Brain · controller · damper · bank · 8 live scopes</a:t>
            </a:r>
            <a:endParaRPr lang="en-US" sz="1400" dirty="0"/>
          </a:p>
        </p:txBody>
      </p:sp>
      <p:sp>
        <p:nvSpPr>
          <p:cNvPr id="7" name="mctrl frame"/>
          <p:cNvSpPr/>
          <p:nvPr/>
        </p:nvSpPr>
        <p:spPr>
          <a:xfrm>
            <a:off x="7269480" y="1554480"/>
            <a:ext cx="4373575" cy="1417320"/>
          </a:xfrm>
          <a:prstGeom prst="roundRect">
            <a:avLst>
              <a:gd name="adj" fmla="val 5161"/>
            </a:avLst>
          </a:prstGeom>
          <a:solidFill>
            <a:srgbClr val="FFFFFF"/>
          </a:solidFill>
          <a:ln w="9525">
            <a:solidFill>
              <a:srgbClr val="E3E0D6"/>
            </a:solidFill>
            <a:prstDash val="solid"/>
          </a:ln>
        </p:spPr>
      </p:sp>
      <p:pic>
        <p:nvPicPr>
          <p:cNvPr id="8" name="mctrl" descr="Controller subsystem: LPV state feedback with preview, semi-active conversion, command smoothing">    </p:cNvPr>
          <p:cNvPicPr>
            <a:picLocks noChangeAspect="1"/>
          </p:cNvPicPr>
          <p:nvPr/>
        </p:nvPicPr>
        <p:blipFill>
          <a:blip r:embed="rId2"/>
          <a:stretch>
            <a:fillRect/>
          </a:stretch>
        </p:blipFill>
        <p:spPr>
          <a:xfrm>
            <a:off x="7342632" y="1774777"/>
            <a:ext cx="4227271" cy="976726"/>
          </a:xfrm>
          <a:prstGeom prst="rect">
            <a:avLst/>
          </a:prstGeom>
        </p:spPr>
      </p:pic>
      <p:sp>
        <p:nvSpPr>
          <p:cNvPr id="9" name="Text 5"/>
          <p:cNvSpPr txBox="1"/>
          <p:nvPr/>
        </p:nvSpPr>
        <p:spPr>
          <a:xfrm>
            <a:off x="7269480" y="3035808"/>
            <a:ext cx="4373575" cy="320040"/>
          </a:xfrm>
          <a:prstGeom prst="rect">
            <a:avLst/>
          </a:prstGeom>
          <a:noFill/>
          <a:ln/>
        </p:spPr>
        <p:txBody>
          <a:bodyPr wrap="square" lIns="0" tIns="0" rIns="0" bIns="0" rtlCol="0" anchor="t"/>
          <a:lstStyle/>
          <a:p>
            <a:pPr indent="0" marL="0">
              <a:buNone/>
            </a:pPr>
            <a:r>
              <a:rPr lang="en-US" sz="1400" b="1" dirty="0">
                <a:solidFill>
                  <a:srgbClr val="13233A"/>
                </a:solidFill>
              </a:rPr>
              <a:t>Controller: </a:t>
            </a:r>
            <a:pPr indent="0" marL="0">
              <a:buNone/>
            </a:pPr>
            <a:r>
              <a:rPr lang="en-US" sz="1400" dirty="0">
                <a:solidFill>
                  <a:srgbClr val="3D4A5C"/>
                </a:solidFill>
              </a:rPr>
              <a:t>LPV + preview, semi-active map</a:t>
            </a:r>
            <a:endParaRPr lang="en-US" sz="1400" dirty="0"/>
          </a:p>
        </p:txBody>
      </p:sp>
      <p:sp>
        <p:nvSpPr>
          <p:cNvPr id="10" name="mbench frame"/>
          <p:cNvSpPr/>
          <p:nvPr/>
        </p:nvSpPr>
        <p:spPr>
          <a:xfrm>
            <a:off x="7269480" y="3474720"/>
            <a:ext cx="4373575" cy="2194560"/>
          </a:xfrm>
          <a:prstGeom prst="roundRect">
            <a:avLst>
              <a:gd name="adj" fmla="val 3333"/>
            </a:avLst>
          </a:prstGeom>
          <a:solidFill>
            <a:srgbClr val="FFFFFF"/>
          </a:solidFill>
          <a:ln w="9525">
            <a:solidFill>
              <a:srgbClr val="E3E0D6"/>
            </a:solidFill>
            <a:prstDash val="solid"/>
          </a:ln>
        </p:spPr>
      </p:sp>
      <p:pic>
        <p:nvPicPr>
          <p:cNvPr id="11" name="mbench" descr="Simulink bench model SR_Bench: test rig, drive firmware, damper hardware, power electronics, bank, winding temperature">    </p:cNvPr>
          <p:cNvPicPr>
            <a:picLocks noChangeAspect="1"/>
          </p:cNvPicPr>
          <p:nvPr/>
        </p:nvPicPr>
        <p:blipFill>
          <a:blip r:embed="rId3"/>
          <a:stretch>
            <a:fillRect/>
          </a:stretch>
        </p:blipFill>
        <p:spPr>
          <a:xfrm>
            <a:off x="7632221" y="3547872"/>
            <a:ext cx="3648093" cy="2048256"/>
          </a:xfrm>
          <a:prstGeom prst="rect">
            <a:avLst/>
          </a:prstGeom>
        </p:spPr>
      </p:pic>
      <p:sp>
        <p:nvSpPr>
          <p:cNvPr id="12" name="Text 7"/>
          <p:cNvSpPr txBox="1"/>
          <p:nvPr/>
        </p:nvSpPr>
        <p:spPr>
          <a:xfrm>
            <a:off x="7269480" y="5760720"/>
            <a:ext cx="4373575" cy="365760"/>
          </a:xfrm>
          <a:prstGeom prst="rect">
            <a:avLst/>
          </a:prstGeom>
          <a:noFill/>
          <a:ln/>
        </p:spPr>
        <p:txBody>
          <a:bodyPr wrap="square" lIns="0" tIns="0" rIns="0" bIns="0" rtlCol="0" anchor="t"/>
          <a:lstStyle/>
          <a:p>
            <a:pPr indent="0" marL="0">
              <a:buNone/>
            </a:pPr>
            <a:r>
              <a:rPr lang="en-US" sz="1400" b="1" dirty="0">
                <a:solidFill>
                  <a:srgbClr val="13233A"/>
                </a:solidFill>
              </a:rPr>
              <a:t>SR_Bench: </a:t>
            </a:r>
            <a:pPr indent="0" marL="0">
              <a:buNone/>
            </a:pPr>
            <a:r>
              <a:rPr lang="en-US" sz="1400" dirty="0">
                <a:solidFill>
                  <a:srgbClr val="3D4A5C"/>
                </a:solidFill>
              </a:rPr>
              <a:t>one damper on a test rig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RIDE COMFORT</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Better ride at every load, on every train</a:t>
            </a:r>
            <a:endParaRPr lang="en-US" sz="3000" dirty="0"/>
          </a:p>
        </p:txBody>
      </p:sp>
      <p:sp>
        <p:nvSpPr>
          <p:cNvPr id="4" name="ride frame"/>
          <p:cNvSpPr/>
          <p:nvPr/>
        </p:nvSpPr>
        <p:spPr>
          <a:xfrm>
            <a:off x="548640" y="1554480"/>
            <a:ext cx="6949440" cy="4572000"/>
          </a:xfrm>
          <a:prstGeom prst="roundRect">
            <a:avLst>
              <a:gd name="adj" fmla="val 1600"/>
            </a:avLst>
          </a:prstGeom>
          <a:solidFill>
            <a:srgbClr val="FFFFFF"/>
          </a:solidFill>
          <a:ln w="9525">
            <a:solidFill>
              <a:srgbClr val="E3E0D6"/>
            </a:solidFill>
            <a:prstDash val="solid"/>
          </a:ln>
        </p:spPr>
      </p:sp>
      <p:pic>
        <p:nvPicPr>
          <p:cNvPr id="5" name="ride" descr="Sperling ride index against load for LHB, Vande Bharat, ICF and BOXN: today's damper, fixed harvester, SwarmRide LPV and LPV plus preview">    </p:cNvPr>
          <p:cNvPicPr>
            <a:picLocks noChangeAspect="1"/>
          </p:cNvPicPr>
          <p:nvPr/>
        </p:nvPicPr>
        <p:blipFill>
          <a:blip r:embed="rId1"/>
          <a:stretch>
            <a:fillRect/>
          </a:stretch>
        </p:blipFill>
        <p:spPr>
          <a:xfrm>
            <a:off x="1099532" y="1627632"/>
            <a:ext cx="5847656" cy="4425696"/>
          </a:xfrm>
          <a:prstGeom prst="rect">
            <a:avLst/>
          </a:prstGeom>
        </p:spPr>
      </p:pic>
      <p:sp>
        <p:nvSpPr>
          <p:cNvPr id="6" name="Shape 3"/>
          <p:cNvSpPr/>
          <p:nvPr/>
        </p:nvSpPr>
        <p:spPr>
          <a:xfrm>
            <a:off x="7772400" y="1554480"/>
            <a:ext cx="3870655" cy="1417320"/>
          </a:xfrm>
          <a:prstGeom prst="roundRect">
            <a:avLst>
              <a:gd name="adj" fmla="val 6452"/>
            </a:avLst>
          </a:prstGeom>
          <a:solidFill>
            <a:srgbClr val="13233A"/>
          </a:solidFill>
          <a:ln/>
        </p:spPr>
      </p:sp>
      <p:sp>
        <p:nvSpPr>
          <p:cNvPr id="7" name="Text 4"/>
          <p:cNvSpPr txBox="1"/>
          <p:nvPr/>
        </p:nvSpPr>
        <p:spPr>
          <a:xfrm>
            <a:off x="7973568" y="1700784"/>
            <a:ext cx="346831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−17%</a:t>
            </a:r>
            <a:endParaRPr lang="en-US" sz="3200" dirty="0"/>
          </a:p>
        </p:txBody>
      </p:sp>
      <p:sp>
        <p:nvSpPr>
          <p:cNvPr id="8" name="Text 5"/>
          <p:cNvSpPr txBox="1"/>
          <p:nvPr/>
        </p:nvSpPr>
        <p:spPr>
          <a:xfrm>
            <a:off x="7973568" y="2286000"/>
            <a:ext cx="3468319" cy="576072"/>
          </a:xfrm>
          <a:prstGeom prst="rect">
            <a:avLst/>
          </a:prstGeom>
          <a:noFill/>
          <a:ln/>
        </p:spPr>
        <p:txBody>
          <a:bodyPr wrap="square" lIns="0" tIns="0" rIns="0" bIns="0" rtlCol="0" anchor="t"/>
          <a:lstStyle/>
          <a:p>
            <a:pPr indent="0" marL="0">
              <a:buNone/>
            </a:pPr>
            <a:r>
              <a:rPr lang="en-US" sz="1400" dirty="0">
                <a:solidFill>
                  <a:srgbClr val="E4E8EE"/>
                </a:solidFill>
              </a:rPr>
              <a:t>Sperling Wz, crowded LHB, 160 km/h · 1.844 → 1.528</a:t>
            </a:r>
            <a:endParaRPr lang="en-US" sz="1400" dirty="0"/>
          </a:p>
        </p:txBody>
      </p:sp>
      <p:sp>
        <p:nvSpPr>
          <p:cNvPr id="9" name="Shape 6"/>
          <p:cNvSpPr/>
          <p:nvPr/>
        </p:nvSpPr>
        <p:spPr>
          <a:xfrm>
            <a:off x="7772400" y="3127248"/>
            <a:ext cx="3870655" cy="1417320"/>
          </a:xfrm>
          <a:prstGeom prst="roundRect">
            <a:avLst>
              <a:gd name="adj" fmla="val 6452"/>
            </a:avLst>
          </a:prstGeom>
          <a:solidFill>
            <a:srgbClr val="FDFCF9"/>
          </a:solidFill>
          <a:ln w="9525">
            <a:solidFill>
              <a:srgbClr val="E3E0D6"/>
            </a:solidFill>
            <a:prstDash val="solid"/>
          </a:ln>
        </p:spPr>
      </p:sp>
      <p:sp>
        <p:nvSpPr>
          <p:cNvPr id="10" name="Text 7"/>
          <p:cNvSpPr txBox="1"/>
          <p:nvPr/>
        </p:nvSpPr>
        <p:spPr>
          <a:xfrm>
            <a:off x="7973568" y="3273552"/>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−41%</a:t>
            </a:r>
            <a:endParaRPr lang="en-US" sz="3200" dirty="0"/>
          </a:p>
        </p:txBody>
      </p:sp>
      <p:sp>
        <p:nvSpPr>
          <p:cNvPr id="11" name="Text 8"/>
          <p:cNvSpPr txBox="1"/>
          <p:nvPr/>
        </p:nvSpPr>
        <p:spPr>
          <a:xfrm>
            <a:off x="7973568" y="3858768"/>
            <a:ext cx="3468319" cy="576072"/>
          </a:xfrm>
          <a:prstGeom prst="rect">
            <a:avLst/>
          </a:prstGeom>
          <a:noFill/>
          <a:ln/>
        </p:spPr>
        <p:txBody>
          <a:bodyPr wrap="square" lIns="0" tIns="0" rIns="0" bIns="0" rtlCol="0" anchor="t"/>
          <a:lstStyle/>
          <a:p>
            <a:pPr indent="0" marL="0">
              <a:buNone/>
            </a:pPr>
            <a:r>
              <a:rPr lang="en-US" sz="1400" dirty="0">
                <a:solidFill>
                  <a:srgbClr val="3D4A5C"/>
                </a:solidFill>
              </a:rPr>
              <a:t>body vibration RMS · 0.174 → 0.103 m/s²</a:t>
            </a:r>
            <a:endParaRPr lang="en-US" sz="1400" dirty="0"/>
          </a:p>
        </p:txBody>
      </p:sp>
      <p:sp>
        <p:nvSpPr>
          <p:cNvPr id="12" name="Shape 9"/>
          <p:cNvSpPr/>
          <p:nvPr/>
        </p:nvSpPr>
        <p:spPr>
          <a:xfrm>
            <a:off x="7772400" y="4700016"/>
            <a:ext cx="3870655" cy="1417320"/>
          </a:xfrm>
          <a:prstGeom prst="roundRect">
            <a:avLst>
              <a:gd name="adj" fmla="val 6452"/>
            </a:avLst>
          </a:prstGeom>
          <a:solidFill>
            <a:srgbClr val="FDFCF9"/>
          </a:solidFill>
          <a:ln w="9525">
            <a:solidFill>
              <a:srgbClr val="E3E0D6"/>
            </a:solidFill>
            <a:prstDash val="solid"/>
          </a:ln>
        </p:spPr>
      </p:sp>
      <p:sp>
        <p:nvSpPr>
          <p:cNvPr id="13" name="Text 10"/>
          <p:cNvSpPr txBox="1"/>
          <p:nvPr/>
        </p:nvSpPr>
        <p:spPr>
          <a:xfrm>
            <a:off x="7973568" y="4846320"/>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−16% · −23%</a:t>
            </a:r>
            <a:endParaRPr lang="en-US" sz="3200" dirty="0"/>
          </a:p>
        </p:txBody>
      </p:sp>
      <p:sp>
        <p:nvSpPr>
          <p:cNvPr id="14" name="Text 11"/>
          <p:cNvSpPr txBox="1"/>
          <p:nvPr/>
        </p:nvSpPr>
        <p:spPr>
          <a:xfrm>
            <a:off x="7973568" y="5431536"/>
            <a:ext cx="3468319" cy="576072"/>
          </a:xfrm>
          <a:prstGeom prst="rect">
            <a:avLst/>
          </a:prstGeom>
          <a:noFill/>
          <a:ln/>
        </p:spPr>
        <p:txBody>
          <a:bodyPr wrap="square" lIns="0" tIns="0" rIns="0" bIns="0" rtlCol="0" anchor="t"/>
          <a:lstStyle/>
          <a:p>
            <a:pPr indent="0" marL="0">
              <a:buNone/>
            </a:pPr>
            <a:r>
              <a:rPr lang="en-US" sz="1400" dirty="0">
                <a:solidFill>
                  <a:srgbClr val="3D4A5C"/>
                </a:solidFill>
              </a:rPr>
              <a:t>Vande Bharat · loaded BOXN wagon</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COMFORT AND POWER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Each controller step buys comfort — and still makes power</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309360" cy="914400"/>
        </p:xfrm>
        <a:graphic>
          <a:graphicData uri="http://schemas.openxmlformats.org/drawingml/2006/table">
            <a:tbl>
              <a:tblPr/>
              <a:tblGrid>
                <a:gridCol w="2286000"/>
                <a:gridCol w="914400"/>
                <a:gridCol w="1097280"/>
                <a:gridCol w="1005840"/>
                <a:gridCol w="1005840"/>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Crowded LHB, rough track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Wz</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RMS m/s²</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Stroke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Bank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C0 today’s damper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1.844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0.174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25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C1 fixed harvester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1.639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0.124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12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C2 LPV-LQR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1.559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17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C3 LPV + preview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1.528</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33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bl>
          </a:graphicData>
        </a:graphic>
      </p:graphicFrame>
      <p:sp>
        <p:nvSpPr>
          <p:cNvPr id="5" name="cvp frame"/>
          <p:cNvSpPr/>
          <p:nvPr/>
        </p:nvSpPr>
        <p:spPr>
          <a:xfrm>
            <a:off x="7086600" y="1600200"/>
            <a:ext cx="4556455" cy="3566160"/>
          </a:xfrm>
          <a:prstGeom prst="roundRect">
            <a:avLst>
              <a:gd name="adj" fmla="val 2051"/>
            </a:avLst>
          </a:prstGeom>
          <a:solidFill>
            <a:srgbClr val="FFFFFF"/>
          </a:solidFill>
          <a:ln w="9525">
            <a:solidFill>
              <a:srgbClr val="E3E0D6"/>
            </a:solidFill>
            <a:prstDash val="solid"/>
          </a:ln>
        </p:spPr>
      </p:sp>
      <p:pic>
        <p:nvPicPr>
          <p:cNvPr id="6" name="cvp" descr="Comfort against harvested power for fixed settings and SwarmRide controllers">    </p:cNvPr>
          <p:cNvPicPr>
            <a:picLocks noChangeAspect="1"/>
          </p:cNvPicPr>
          <p:nvPr/>
        </p:nvPicPr>
        <p:blipFill>
          <a:blip r:embed="rId1"/>
          <a:stretch>
            <a:fillRect/>
          </a:stretch>
        </p:blipFill>
        <p:spPr>
          <a:xfrm>
            <a:off x="7159752" y="1821274"/>
            <a:ext cx="4410151" cy="3124012"/>
          </a:xfrm>
          <a:prstGeom prst="rect">
            <a:avLst/>
          </a:prstGeom>
        </p:spPr>
      </p:pic>
      <p:sp>
        <p:nvSpPr>
          <p:cNvPr id="7" name="Text 3"/>
          <p:cNvSpPr txBox="1"/>
          <p:nvPr/>
        </p:nvSpPr>
        <p:spPr>
          <a:xfrm>
            <a:off x="7086600" y="5257800"/>
            <a:ext cx="4556455" cy="548640"/>
          </a:xfrm>
          <a:prstGeom prst="rect">
            <a:avLst/>
          </a:prstGeom>
          <a:noFill/>
          <a:ln/>
        </p:spPr>
        <p:txBody>
          <a:bodyPr wrap="square" lIns="0" tIns="0" rIns="0" bIns="0" rtlCol="0" anchor="t"/>
          <a:lstStyle/>
          <a:p>
            <a:pPr indent="0" marL="0">
              <a:buNone/>
            </a:pPr>
            <a:r>
              <a:rPr lang="en-US" sz="1400" dirty="0">
                <a:solidFill>
                  <a:srgbClr val="3D4A5C"/>
                </a:solidFill>
              </a:rPr>
              <a:t>No fixed setting reaches C3 — the best fixed one stops at Wz 1.635.</a:t>
            </a:r>
            <a:endParaRPr lang="en-US" sz="1400" dirty="0"/>
          </a:p>
        </p:txBody>
      </p:sp>
      <p:sp>
        <p:nvSpPr>
          <p:cNvPr id="8" name="Shape 4"/>
          <p:cNvSpPr/>
          <p:nvPr/>
        </p:nvSpPr>
        <p:spPr>
          <a:xfrm>
            <a:off x="548640" y="4206240"/>
            <a:ext cx="6309360" cy="1463040"/>
          </a:xfrm>
          <a:prstGeom prst="roundRect">
            <a:avLst>
              <a:gd name="adj" fmla="val 6250"/>
            </a:avLst>
          </a:prstGeom>
          <a:solidFill>
            <a:srgbClr val="13233A"/>
          </a:solidFill>
          <a:ln/>
        </p:spPr>
      </p:sp>
      <p:sp>
        <p:nvSpPr>
          <p:cNvPr id="9" name="Text 5"/>
          <p:cNvSpPr txBox="1"/>
          <p:nvPr/>
        </p:nvSpPr>
        <p:spPr>
          <a:xfrm>
            <a:off x="822960" y="4389120"/>
            <a:ext cx="5760720" cy="1097280"/>
          </a:xfrm>
          <a:prstGeom prst="rect">
            <a:avLst/>
          </a:prstGeom>
          <a:noFill/>
          <a:ln/>
        </p:spPr>
        <p:txBody>
          <a:bodyPr wrap="square" lIns="0" tIns="0" rIns="0" bIns="0" rtlCol="0" anchor="t"/>
          <a:lstStyle/>
          <a:p>
            <a:pPr indent="0" marL="0">
              <a:buNone/>
            </a:pPr>
            <a:r>
              <a:rPr lang="en-US" sz="1700" b="1" dirty="0">
                <a:solidFill>
                  <a:srgbClr val="F0974A"/>
                </a:solidFill>
              </a:rPr>
              <a:t>33 W into the bank against 8 W needed</a:t>
            </a:r>
            <a:endParaRPr lang="en-US" sz="1700" dirty="0"/>
          </a:p>
          <a:p>
            <a:pPr indent="0" marL="0">
              <a:buNone/>
            </a:pPr>
            <a:r>
              <a:rPr lang="en-US" sz="1700" dirty="0">
                <a:solidFill>
                  <a:srgbClr val="E4E8EE"/>
                </a:solidFill>
              </a:rPr>
              <a:t>by the bogie electronics — the bogie powers itself, with 25 W to spare.</a:t>
            </a:r>
            <a:endParaRPr lang="en-US" sz="17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C1 corresponds to the base paper’s fixed-duty-cycle harvester · design C damper · 160 km/h · poor track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ACTIVE PUSH (C4)</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At a known bad spot, the damper pushes with its own energy</a:t>
            </a:r>
            <a:endParaRPr lang="en-US" sz="3000" dirty="0"/>
          </a:p>
        </p:txBody>
      </p:sp>
      <p:sp>
        <p:nvSpPr>
          <p:cNvPr id="4" name="push frame"/>
          <p:cNvSpPr/>
          <p:nvPr/>
        </p:nvSpPr>
        <p:spPr>
          <a:xfrm>
            <a:off x="548640" y="1554480"/>
            <a:ext cx="11094415" cy="3063240"/>
          </a:xfrm>
          <a:prstGeom prst="roundRect">
            <a:avLst>
              <a:gd name="adj" fmla="val 2388"/>
            </a:avLst>
          </a:prstGeom>
          <a:solidFill>
            <a:srgbClr val="FFFFFF"/>
          </a:solidFill>
          <a:ln w="9525">
            <a:solidFill>
              <a:srgbClr val="E3E0D6"/>
            </a:solidFill>
            <a:prstDash val="solid"/>
          </a:ln>
        </p:spPr>
      </p:sp>
      <p:pic>
        <p:nvPicPr>
          <p:cNvPr id="5" name="push" descr="Body acceleration at a track settlement and a short dip: today's damper, C3 resist only, C4 push">    </p:cNvPr>
          <p:cNvPicPr>
            <a:picLocks noChangeAspect="1"/>
          </p:cNvPicPr>
          <p:nvPr/>
        </p:nvPicPr>
        <p:blipFill>
          <a:blip r:embed="rId1"/>
          <a:stretch>
            <a:fillRect/>
          </a:stretch>
        </p:blipFill>
        <p:spPr>
          <a:xfrm>
            <a:off x="3042953" y="1627632"/>
            <a:ext cx="6105790" cy="2916936"/>
          </a:xfrm>
          <a:prstGeom prst="rect">
            <a:avLst/>
          </a:prstGeom>
        </p:spPr>
      </p:pic>
      <p:sp>
        <p:nvSpPr>
          <p:cNvPr id="6" name="Shape 3"/>
          <p:cNvSpPr/>
          <p:nvPr/>
        </p:nvSpPr>
        <p:spPr>
          <a:xfrm>
            <a:off x="548640" y="4754880"/>
            <a:ext cx="3545738" cy="1371600"/>
          </a:xfrm>
          <a:prstGeom prst="roundRect">
            <a:avLst>
              <a:gd name="adj" fmla="val 6667"/>
            </a:avLst>
          </a:prstGeom>
          <a:solidFill>
            <a:srgbClr val="13233A"/>
          </a:solidFill>
          <a:ln/>
        </p:spPr>
      </p:sp>
      <p:sp>
        <p:nvSpPr>
          <p:cNvPr id="7" name="Text 4"/>
          <p:cNvSpPr txBox="1"/>
          <p:nvPr/>
        </p:nvSpPr>
        <p:spPr>
          <a:xfrm>
            <a:off x="749808" y="490118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−80%</a:t>
            </a:r>
            <a:endParaRPr lang="en-US" sz="3200" dirty="0"/>
          </a:p>
        </p:txBody>
      </p:sp>
      <p:sp>
        <p:nvSpPr>
          <p:cNvPr id="8" name="Text 5"/>
          <p:cNvSpPr txBox="1"/>
          <p:nvPr/>
        </p:nvSpPr>
        <p:spPr>
          <a:xfrm>
            <a:off x="749808" y="5486400"/>
            <a:ext cx="3143402" cy="530352"/>
          </a:xfrm>
          <a:prstGeom prst="rect">
            <a:avLst/>
          </a:prstGeom>
          <a:noFill/>
          <a:ln/>
        </p:spPr>
        <p:txBody>
          <a:bodyPr wrap="square" lIns="0" tIns="0" rIns="0" bIns="0" rtlCol="0" anchor="t"/>
          <a:lstStyle/>
          <a:p>
            <a:pPr indent="0" marL="0">
              <a:buNone/>
            </a:pPr>
            <a:r>
              <a:rPr lang="en-US" sz="1400" dirty="0">
                <a:solidFill>
                  <a:srgbClr val="E4E8EE"/>
                </a:solidFill>
              </a:rPr>
              <a:t>worst seat at a settlement: 0.97 → 0.76 (C3) → 0.20 m/s²</a:t>
            </a:r>
            <a:endParaRPr lang="en-US" sz="1400" dirty="0"/>
          </a:p>
        </p:txBody>
      </p:sp>
      <p:sp>
        <p:nvSpPr>
          <p:cNvPr id="9" name="Shape 6"/>
          <p:cNvSpPr/>
          <p:nvPr/>
        </p:nvSpPr>
        <p:spPr>
          <a:xfrm>
            <a:off x="4322978" y="4754880"/>
            <a:ext cx="3545738" cy="1371600"/>
          </a:xfrm>
          <a:prstGeom prst="roundRect">
            <a:avLst>
              <a:gd name="adj" fmla="val 6667"/>
            </a:avLst>
          </a:prstGeom>
          <a:solidFill>
            <a:srgbClr val="FDFCF9"/>
          </a:solidFill>
          <a:ln w="9525">
            <a:solidFill>
              <a:srgbClr val="E3E0D6"/>
            </a:solidFill>
            <a:prstDash val="solid"/>
          </a:ln>
        </p:spPr>
      </p:sp>
      <p:sp>
        <p:nvSpPr>
          <p:cNvPr id="10" name="Text 7"/>
          <p:cNvSpPr txBox="1"/>
          <p:nvPr/>
        </p:nvSpPr>
        <p:spPr>
          <a:xfrm>
            <a:off x="4524146"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0.1 Wh</a:t>
            </a:r>
            <a:endParaRPr lang="en-US" sz="3200" dirty="0"/>
          </a:p>
        </p:txBody>
      </p:sp>
      <p:sp>
        <p:nvSpPr>
          <p:cNvPr id="11" name="Text 8"/>
          <p:cNvSpPr txBox="1"/>
          <p:nvPr/>
        </p:nvSpPr>
        <p:spPr>
          <a:xfrm>
            <a:off x="4524146"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energy per push (345 J), peak 1.5 kW from the supercap</a:t>
            </a:r>
            <a:endParaRPr lang="en-US" sz="1400" dirty="0"/>
          </a:p>
        </p:txBody>
      </p:sp>
      <p:sp>
        <p:nvSpPr>
          <p:cNvPr id="12" name="Shape 9"/>
          <p:cNvSpPr/>
          <p:nvPr/>
        </p:nvSpPr>
        <p:spPr>
          <a:xfrm>
            <a:off x="8097317" y="4754880"/>
            <a:ext cx="3545738" cy="1371600"/>
          </a:xfrm>
          <a:prstGeom prst="roundRect">
            <a:avLst>
              <a:gd name="adj" fmla="val 6667"/>
            </a:avLst>
          </a:prstGeom>
          <a:solidFill>
            <a:srgbClr val="FDFCF9"/>
          </a:solidFill>
          <a:ln w="9525">
            <a:solidFill>
              <a:srgbClr val="E3E0D6"/>
            </a:solidFill>
            <a:prstDash val="solid"/>
          </a:ln>
        </p:spPr>
      </p:sp>
      <p:sp>
        <p:nvSpPr>
          <p:cNvPr id="13" name="Text 10"/>
          <p:cNvSpPr txBox="1"/>
          <p:nvPr/>
        </p:nvSpPr>
        <p:spPr>
          <a:xfrm>
            <a:off x="8298485"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−67%</a:t>
            </a:r>
            <a:endParaRPr lang="en-US" sz="3200" dirty="0"/>
          </a:p>
        </p:txBody>
      </p:sp>
      <p:sp>
        <p:nvSpPr>
          <p:cNvPr id="14" name="Text 11"/>
          <p:cNvSpPr txBox="1"/>
          <p:nvPr/>
        </p:nvSpPr>
        <p:spPr>
          <a:xfrm>
            <a:off x="8298485"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at a short dip, for just 20 J</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 FULL DAY</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Self-powered through a whole day and night</a:t>
            </a:r>
            <a:endParaRPr lang="en-US" sz="3000" dirty="0"/>
          </a:p>
        </p:txBody>
      </p:sp>
      <p:sp>
        <p:nvSpPr>
          <p:cNvPr id="4" name="day frame"/>
          <p:cNvSpPr/>
          <p:nvPr/>
        </p:nvSpPr>
        <p:spPr>
          <a:xfrm>
            <a:off x="548640" y="1554480"/>
            <a:ext cx="6583680" cy="4572000"/>
          </a:xfrm>
          <a:prstGeom prst="roundRect">
            <a:avLst>
              <a:gd name="adj" fmla="val 1600"/>
            </a:avLst>
          </a:prstGeom>
          <a:solidFill>
            <a:srgbClr val="FFFFFF"/>
          </a:solidFill>
          <a:ln w="9525">
            <a:solidFill>
              <a:srgbClr val="E3E0D6"/>
            </a:solidFill>
            <a:prstDash val="solid"/>
          </a:ln>
        </p:spPr>
      </p:sp>
      <p:pic>
        <p:nvPicPr>
          <p:cNvPr id="5" name="day" descr="Battery state of charge over a full day for LHB, Vande Bharat, ICF and BOXN with three electronics strategies">    </p:cNvPr>
          <p:cNvPicPr>
            <a:picLocks noChangeAspect="1"/>
          </p:cNvPicPr>
          <p:nvPr/>
        </p:nvPicPr>
        <p:blipFill>
          <a:blip r:embed="rId1"/>
          <a:stretch>
            <a:fillRect/>
          </a:stretch>
        </p:blipFill>
        <p:spPr>
          <a:xfrm>
            <a:off x="660854" y="1627632"/>
            <a:ext cx="6359253" cy="442569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36415" cy="914400"/>
        </p:xfrm>
        <a:graphic>
          <a:graphicData uri="http://schemas.openxmlformats.org/drawingml/2006/table">
            <a:tbl>
              <a:tblPr/>
              <a:tblGrid>
                <a:gridCol w="2118208"/>
                <a:gridCol w="1059104"/>
                <a:gridCol w="1059104"/>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Battery, 1 W sleep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End</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LHB day</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Vande Bharat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BOXN freight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ICF (slow)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36%</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406640" y="4023360"/>
            <a:ext cx="4236415" cy="1828800"/>
          </a:xfrm>
          <a:prstGeom prst="rect">
            <a:avLst/>
          </a:prstGeom>
          <a:noFill/>
          <a:ln/>
        </p:spPr>
        <p:txBody>
          <a:bodyPr wrap="square" lIns="0" tIns="0" rIns="0" bIns="0" rtlCol="0" anchor="t"/>
          <a:lstStyle/>
          <a:p>
            <a:pPr indent="0" marL="0">
              <a:buNone/>
            </a:pPr>
            <a:r>
              <a:rPr lang="en-US" sz="1500" dirty="0">
                <a:solidFill>
                  <a:srgbClr val="3D4A5C"/>
                </a:solidFill>
              </a:rPr>
              <a:t>Electronics left on at 8 W through a 10 h night drain every vehicle to its 10% floor. </a:t>
            </a:r>
            <a:pPr indent="0" marL="0">
              <a:buNone/>
            </a:pPr>
            <a:r>
              <a:rPr lang="en-US" sz="1500" b="1" dirty="0">
                <a:solidFill>
                  <a:srgbClr val="13233A"/>
                </a:solidFill>
              </a:rPr>
              <a:t>A 1 W sleep when parked fixes it</a:t>
            </a:r>
            <a:pPr indent="0" marL="0">
              <a:buNone/>
            </a:pPr>
            <a:r>
              <a:rPr lang="en-US" sz="1500" dirty="0">
                <a:solidFill>
                  <a:srgbClr val="3D4A5C"/>
                </a:solidFill>
              </a:rPr>
              <a:t> — no load is ever left unpowered.</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SELF-POWERED SAFETY SENSING</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damper is also a safety sensor</a:t>
            </a:r>
            <a:endParaRPr lang="en-US" sz="3000" dirty="0"/>
          </a:p>
        </p:txBody>
      </p:sp>
      <p:sp>
        <p:nvSpPr>
          <p:cNvPr id="4" name="axle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axle" descr="Hot axle: bearing temperature rise and trackside checkpoint detection histogram">    </p:cNvPr>
          <p:cNvPicPr>
            <a:picLocks noChangeAspect="1"/>
          </p:cNvPicPr>
          <p:nvPr/>
        </p:nvPicPr>
        <p:blipFill>
          <a:blip r:embed="rId1"/>
          <a:stretch>
            <a:fillRect/>
          </a:stretch>
        </p:blipFill>
        <p:spPr>
          <a:xfrm>
            <a:off x="621792" y="1878860"/>
            <a:ext cx="5263744" cy="2277319"/>
          </a:xfrm>
          <a:prstGeom prst="rect">
            <a:avLst/>
          </a:prstGeom>
        </p:spPr>
      </p:pic>
      <p:sp>
        <p:nvSpPr>
          <p:cNvPr id="6" name="wheel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wheel" descr="Wheel defect: coil-voltage spectrum and front versus rear bogie signal">    </p:cNvPr>
          <p:cNvPicPr>
            <a:picLocks noChangeAspect="1"/>
          </p:cNvPicPr>
          <p:nvPr/>
        </p:nvPicPr>
        <p:blipFill>
          <a:blip r:embed="rId2"/>
          <a:stretch>
            <a:fillRect/>
          </a:stretch>
        </p:blipFill>
        <p:spPr>
          <a:xfrm>
            <a:off x="6306160" y="1843111"/>
            <a:ext cx="5263744" cy="2348818"/>
          </a:xfrm>
          <a:prstGeom prst="rect">
            <a:avLst/>
          </a:prstGeom>
        </p:spPr>
      </p:pic>
      <p:sp>
        <p:nvSpPr>
          <p:cNvPr id="8" name="Shape 4"/>
          <p:cNvSpPr/>
          <p:nvPr/>
        </p:nvSpPr>
        <p:spPr>
          <a:xfrm>
            <a:off x="548640" y="4663440"/>
            <a:ext cx="3545738" cy="1371600"/>
          </a:xfrm>
          <a:prstGeom prst="roundRect">
            <a:avLst>
              <a:gd name="adj" fmla="val 6667"/>
            </a:avLst>
          </a:prstGeom>
          <a:solidFill>
            <a:srgbClr val="13233A"/>
          </a:solidFill>
          <a:ln/>
        </p:spPr>
      </p:sp>
      <p:sp>
        <p:nvSpPr>
          <p:cNvPr id="9" name="Text 5"/>
          <p:cNvSpPr txBox="1"/>
          <p:nvPr/>
        </p:nvSpPr>
        <p:spPr>
          <a:xfrm>
            <a:off x="749808" y="480974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10 s</a:t>
            </a:r>
            <a:endParaRPr lang="en-US" sz="3200" dirty="0"/>
          </a:p>
        </p:txBody>
      </p:sp>
      <p:sp>
        <p:nvSpPr>
          <p:cNvPr id="10" name="Text 6"/>
          <p:cNvSpPr txBox="1"/>
          <p:nvPr/>
        </p:nvSpPr>
        <p:spPr>
          <a:xfrm>
            <a:off x="749808" y="5394960"/>
            <a:ext cx="3143402" cy="530352"/>
          </a:xfrm>
          <a:prstGeom prst="rect">
            <a:avLst/>
          </a:prstGeom>
          <a:noFill/>
          <a:ln/>
        </p:spPr>
        <p:txBody>
          <a:bodyPr wrap="square" lIns="0" tIns="0" rIns="0" bIns="0" rtlCol="0" anchor="t"/>
          <a:lstStyle/>
          <a:p>
            <a:pPr indent="0" marL="0">
              <a:buNone/>
            </a:pPr>
            <a:r>
              <a:rPr lang="en-US" sz="1400" dirty="0">
                <a:solidFill>
                  <a:srgbClr val="E4E8EE"/>
                </a:solidFill>
              </a:rPr>
              <a:t>hot-axle alarm by the on-bogie sensor</a:t>
            </a:r>
            <a:endParaRPr lang="en-US" sz="1400" dirty="0"/>
          </a:p>
        </p:txBody>
      </p:sp>
      <p:sp>
        <p:nvSpPr>
          <p:cNvPr id="11" name="Shape 7"/>
          <p:cNvSpPr/>
          <p:nvPr/>
        </p:nvSpPr>
        <p:spPr>
          <a:xfrm>
            <a:off x="4322978" y="4663440"/>
            <a:ext cx="3545738"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4524146"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82%</a:t>
            </a:r>
            <a:endParaRPr lang="en-US" sz="3200" dirty="0"/>
          </a:p>
        </p:txBody>
      </p:sp>
      <p:sp>
        <p:nvSpPr>
          <p:cNvPr id="13" name="Text 9"/>
          <p:cNvSpPr txBox="1"/>
          <p:nvPr/>
        </p:nvSpPr>
        <p:spPr>
          <a:xfrm>
            <a:off x="4524146"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of faults pass 180 °C before a trackside check</a:t>
            </a:r>
            <a:endParaRPr lang="en-US" sz="1400" dirty="0"/>
          </a:p>
        </p:txBody>
      </p:sp>
      <p:sp>
        <p:nvSpPr>
          <p:cNvPr id="14" name="Shape 10"/>
          <p:cNvSpPr/>
          <p:nvPr/>
        </p:nvSpPr>
        <p:spPr>
          <a:xfrm>
            <a:off x="8097317" y="4663440"/>
            <a:ext cx="3545738"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8298485"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×5 – ×204</a:t>
            </a:r>
            <a:endParaRPr lang="en-US" sz="3200" dirty="0"/>
          </a:p>
        </p:txBody>
      </p:sp>
      <p:sp>
        <p:nvSpPr>
          <p:cNvPr id="16" name="Text 12"/>
          <p:cNvSpPr txBox="1"/>
          <p:nvPr/>
        </p:nvSpPr>
        <p:spPr>
          <a:xfrm>
            <a:off x="8298485"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wheel-defect signal in the coil, located to the wheelset</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BENCH PROTOTYPE (STAGE 5)</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Ready for hardware: the bench model agrees</a:t>
            </a:r>
            <a:endParaRPr lang="en-US" sz="3000" dirty="0"/>
          </a:p>
        </p:txBody>
      </p:sp>
      <p:sp>
        <p:nvSpPr>
          <p:cNvPr id="4" name="breplay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breplay" descr="Bench model replaying the coach motion: damper force and power into the bank">    </p:cNvPr>
          <p:cNvPicPr>
            <a:picLocks noChangeAspect="1"/>
          </p:cNvPicPr>
          <p:nvPr/>
        </p:nvPicPr>
        <p:blipFill>
          <a:blip r:embed="rId1"/>
          <a:stretch>
            <a:fillRect/>
          </a:stretch>
        </p:blipFill>
        <p:spPr>
          <a:xfrm>
            <a:off x="621792" y="1830423"/>
            <a:ext cx="5263744" cy="2374194"/>
          </a:xfrm>
          <a:prstGeom prst="rect">
            <a:avLst/>
          </a:prstGeom>
        </p:spPr>
      </p:pic>
      <p:sp>
        <p:nvSpPr>
          <p:cNvPr id="6" name="bfs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bfs" descr="Fail-safe test: force during the contactor change and damping after the fault">    </p:cNvPr>
          <p:cNvPicPr>
            <a:picLocks noChangeAspect="1"/>
          </p:cNvPicPr>
          <p:nvPr/>
        </p:nvPicPr>
        <p:blipFill>
          <a:blip r:embed="rId2"/>
          <a:stretch>
            <a:fillRect/>
          </a:stretch>
        </p:blipFill>
        <p:spPr>
          <a:xfrm>
            <a:off x="6306160" y="1903968"/>
            <a:ext cx="5263744" cy="2227104"/>
          </a:xfrm>
          <a:prstGeom prst="rect">
            <a:avLst/>
          </a:prstGeom>
        </p:spPr>
      </p:pic>
      <p:sp>
        <p:nvSpPr>
          <p:cNvPr id="8" name="Shape 4"/>
          <p:cNvSpPr/>
          <p:nvPr/>
        </p:nvSpPr>
        <p:spPr>
          <a:xfrm>
            <a:off x="548640" y="4663440"/>
            <a:ext cx="2636444" cy="1371600"/>
          </a:xfrm>
          <a:prstGeom prst="roundRect">
            <a:avLst>
              <a:gd name="adj" fmla="val 6667"/>
            </a:avLst>
          </a:prstGeom>
          <a:solidFill>
            <a:srgbClr val="13233A"/>
          </a:solidFill>
          <a:ln/>
        </p:spPr>
      </p:sp>
      <p:sp>
        <p:nvSpPr>
          <p:cNvPr id="9" name="Text 5"/>
          <p:cNvSpPr txBox="1"/>
          <p:nvPr/>
        </p:nvSpPr>
        <p:spPr>
          <a:xfrm>
            <a:off x="749808" y="4809744"/>
            <a:ext cx="2234108"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14.4 W</a:t>
            </a:r>
            <a:endParaRPr lang="en-US" sz="3200" dirty="0"/>
          </a:p>
        </p:txBody>
      </p:sp>
      <p:sp>
        <p:nvSpPr>
          <p:cNvPr id="10" name="Text 6"/>
          <p:cNvSpPr txBox="1"/>
          <p:nvPr/>
        </p:nvSpPr>
        <p:spPr>
          <a:xfrm>
            <a:off x="749808" y="5394960"/>
            <a:ext cx="2234108" cy="530352"/>
          </a:xfrm>
          <a:prstGeom prst="rect">
            <a:avLst/>
          </a:prstGeom>
          <a:noFill/>
          <a:ln/>
        </p:spPr>
        <p:txBody>
          <a:bodyPr wrap="square" lIns="0" tIns="0" rIns="0" bIns="0" rtlCol="0" anchor="t"/>
          <a:lstStyle/>
          <a:p>
            <a:pPr indent="0" marL="0">
              <a:buNone/>
            </a:pPr>
            <a:r>
              <a:rPr lang="en-US" sz="1400" dirty="0">
                <a:solidFill>
                  <a:srgbClr val="E4E8EE"/>
                </a:solidFill>
              </a:rPr>
              <a:t>into the bank on replayed track (coach model 14.5 W)</a:t>
            </a:r>
            <a:endParaRPr lang="en-US" sz="1400" dirty="0"/>
          </a:p>
        </p:txBody>
      </p:sp>
      <p:sp>
        <p:nvSpPr>
          <p:cNvPr id="11" name="Shape 7"/>
          <p:cNvSpPr/>
          <p:nvPr/>
        </p:nvSpPr>
        <p:spPr>
          <a:xfrm>
            <a:off x="3367964" y="4663440"/>
            <a:ext cx="2636444"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3569132"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17,500</a:t>
            </a:r>
            <a:endParaRPr lang="en-US" sz="3200" dirty="0"/>
          </a:p>
        </p:txBody>
      </p:sp>
      <p:sp>
        <p:nvSpPr>
          <p:cNvPr id="13" name="Text 9"/>
          <p:cNvSpPr txBox="1"/>
          <p:nvPr/>
        </p:nvSpPr>
        <p:spPr>
          <a:xfrm>
            <a:off x="3569132"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N s/m after a fault = today’s damper (20 ms gap)</a:t>
            </a:r>
            <a:endParaRPr lang="en-US" sz="1400" dirty="0"/>
          </a:p>
        </p:txBody>
      </p:sp>
      <p:sp>
        <p:nvSpPr>
          <p:cNvPr id="14" name="Shape 10"/>
          <p:cNvSpPr/>
          <p:nvPr/>
        </p:nvSpPr>
        <p:spPr>
          <a:xfrm>
            <a:off x="6187288" y="4663440"/>
            <a:ext cx="2636444"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6388456"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10 / 10</a:t>
            </a:r>
            <a:endParaRPr lang="en-US" sz="3200" dirty="0"/>
          </a:p>
        </p:txBody>
      </p:sp>
      <p:sp>
        <p:nvSpPr>
          <p:cNvPr id="16" name="Text 12"/>
          <p:cNvSpPr txBox="1"/>
          <p:nvPr/>
        </p:nvSpPr>
        <p:spPr>
          <a:xfrm>
            <a:off x="6388456"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C firmware = MATLAB, double and float</a:t>
            </a:r>
            <a:endParaRPr lang="en-US" sz="1400" dirty="0"/>
          </a:p>
        </p:txBody>
      </p:sp>
      <p:sp>
        <p:nvSpPr>
          <p:cNvPr id="17" name="Shape 13"/>
          <p:cNvSpPr/>
          <p:nvPr/>
        </p:nvSpPr>
        <p:spPr>
          <a:xfrm>
            <a:off x="9006611" y="4663440"/>
            <a:ext cx="2636444" cy="1371600"/>
          </a:xfrm>
          <a:prstGeom prst="roundRect">
            <a:avLst>
              <a:gd name="adj" fmla="val 6667"/>
            </a:avLst>
          </a:prstGeom>
          <a:solidFill>
            <a:srgbClr val="FDFCF9"/>
          </a:solidFill>
          <a:ln w="9525">
            <a:solidFill>
              <a:srgbClr val="E3E0D6"/>
            </a:solidFill>
            <a:prstDash val="solid"/>
          </a:ln>
        </p:spPr>
      </p:sp>
      <p:sp>
        <p:nvSpPr>
          <p:cNvPr id="18" name="Text 14"/>
          <p:cNvSpPr txBox="1"/>
          <p:nvPr/>
        </p:nvSpPr>
        <p:spPr>
          <a:xfrm>
            <a:off x="9207779"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85 / 85</a:t>
            </a:r>
            <a:endParaRPr lang="en-US" sz="3200" dirty="0"/>
          </a:p>
        </p:txBody>
      </p:sp>
      <p:sp>
        <p:nvSpPr>
          <p:cNvPr id="19" name="Text 15"/>
          <p:cNvSpPr txBox="1"/>
          <p:nvPr/>
        </p:nvSpPr>
        <p:spPr>
          <a:xfrm>
            <a:off x="9207779"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automatic verification checks pass</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Architecture: same core idea, five new capabilities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4023360"/>
                <a:gridCol w="5150815"/>
              </a:tblGrid>
              <a:tr h="429768">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 Hua et al., IEEE TVT 2022</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(ours)</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Vehicle, axis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High-speed train, lateral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LHB, Vande Bharat, ICF, BOXN freight — vertical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Damper drive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Damping set by harvesting-circuit duty cycle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Ball-screw servo + 4-quadrant H-bridge: current = force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Controller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LQG target force, semi-active tracking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LPV-LQR scheduled on measured load + 10 kHz PI loop</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Look-ahead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Train Brain preview, 221 rail samples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Active push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 (semi-active, 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Yes — C4 at known bad spots, from banked energy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Energy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Harvested power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Bogie power bank, full-day self-powered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Safety sensing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Hot axle in 10 s, wheel defects in the coil signal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Fail-safe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Hardware contactor → today’s damping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Prototype cyclic tests + simulation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85 automated checks, bench model, C firmware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 = not part of the base paper’s study as described in its published abstract (DOI 10.1109/TVT.2022.3149265)</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Results side by side</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4206240"/>
                <a:gridCol w="4785055"/>
              </a:tblGrid>
              <a:tr h="420624">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(lateral, high-speed train)</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(vertical, crowded LHB)</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200–350 km/h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160 km/h (LHB / Vande Bharat top 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Ride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Better than passive and fixed-duty dampers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Wz −17% (1.844 → 1.528), RMS −41%</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Bad spots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−80% worst seat at a settlement, for 0.1 Wh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25.89–153.19 W (semi-active)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33–38 W per coach bogie; 55 W loaded wagon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vs fixed harvester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duty harvested more 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(C1) Wz 1.639 at 37 W vs C3 1.528 at 33 W</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Load change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One design load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Flat comfort: Wz 1.493 empty → 1.528 crowded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Not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Bogie self-powered all day (1 W sleep when parked)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166360"/>
            <a:ext cx="11094415" cy="777240"/>
          </a:xfrm>
          <a:prstGeom prst="roundRect">
            <a:avLst>
              <a:gd name="adj" fmla="val 11765"/>
            </a:avLst>
          </a:prstGeom>
          <a:solidFill>
            <a:srgbClr val="FDFCF9"/>
          </a:solidFill>
          <a:ln w="9525">
            <a:solidFill>
              <a:srgbClr val="E3E0D6"/>
            </a:solidFill>
            <a:prstDash val="solid"/>
          </a:ln>
        </p:spPr>
      </p:sp>
      <p:sp>
        <p:nvSpPr>
          <p:cNvPr id="6" name="Text 3"/>
          <p:cNvSpPr txBox="1"/>
          <p:nvPr/>
        </p:nvSpPr>
        <p:spPr>
          <a:xfrm>
            <a:off x="777240" y="5257800"/>
            <a:ext cx="10637215" cy="640080"/>
          </a:xfrm>
          <a:prstGeom prst="rect">
            <a:avLst/>
          </a:prstGeom>
          <a:noFill/>
          <a:ln/>
        </p:spPr>
        <p:txBody>
          <a:bodyPr wrap="square" lIns="0" tIns="0" rIns="0" bIns="0" rtlCol="0" anchor="ctr"/>
          <a:lstStyle/>
          <a:p>
            <a:pPr indent="0" marL="0">
              <a:buNone/>
            </a:pPr>
            <a:r>
              <a:rPr lang="en-US" sz="1400" dirty="0">
                <a:solidFill>
                  <a:srgbClr val="3D4A5C"/>
                </a:solidFill>
              </a:rPr>
              <a:t>The axis and speeds differ, so the two power figures are not like-for-like. </a:t>
            </a:r>
            <a:pPr indent="0" marL="0">
              <a:buNone/>
            </a:pPr>
            <a:r>
              <a:rPr lang="en-US" sz="1400" b="1" dirty="0">
                <a:solidFill>
                  <a:srgbClr val="13233A"/>
                </a:solidFill>
              </a:rPr>
              <a:t>What is directly comparable is the capability: </a:t>
            </a:r>
            <a:pPr indent="0" marL="0">
              <a:buNone/>
            </a:pPr>
            <a:r>
              <a:rPr lang="en-US" sz="1400" dirty="0">
                <a:solidFill>
                  <a:srgbClr val="3D4A5C"/>
                </a:solidFill>
              </a:rPr>
              <a:t>ours adapts to load, looks ahead, can push, and uses its energy on the bogie.</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Base-paper values from its abstract · SwarmRide values from SwarmRide_Sim/results (Stages 3–4)</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685800"/>
            <a:ext cx="11094415" cy="365760"/>
          </a:xfrm>
          <a:prstGeom prst="rect">
            <a:avLst/>
          </a:prstGeom>
          <a:noFill/>
          <a:ln/>
        </p:spPr>
        <p:txBody>
          <a:bodyPr wrap="square" lIns="0" tIns="0" rIns="0" bIns="0" rtlCol="0" anchor="t"/>
          <a:lstStyle/>
          <a:p>
            <a:pPr indent="0" marL="0">
              <a:buNone/>
            </a:pPr>
            <a:r>
              <a:rPr lang="en-US" sz="1400" b="1" spc="300" kern="0" dirty="0">
                <a:solidFill>
                  <a:srgbClr val="13233A"/>
                </a:solidFill>
              </a:rPr>
              <a:t>08 · WHY IT MATTERS</a:t>
            </a:r>
            <a:endParaRPr lang="en-US" sz="1400" dirty="0"/>
          </a:p>
        </p:txBody>
      </p:sp>
      <p:sp>
        <p:nvSpPr>
          <p:cNvPr id="3" name="Text 1"/>
          <p:cNvSpPr txBox="1"/>
          <p:nvPr/>
        </p:nvSpPr>
        <p:spPr>
          <a:xfrm>
            <a:off x="548640" y="1188720"/>
            <a:ext cx="10058400" cy="1828800"/>
          </a:xfrm>
          <a:prstGeom prst="rect">
            <a:avLst/>
          </a:prstGeom>
          <a:noFill/>
          <a:ln/>
        </p:spPr>
        <p:txBody>
          <a:bodyPr wrap="square" lIns="0" tIns="0" rIns="0" bIns="0" rtlCol="0" anchor="t"/>
          <a:lstStyle/>
          <a:p>
            <a:pPr indent="0" marL="0">
              <a:buNone/>
            </a:pPr>
            <a:r>
              <a:rPr lang="en-US" sz="4400" b="1" dirty="0">
                <a:solidFill>
                  <a:srgbClr val="13233A"/>
                </a:solidFill>
              </a:rPr>
              <a:t>Not a better damper. A self-powered, train-aware suspension.</a:t>
            </a:r>
            <a:endParaRPr lang="en-US" sz="4400" dirty="0"/>
          </a:p>
        </p:txBody>
      </p:sp>
      <p:sp>
        <p:nvSpPr>
          <p:cNvPr id="4" name="Shape 2"/>
          <p:cNvSpPr/>
          <p:nvPr/>
        </p:nvSpPr>
        <p:spPr>
          <a:xfrm>
            <a:off x="548640" y="3931920"/>
            <a:ext cx="2636444" cy="1920240"/>
          </a:xfrm>
          <a:prstGeom prst="roundRect">
            <a:avLst>
              <a:gd name="adj" fmla="val 4762"/>
            </a:avLst>
          </a:prstGeom>
          <a:solidFill>
            <a:srgbClr val="13233A"/>
          </a:solidFill>
          <a:ln/>
        </p:spPr>
      </p:sp>
      <p:sp>
        <p:nvSpPr>
          <p:cNvPr id="5" name="Text 3"/>
          <p:cNvSpPr txBox="1"/>
          <p:nvPr/>
        </p:nvSpPr>
        <p:spPr>
          <a:xfrm>
            <a:off x="777240"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Adapts</a:t>
            </a:r>
            <a:endParaRPr lang="en-US" sz="2400" dirty="0"/>
          </a:p>
        </p:txBody>
      </p:sp>
      <p:sp>
        <p:nvSpPr>
          <p:cNvPr id="6" name="Text 4"/>
          <p:cNvSpPr txBox="1"/>
          <p:nvPr/>
        </p:nvSpPr>
        <p:spPr>
          <a:xfrm>
            <a:off x="777240"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Comfort stays flat from empty to crowded</a:t>
            </a:r>
            <a:endParaRPr lang="en-US" sz="1500" dirty="0"/>
          </a:p>
        </p:txBody>
      </p:sp>
      <p:sp>
        <p:nvSpPr>
          <p:cNvPr id="7" name="Shape 5"/>
          <p:cNvSpPr/>
          <p:nvPr/>
        </p:nvSpPr>
        <p:spPr>
          <a:xfrm>
            <a:off x="3367964" y="3931920"/>
            <a:ext cx="2636444" cy="1920240"/>
          </a:xfrm>
          <a:prstGeom prst="roundRect">
            <a:avLst>
              <a:gd name="adj" fmla="val 4762"/>
            </a:avLst>
          </a:prstGeom>
          <a:solidFill>
            <a:srgbClr val="13233A"/>
          </a:solidFill>
          <a:ln/>
        </p:spPr>
      </p:sp>
      <p:sp>
        <p:nvSpPr>
          <p:cNvPr id="8" name="Text 6"/>
          <p:cNvSpPr txBox="1"/>
          <p:nvPr/>
        </p:nvSpPr>
        <p:spPr>
          <a:xfrm>
            <a:off x="3596564"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Anticipates</a:t>
            </a:r>
            <a:endParaRPr lang="en-US" sz="2400" dirty="0"/>
          </a:p>
        </p:txBody>
      </p:sp>
      <p:sp>
        <p:nvSpPr>
          <p:cNvPr id="9" name="Text 7"/>
          <p:cNvSpPr txBox="1"/>
          <p:nvPr/>
        </p:nvSpPr>
        <p:spPr>
          <a:xfrm>
            <a:off x="3596564"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The loco warns every coach, t = d / v</a:t>
            </a:r>
            <a:endParaRPr lang="en-US" sz="1500" dirty="0"/>
          </a:p>
        </p:txBody>
      </p:sp>
      <p:sp>
        <p:nvSpPr>
          <p:cNvPr id="10" name="Shape 8"/>
          <p:cNvSpPr/>
          <p:nvPr/>
        </p:nvSpPr>
        <p:spPr>
          <a:xfrm>
            <a:off x="6187288" y="3931920"/>
            <a:ext cx="2636444" cy="1920240"/>
          </a:xfrm>
          <a:prstGeom prst="roundRect">
            <a:avLst>
              <a:gd name="adj" fmla="val 4762"/>
            </a:avLst>
          </a:prstGeom>
          <a:solidFill>
            <a:srgbClr val="13233A"/>
          </a:solidFill>
          <a:ln/>
        </p:spPr>
      </p:sp>
      <p:sp>
        <p:nvSpPr>
          <p:cNvPr id="11" name="Text 9"/>
          <p:cNvSpPr txBox="1"/>
          <p:nvPr/>
        </p:nvSpPr>
        <p:spPr>
          <a:xfrm>
            <a:off x="6415888"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Acts</a:t>
            </a:r>
            <a:endParaRPr lang="en-US" sz="2400" dirty="0"/>
          </a:p>
        </p:txBody>
      </p:sp>
      <p:sp>
        <p:nvSpPr>
          <p:cNvPr id="12" name="Text 10"/>
          <p:cNvSpPr txBox="1"/>
          <p:nvPr/>
        </p:nvSpPr>
        <p:spPr>
          <a:xfrm>
            <a:off x="6415888"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Pushes at bad spots: −80% jolt</a:t>
            </a:r>
            <a:endParaRPr lang="en-US" sz="1500" dirty="0"/>
          </a:p>
        </p:txBody>
      </p:sp>
      <p:sp>
        <p:nvSpPr>
          <p:cNvPr id="13" name="Shape 11"/>
          <p:cNvSpPr/>
          <p:nvPr/>
        </p:nvSpPr>
        <p:spPr>
          <a:xfrm>
            <a:off x="9006611" y="3931920"/>
            <a:ext cx="2636444" cy="1920240"/>
          </a:xfrm>
          <a:prstGeom prst="roundRect">
            <a:avLst>
              <a:gd name="adj" fmla="val 4762"/>
            </a:avLst>
          </a:prstGeom>
          <a:solidFill>
            <a:srgbClr val="13233A"/>
          </a:solidFill>
          <a:ln/>
        </p:spPr>
      </p:sp>
      <p:sp>
        <p:nvSpPr>
          <p:cNvPr id="14" name="Text 12"/>
          <p:cNvSpPr txBox="1"/>
          <p:nvPr/>
        </p:nvSpPr>
        <p:spPr>
          <a:xfrm>
            <a:off x="9235211"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Protects</a:t>
            </a:r>
            <a:endParaRPr lang="en-US" sz="2400" dirty="0"/>
          </a:p>
        </p:txBody>
      </p:sp>
      <p:sp>
        <p:nvSpPr>
          <p:cNvPr id="15" name="Text 13"/>
          <p:cNvSpPr txBox="1"/>
          <p:nvPr/>
        </p:nvSpPr>
        <p:spPr>
          <a:xfrm>
            <a:off x="9235211"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Powers its own safety sensors, all day</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08 · ROADMAP</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Proven in simulation. Next: proven in metal.</a:t>
            </a:r>
            <a:endParaRPr lang="en-US" sz="3000" dirty="0"/>
          </a:p>
        </p:txBody>
      </p:sp>
      <p:sp>
        <p:nvSpPr>
          <p:cNvPr id="4" name="Shape 2"/>
          <p:cNvSpPr/>
          <p:nvPr/>
        </p:nvSpPr>
        <p:spPr>
          <a:xfrm>
            <a:off x="548640" y="1645920"/>
            <a:ext cx="2636444" cy="2377440"/>
          </a:xfrm>
          <a:prstGeom prst="roundRect">
            <a:avLst>
              <a:gd name="adj" fmla="val 3846"/>
            </a:avLst>
          </a:prstGeom>
          <a:solidFill>
            <a:srgbClr val="FDFCF9"/>
          </a:solidFill>
          <a:ln w="9525">
            <a:solidFill>
              <a:srgbClr val="E3E0D6"/>
            </a:solidFill>
            <a:prstDash val="solid"/>
          </a:ln>
        </p:spPr>
      </p:sp>
      <p:sp>
        <p:nvSpPr>
          <p:cNvPr id="5" name="Shape 3"/>
          <p:cNvSpPr/>
          <p:nvPr/>
        </p:nvSpPr>
        <p:spPr>
          <a:xfrm>
            <a:off x="777240" y="1874520"/>
            <a:ext cx="292608" cy="292608"/>
          </a:xfrm>
          <a:prstGeom prst="ellipse">
            <a:avLst/>
          </a:prstGeom>
          <a:solidFill>
            <a:srgbClr val="2A9D8F"/>
          </a:solidFill>
          <a:ln/>
        </p:spPr>
      </p:sp>
      <p:sp>
        <p:nvSpPr>
          <p:cNvPr id="6" name="Text 4"/>
          <p:cNvSpPr txBox="1"/>
          <p:nvPr/>
        </p:nvSpPr>
        <p:spPr>
          <a:xfrm>
            <a:off x="1188720"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7" name="Text 5"/>
          <p:cNvSpPr txBox="1"/>
          <p:nvPr/>
        </p:nvSpPr>
        <p:spPr>
          <a:xfrm>
            <a:off x="777240"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Simulation, Stages 1–4</a:t>
            </a:r>
            <a:endParaRPr lang="en-US" sz="1800" dirty="0"/>
          </a:p>
        </p:txBody>
      </p:sp>
      <p:sp>
        <p:nvSpPr>
          <p:cNvPr id="8" name="Text 6"/>
          <p:cNvSpPr txBox="1"/>
          <p:nvPr/>
        </p:nvSpPr>
        <p:spPr>
          <a:xfrm>
            <a:off x="777240"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Gate A met: better ride at every load, self-powered all day</a:t>
            </a:r>
            <a:endParaRPr lang="en-US" sz="1400" dirty="0"/>
          </a:p>
        </p:txBody>
      </p:sp>
      <p:sp>
        <p:nvSpPr>
          <p:cNvPr id="9" name="Shape 7"/>
          <p:cNvSpPr/>
          <p:nvPr/>
        </p:nvSpPr>
        <p:spPr>
          <a:xfrm>
            <a:off x="3367964" y="1645920"/>
            <a:ext cx="2636444" cy="2377440"/>
          </a:xfrm>
          <a:prstGeom prst="roundRect">
            <a:avLst>
              <a:gd name="adj" fmla="val 3846"/>
            </a:avLst>
          </a:prstGeom>
          <a:solidFill>
            <a:srgbClr val="FDFCF9"/>
          </a:solidFill>
          <a:ln w="9525">
            <a:solidFill>
              <a:srgbClr val="E3E0D6"/>
            </a:solidFill>
            <a:prstDash val="solid"/>
          </a:ln>
        </p:spPr>
      </p:sp>
      <p:sp>
        <p:nvSpPr>
          <p:cNvPr id="10" name="Shape 8"/>
          <p:cNvSpPr/>
          <p:nvPr/>
        </p:nvSpPr>
        <p:spPr>
          <a:xfrm>
            <a:off x="3596564" y="1874520"/>
            <a:ext cx="292608" cy="292608"/>
          </a:xfrm>
          <a:prstGeom prst="ellipse">
            <a:avLst/>
          </a:prstGeom>
          <a:solidFill>
            <a:srgbClr val="2A9D8F"/>
          </a:solidFill>
          <a:ln/>
        </p:spPr>
      </p:sp>
      <p:sp>
        <p:nvSpPr>
          <p:cNvPr id="11" name="Text 9"/>
          <p:cNvSpPr txBox="1"/>
          <p:nvPr/>
        </p:nvSpPr>
        <p:spPr>
          <a:xfrm>
            <a:off x="4008044"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12" name="Text 10"/>
          <p:cNvSpPr txBox="1"/>
          <p:nvPr/>
        </p:nvSpPr>
        <p:spPr>
          <a:xfrm>
            <a:off x="3596564"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Bench design, Stage 5</a:t>
            </a:r>
            <a:endParaRPr lang="en-US" sz="1800" dirty="0"/>
          </a:p>
        </p:txBody>
      </p:sp>
      <p:sp>
        <p:nvSpPr>
          <p:cNvPr id="13" name="Text 11"/>
          <p:cNvSpPr txBox="1"/>
          <p:nvPr/>
        </p:nvSpPr>
        <p:spPr>
          <a:xfrm>
            <a:off x="3596564"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Ratings, bench model, C firmware, test plan T1–T10</a:t>
            </a:r>
            <a:endParaRPr lang="en-US" sz="1400" dirty="0"/>
          </a:p>
        </p:txBody>
      </p:sp>
      <p:sp>
        <p:nvSpPr>
          <p:cNvPr id="14" name="Shape 12"/>
          <p:cNvSpPr/>
          <p:nvPr/>
        </p:nvSpPr>
        <p:spPr>
          <a:xfrm>
            <a:off x="6187288" y="1645920"/>
            <a:ext cx="2636444" cy="2377440"/>
          </a:xfrm>
          <a:prstGeom prst="roundRect">
            <a:avLst>
              <a:gd name="adj" fmla="val 3846"/>
            </a:avLst>
          </a:prstGeom>
          <a:solidFill>
            <a:srgbClr val="FDFCF9"/>
          </a:solidFill>
          <a:ln w="9525">
            <a:solidFill>
              <a:srgbClr val="E3E0D6"/>
            </a:solidFill>
            <a:prstDash val="solid"/>
          </a:ln>
        </p:spPr>
      </p:sp>
      <p:sp>
        <p:nvSpPr>
          <p:cNvPr id="15" name="Shape 13"/>
          <p:cNvSpPr/>
          <p:nvPr/>
        </p:nvSpPr>
        <p:spPr>
          <a:xfrm>
            <a:off x="6415888" y="1874520"/>
            <a:ext cx="292608" cy="292608"/>
          </a:xfrm>
          <a:prstGeom prst="ellipse">
            <a:avLst/>
          </a:prstGeom>
          <a:solidFill>
            <a:srgbClr val="E07A1F"/>
          </a:solidFill>
          <a:ln/>
        </p:spPr>
      </p:sp>
      <p:sp>
        <p:nvSpPr>
          <p:cNvPr id="16" name="Text 14"/>
          <p:cNvSpPr txBox="1"/>
          <p:nvPr/>
        </p:nvSpPr>
        <p:spPr>
          <a:xfrm>
            <a:off x="6827368"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NEXT · 16 WEEKS</a:t>
            </a:r>
            <a:endParaRPr lang="en-US" sz="1200" dirty="0"/>
          </a:p>
        </p:txBody>
      </p:sp>
      <p:sp>
        <p:nvSpPr>
          <p:cNvPr id="17" name="Text 15"/>
          <p:cNvSpPr txBox="1"/>
          <p:nvPr/>
        </p:nvSpPr>
        <p:spPr>
          <a:xfrm>
            <a:off x="6415888"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Gate B: bench prototype</a:t>
            </a:r>
            <a:endParaRPr lang="en-US" sz="1800" dirty="0"/>
          </a:p>
        </p:txBody>
      </p:sp>
      <p:sp>
        <p:nvSpPr>
          <p:cNvPr id="18" name="Text 16"/>
          <p:cNvSpPr txBox="1"/>
          <p:nvPr/>
        </p:nvSpPr>
        <p:spPr>
          <a:xfrm>
            <a:off x="6415888"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One damper on a rig; ≈ ₹4.4–13.5 lakh (indicative)</a:t>
            </a:r>
            <a:endParaRPr lang="en-US" sz="1400" dirty="0"/>
          </a:p>
        </p:txBody>
      </p:sp>
      <p:sp>
        <p:nvSpPr>
          <p:cNvPr id="19" name="Shape 17"/>
          <p:cNvSpPr/>
          <p:nvPr/>
        </p:nvSpPr>
        <p:spPr>
          <a:xfrm>
            <a:off x="9006611" y="1645920"/>
            <a:ext cx="2636444" cy="2377440"/>
          </a:xfrm>
          <a:prstGeom prst="roundRect">
            <a:avLst>
              <a:gd name="adj" fmla="val 3846"/>
            </a:avLst>
          </a:prstGeom>
          <a:solidFill>
            <a:srgbClr val="FDFCF9"/>
          </a:solidFill>
          <a:ln w="9525">
            <a:solidFill>
              <a:srgbClr val="E3E0D6"/>
            </a:solidFill>
            <a:prstDash val="solid"/>
          </a:ln>
        </p:spPr>
      </p:sp>
      <p:sp>
        <p:nvSpPr>
          <p:cNvPr id="20" name="Shape 18"/>
          <p:cNvSpPr/>
          <p:nvPr/>
        </p:nvSpPr>
        <p:spPr>
          <a:xfrm>
            <a:off x="9235211" y="1874520"/>
            <a:ext cx="292608" cy="292608"/>
          </a:xfrm>
          <a:prstGeom prst="ellipse">
            <a:avLst/>
          </a:prstGeom>
          <a:solidFill>
            <a:srgbClr val="9AA8BC"/>
          </a:solidFill>
          <a:ln/>
        </p:spPr>
      </p:sp>
      <p:sp>
        <p:nvSpPr>
          <p:cNvPr id="21" name="Text 19"/>
          <p:cNvSpPr txBox="1"/>
          <p:nvPr/>
        </p:nvSpPr>
        <p:spPr>
          <a:xfrm>
            <a:off x="9646691"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LATER</a:t>
            </a:r>
            <a:endParaRPr lang="en-US" sz="1200" dirty="0"/>
          </a:p>
        </p:txBody>
      </p:sp>
      <p:sp>
        <p:nvSpPr>
          <p:cNvPr id="22" name="Text 20"/>
          <p:cNvSpPr txBox="1"/>
          <p:nvPr/>
        </p:nvSpPr>
        <p:spPr>
          <a:xfrm>
            <a:off x="9235211"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Field run, RDSO, pilot</a:t>
            </a:r>
            <a:endParaRPr lang="en-US" sz="1800" dirty="0"/>
          </a:p>
        </p:txBody>
      </p:sp>
      <p:sp>
        <p:nvSpPr>
          <p:cNvPr id="23" name="Text 21"/>
          <p:cNvSpPr txBox="1"/>
          <p:nvPr/>
        </p:nvSpPr>
        <p:spPr>
          <a:xfrm>
            <a:off x="9235211"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Instrumented bogie; freight first, then Vande Bharat</a:t>
            </a:r>
            <a:endParaRPr lang="en-US" sz="1400" dirty="0"/>
          </a:p>
        </p:txBody>
      </p:sp>
      <p:sp>
        <p:nvSpPr>
          <p:cNvPr id="24" name="Shape 22"/>
          <p:cNvSpPr/>
          <p:nvPr/>
        </p:nvSpPr>
        <p:spPr>
          <a:xfrm>
            <a:off x="548640" y="4343400"/>
            <a:ext cx="5410048" cy="1463040"/>
          </a:xfrm>
          <a:prstGeom prst="roundRect">
            <a:avLst>
              <a:gd name="adj" fmla="val 6250"/>
            </a:avLst>
          </a:prstGeom>
          <a:solidFill>
            <a:srgbClr val="13233A"/>
          </a:solidFill>
          <a:ln/>
        </p:spPr>
      </p:sp>
      <p:sp>
        <p:nvSpPr>
          <p:cNvPr id="25" name="Text 23"/>
          <p:cNvSpPr txBox="1"/>
          <p:nvPr/>
        </p:nvSpPr>
        <p:spPr>
          <a:xfrm>
            <a:off x="822960"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Honest limits: </a:t>
            </a:r>
            <a:pPr indent="0" marL="0">
              <a:buNone/>
            </a:pPr>
            <a:r>
              <a:rPr lang="en-US" sz="1500" dirty="0">
                <a:solidFill>
                  <a:srgbClr val="E4E8EE"/>
                </a:solidFill>
              </a:rPr>
              <a:t>vehicle parameters are estimates until RDSO data; vertical model only; hardware costs not yet quoted.</a:t>
            </a:r>
            <a:endParaRPr lang="en-US" sz="1500" dirty="0"/>
          </a:p>
        </p:txBody>
      </p:sp>
      <p:sp>
        <p:nvSpPr>
          <p:cNvPr id="26" name="Shape 24"/>
          <p:cNvSpPr/>
          <p:nvPr/>
        </p:nvSpPr>
        <p:spPr>
          <a:xfrm>
            <a:off x="6233008" y="4343400"/>
            <a:ext cx="5410048" cy="1463040"/>
          </a:xfrm>
          <a:prstGeom prst="roundRect">
            <a:avLst>
              <a:gd name="adj" fmla="val 6250"/>
            </a:avLst>
          </a:prstGeom>
          <a:solidFill>
            <a:srgbClr val="13233A"/>
          </a:solidFill>
          <a:ln/>
        </p:spPr>
      </p:sp>
      <p:sp>
        <p:nvSpPr>
          <p:cNvPr id="27" name="Text 25"/>
          <p:cNvSpPr txBox="1"/>
          <p:nvPr/>
        </p:nvSpPr>
        <p:spPr>
          <a:xfrm>
            <a:off x="6507328"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Urgent: </a:t>
            </a:r>
            <a:pPr indent="0" marL="0">
              <a:buNone/>
            </a:pPr>
            <a:r>
              <a:rPr lang="en-US" sz="1500" dirty="0">
                <a:solidFill>
                  <a:srgbClr val="E4E8EE"/>
                </a:solidFill>
              </a:rPr>
              <a:t>file a provisional patent — the repository is now public.</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ducts" descr="SwarmRide Passenger and SwarmRide Freight concept">    </p:cNvPr>
          <p:cNvPicPr>
            <a:picLocks noChangeAspect="1"/>
          </p:cNvPicPr>
          <p:nvPr/>
        </p:nvPicPr>
        <p:blipFill>
          <a:blip r:embed="rId1">
            <a:alphaModFix amt="18000"/>
          </a:blip>
          <a:srcRect l="0" r="0" t="0" b="0"/>
          <a:stretch/>
        </p:blipFill>
        <p:spPr>
          <a:xfrm>
            <a:off x="7132320" y="0"/>
            <a:ext cx="5059375" cy="6858000"/>
          </a:xfrm>
          <a:prstGeom prst="rect">
            <a:avLst/>
          </a:prstGeom>
        </p:spPr>
      </p:pic>
      <p:sp>
        <p:nvSpPr>
          <p:cNvPr id="3" name="Text 0"/>
          <p:cNvSpPr txBox="1"/>
          <p:nvPr/>
        </p:nvSpPr>
        <p:spPr>
          <a:xfrm>
            <a:off x="548640" y="685800"/>
            <a:ext cx="6400800" cy="365760"/>
          </a:xfrm>
          <a:prstGeom prst="rect">
            <a:avLst/>
          </a:prstGeom>
          <a:noFill/>
          <a:ln/>
        </p:spPr>
        <p:txBody>
          <a:bodyPr wrap="square" lIns="0" tIns="0" rIns="0" bIns="0" rtlCol="0" anchor="t"/>
          <a:lstStyle/>
          <a:p>
            <a:pPr indent="0" marL="0">
              <a:buNone/>
            </a:pPr>
            <a:r>
              <a:rPr lang="en-US" sz="1400" b="1" spc="300" kern="0" dirty="0">
                <a:solidFill>
                  <a:srgbClr val="F0974A"/>
                </a:solidFill>
              </a:rPr>
              <a:t>THANK YOU · QUESTIONS</a:t>
            </a:r>
            <a:endParaRPr lang="en-US" sz="1400" dirty="0"/>
          </a:p>
        </p:txBody>
      </p:sp>
      <p:sp>
        <p:nvSpPr>
          <p:cNvPr id="4" name="Text 1"/>
          <p:cNvSpPr txBox="1"/>
          <p:nvPr/>
        </p:nvSpPr>
        <p:spPr>
          <a:xfrm>
            <a:off x="548640" y="1188720"/>
            <a:ext cx="6400800" cy="1645920"/>
          </a:xfrm>
          <a:prstGeom prst="rect">
            <a:avLst/>
          </a:prstGeom>
          <a:noFill/>
          <a:ln/>
        </p:spPr>
        <p:txBody>
          <a:bodyPr wrap="square" lIns="0" tIns="0" rIns="0" bIns="0" rtlCol="0" anchor="t"/>
          <a:lstStyle/>
          <a:p>
            <a:pPr indent="0" marL="0">
              <a:buNone/>
            </a:pPr>
            <a:r>
              <a:rPr lang="en-US" sz="5400" b="1" dirty="0">
                <a:solidFill>
                  <a:srgbClr val="F7F5F0"/>
                </a:solidFill>
              </a:rPr>
              <a:t>Every bogie powers itself.</a:t>
            </a:r>
            <a:endParaRPr lang="en-US" sz="5400" dirty="0"/>
          </a:p>
        </p:txBody>
      </p:sp>
      <p:sp>
        <p:nvSpPr>
          <p:cNvPr id="5" name="Text 2"/>
          <p:cNvSpPr txBox="1"/>
          <p:nvPr/>
        </p:nvSpPr>
        <p:spPr>
          <a:xfrm>
            <a:off x="548640" y="2926080"/>
            <a:ext cx="6309360" cy="1097280"/>
          </a:xfrm>
          <a:prstGeom prst="rect">
            <a:avLst/>
          </a:prstGeom>
          <a:noFill/>
          <a:ln/>
        </p:spPr>
        <p:txBody>
          <a:bodyPr wrap="square" lIns="0" tIns="0" rIns="0" bIns="0" rtlCol="0" anchor="t"/>
          <a:lstStyle/>
          <a:p>
            <a:pPr indent="0" marL="0">
              <a:buNone/>
            </a:pPr>
            <a:r>
              <a:rPr lang="en-US" sz="1800" dirty="0">
                <a:solidFill>
                  <a:srgbClr val="C9D3E2"/>
                </a:solidFill>
              </a:rPr>
              <a:t>Tunes its own ride, watches its own safety — while the locomotive warns every coach of the bump ahead.</a:t>
            </a:r>
            <a:endParaRPr lang="en-US" sz="1800" dirty="0"/>
          </a:p>
        </p:txBody>
      </p:sp>
      <p:sp>
        <p:nvSpPr>
          <p:cNvPr id="6" name="Text 3"/>
          <p:cNvSpPr txBox="1"/>
          <p:nvPr/>
        </p:nvSpPr>
        <p:spPr>
          <a:xfrm>
            <a:off x="548640" y="4754880"/>
            <a:ext cx="6400800" cy="411480"/>
          </a:xfrm>
          <a:prstGeom prst="rect">
            <a:avLst/>
          </a:prstGeom>
          <a:noFill/>
          <a:ln/>
        </p:spPr>
        <p:txBody>
          <a:bodyPr wrap="square" lIns="0" tIns="0" rIns="0" bIns="0" rtlCol="0" anchor="t"/>
          <a:lstStyle/>
          <a:p>
            <a:pPr indent="0" marL="0">
              <a:buNone/>
            </a:pPr>
            <a:r>
              <a:rPr lang="en-US" sz="2000" b="1" dirty="0">
                <a:solidFill>
                  <a:srgbClr val="F7F5F0"/>
                </a:solidFill>
              </a:rPr>
              <a:t>Jaganath · Niranjan · Kowshik · Sangeeth</a:t>
            </a:r>
            <a:endParaRPr lang="en-US" sz="2000" dirty="0"/>
          </a:p>
        </p:txBody>
      </p:sp>
      <p:sp>
        <p:nvSpPr>
          <p:cNvPr id="7" name="Text 4"/>
          <p:cNvSpPr txBox="1"/>
          <p:nvPr/>
        </p:nvSpPr>
        <p:spPr>
          <a:xfrm>
            <a:off x="548640" y="5303520"/>
            <a:ext cx="6400800" cy="320040"/>
          </a:xfrm>
          <a:prstGeom prst="rect">
            <a:avLst/>
          </a:prstGeom>
          <a:noFill/>
          <a:ln/>
        </p:spPr>
        <p:txBody>
          <a:bodyPr wrap="square" lIns="0" tIns="0" rIns="0" bIns="0" rtlCol="0" anchor="t"/>
          <a:lstStyle/>
          <a:p>
            <a:pPr indent="0" marL="0">
              <a:buNone/>
            </a:pPr>
            <a:r>
              <a:rPr lang="en-US" sz="1400" dirty="0">
                <a:solidFill>
                  <a:srgbClr val="C9D3E2"/>
                </a:solidFill>
              </a:rPr>
              <a:t>Website: sangeeth0301.github.io/SwarmRide-Bharat</a:t>
            </a:r>
            <a:endParaRPr lang="en-US" sz="1400" dirty="0"/>
          </a:p>
        </p:txBody>
      </p:sp>
      <p:sp>
        <p:nvSpPr>
          <p:cNvPr id="8" name="Text 5"/>
          <p:cNvSpPr txBox="1"/>
          <p:nvPr/>
        </p:nvSpPr>
        <p:spPr>
          <a:xfrm>
            <a:off x="548640" y="5669280"/>
            <a:ext cx="6400800" cy="320040"/>
          </a:xfrm>
          <a:prstGeom prst="rect">
            <a:avLst/>
          </a:prstGeom>
          <a:noFill/>
          <a:ln/>
        </p:spPr>
        <p:txBody>
          <a:bodyPr wrap="square" lIns="0" tIns="0" rIns="0" bIns="0" rtlCol="0" anchor="t"/>
          <a:lstStyle/>
          <a:p>
            <a:pPr indent="0" marL="0">
              <a:buNone/>
            </a:pPr>
            <a:r>
              <a:rPr lang="en-US" sz="1400" dirty="0">
                <a:solidFill>
                  <a:srgbClr val="C9D3E2"/>
                </a:solidFill>
              </a:rPr>
              <a:t>Code and data: github.com/Sangeeth0301/SwarmRide-Bharat</a:t>
            </a:r>
            <a:endParaRPr lang="en-US" sz="1400" dirty="0"/>
          </a:p>
        </p:txBody>
      </p:sp>
    </p:spTree>
  </p:cSld>
  <p:clrMapOvr>
    <a:masterClrMapping/>
  </p:clrMapOvr>
</p:sld>
</file>

<file path=ppt/theme/theme1.xml><?xml version="1.0" encoding="utf-8"?>
<a:theme xmlns:a="http://schemas.openxmlformats.org/drawingml/2006/main" name="SwarmRide">
  <a:themeElements>
    <a:clrScheme name="SwarmRide">
      <a:dk1>
        <a:srgbClr val="13233A"/>
      </a:dk1>
      <a:lt1>
        <a:srgbClr val="FFFFFF"/>
      </a:lt1>
      <a:dk2>
        <a:srgbClr val="1F2A37"/>
      </a:dk2>
      <a:lt2>
        <a:srgbClr val="F7F5F0"/>
      </a:lt2>
      <a:accent1>
        <a:srgbClr val="E07A1F"/>
      </a:accent1>
      <a:accent2>
        <a:srgbClr val="2A9D8F"/>
      </a:accent2>
      <a:accent3>
        <a:srgbClr val="1F6F66"/>
      </a:accent3>
      <a:accent4>
        <a:srgbClr val="A8520F"/>
      </a:accent4>
      <a:accent5>
        <a:srgbClr val="5E6878"/>
      </a:accent5>
      <a:accent6>
        <a:srgbClr val="1E3557"/>
      </a:accent6>
      <a:hlink>
        <a:srgbClr val="1F6F66"/>
      </a:hlink>
      <a:folHlink>
        <a:srgbClr val="A8520F"/>
      </a:folHlink>
    </a:clrScheme>
    <a:fontScheme name="SwarmRid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SwarmRide Bharat — Control Systems Project Review</dc:title>
  <dc:subject>PptxGenJS Presentation</dc:subject>
  <dc:creator>Jaganath, Niranjan, Kowshik, Sangeeth</dc:creator>
  <cp:lastModifiedBy>Jaganath, Niranjan, Kowshik, Sangeeth</cp:lastModifiedBy>
  <cp:revision>1</cp:revision>
  <dcterms:created xsi:type="dcterms:W3CDTF">2026-10-20T05:54:15Z</dcterms:created>
  <dcterms:modified xsi:type="dcterms:W3CDTF">2026-10-20T05:54:15Z</dcterms:modified>
</cp:coreProperties>
</file>