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problem" id="{c3d19617-107b-65b2-b8b0-dd8dd358f715}">
          <p14:sldIdLst>
            <p14:sldId id="256"/>
            <p14:sldId id="257"/>
            <p14:sldId id="258"/>
          </p14:sldIdLst>
        </p14:section>
        <p14:section name="The solution" id="{35397743-7e77-bc50-b2e9-80b53325e3f0}">
          <p14:sldIdLst>
            <p14:sldId id="259"/>
            <p14:sldId id="260"/>
          </p14:sldIdLst>
        </p14:section>
        <p14:section name="Literature review and base paper" id="{3751270f-63ba-7168-c56d-22336f6f4ce6}">
          <p14:sldIdLst>
            <p14:sldId id="261"/>
            <p14:sldId id="262"/>
          </p14:sldIdLst>
        </p14:section>
        <p14:section name="Architecture and control system design" id="{b631b63d-0245-2a6c-4c88-1e01b32c6e2e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sults" id="{5a99d104-dd3a-d936-0a49-5bb6977dd04a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Base paper vs SwarmRide" id="{56b53eaf-cb89-973e-fc62-11d90a69ed7f}">
          <p14:sldIdLst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today’s oil damper on every train bogie becomes a smart electromagnetic damper that makes its own power, tunes the ride to the live load, gets a bump warning from the locomotive, and powers safety sensors on the bogie.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safety gaps (track, bearings, couplings) and three engineering gaps (comfort falls with load, energy wasted, no power on wagons). One device can close all six.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Photos: the Casnub wagon bogie, a goods train and an LHB air spring. Our Stage 1 simulation of today’s trains shows the two engineering gaps: fixed dampers lose damping as load rises, and all suspension energy becomes heat.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mounting points as today’s damper. A magnet moving through a coil makes electricity; the current drawn sets how firm the damper is. So one device harvests, controls the ride, powers sensors and fails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Distances: locomotive 20 m, LHB coach 23.5 m, measured to each coach’s front bogie. The controller runs at 100 Hz, so even coach 1 gets 50 steps to prepare.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DOIs: 10.1109/TVT.2012.2229308 (Li, Zuo, Luhrs, Lin, Qin 2013); 10.1109/TVT.2022.3149265 (Hua, Cai, Zhu 2022, base paper); 10.1177/1045389X231200146 (Dong et al. 2024); 10.1109/TTE.2023.3314056 (Tao et al. 2024); 10.1109/TTE.2024.3481067 (Cheng et al. 2025); 10.1109/TMECH.2025.3582402 (Xia, Ning et al. 2025). The field moved from car shock absorbers (2013) to train suspensions (2022) and now to self-powered dampers with supercapacitor management (2025). No paper combines load-scheduled control, train-wide preview, active push, a full-day power bank and self-powered health sensing on Indian rolling stock — that is SwarmRide’s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 10.1109/TVT.2022.3149265, summary from the published abstract. Why this base paper: it is the IEEE Transactions paper closest to our idea — an electromagnetic damper on a train suspension that both controls vibration and harvests energy. Their controller is an LQG target force tracked semi-actively. We keep their core idea and extend it in five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levels top to bottom. The key architectural point versus the base paper: the harvested energy is stored and used on the bogie itself, so goods wagons with no electricity can run sensors.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LHB and Vande Bharat: replaces the vertical secondary dampers beside the air springs; load from air-spring pressure. ICF: secondary dampers on the bolster springs. BOXN: beside or in place of the friction wedges, with a geared smart damper.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Outer loop: the state observer estimates body bounce, pitch and bogie motion; the LPV-LQR gain, blended between five load points by the measured load, gives the ideal force; the Train Brain preview adds a feed-forward term. The semi-active map turns F* into a damping command the damper can give (resist only), except inside a push window at a known bad spot (C4). Inner loop: a PI current controller with back-EMF feed-forward makes the coil current follow i* within 0.5 ms; the current is the 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in three rows. Top, the vehicle controller (outer loop, 100 Hz): the track map and Train Brain give the preview feed-forward, the state feedback (LPV-LQR) uses the estimated coach state, and the load estimate schedules both gains. The force command goes through the semi-active conversion and the damping law, or, at a known bad spot, the push command; the C4 switch picks one, then the current limit. Middle, the damper drive (inner loop, 10 kHz): the PI current controller with back-EMF feed-forward, the voltage limit and the contactor drive the coil; the electromagnetic damper and the ball screw make the damper force on the half-coach vehicle, and the measured coil current is fed back. Bottom: harvested energy goes through the power electronics to the bogie's power bank; the fail-safe supervisor switches the contactor to the fail-safe resistors on a fault or a low bank; sensors and the state estimator close the outer loop. The Simulink version is SR_ControlDiagram.slx.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 of controllers proves each idea separately. C1 is the same kind of approach as the base paper’s fixed-duty-cycle damper. C2 is the optimal controller made load-adaptive (LPV). C3 adds the Train Brain preview, C4 the active push. The inner PI loop with back-EMF feed-forward cancels the coil’s own pole, so the current follows its reference as a first-order lag of 0.5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model is generated by a MATLAB script, so the whole project rebuilds from code. Half-coach 4-DOF model; same coach, same rail, only the damper changes. The test suite checks the model against hand calculations, an independent state-space model, energy conservation and step-size convergence: 85 of 85 checks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coach, same rail, poor track; controller C3 (LPV-LQR + preview) against today’s damper. Today’s ride gets worse as passengers board, because a fixed damper is tuned for one load. SwarmRide’s line stays nearly flat. Lower Wz is more comfortable.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head-to-head ladder. C1, a fixed harvester, already beats today’s damper but only at one setting. The optimal LPV controller C2 does better at every load, and the preview C3 adds a little more. Power into the bank stays at 33–38 W per coach bogie across Vande Bharat and LHB.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Crowded LHB, 160 km/h. A semi-active damper (like the base paper’s) can only resist, so it cannot act before the motion starts — that is why the preview added only 1–2% in Stage 3. In Stage 4 the same H-bridge drives the coil as a motor for about a second around a known bad spot, using banked energy. The Train Brain warning finally pays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simulator stepping the Simulink power-bank rules over 14–20 h, with power tables from Simulink. Honest finding: the slow ICF coach and all-smooth track still drain slowly, so they need a small top-up or a lower sensing rate. That is a design rule for the product, not a showstopper.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 axle: illustrative bearing model, checkpoints every 250 km. The danger window between the alarm temperature and failure is about 30 minutes, much shorter than the 2.5 h between trackside checkpoints. A sensor riding on the bogie, powered by the damper, is the only reliable way. Wheel: eccentric 0.5 mm and three-lobed 0.3 mm; the damper’s coil voltage already contains the wheel’s signature, so no extra sensor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Design-C damper: 48 V servo, 25 mm × 10 mm ball screw, 8 kN, 60 V / 46 A drive, 10 F supercap. The bench model adds everything the coach model idealised: a 10 kHz current loop with a voltage limit, inverter and DC-DC losses, a contactor that takes 20 ms, and winding heat. It still predicts the same power into the bank, and the fail-safe gives exactly today’s damping. The C firmware matches MATLAB on 2,700 test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keep the base paper’s core idea — one electromagnetic device that both controls vibration and harvests energy on a train — and add the capabilities highlighted in teal: look-ahead, push, a power bank that actually runs the bogie, safety sensing, plus a hardware fail-safe and a verified firmware path to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with the examiners: the base paper studies lateral ride at higher speeds, so their watts and ours are not a like-for-like contest. The comparison that matters is architectural, and our own controller ladder (C0 to C4) shows each new capability’s value on the same coach and 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pitch line. One part swapped, same mounts, fail-safe to today’s damper. Freight wagons have no electricity today; SwarmRide makes every wagon self-powered and watched. Passenger coaches get a ride tuned to their load and to the bump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 B criteria: tests T1–T8 within their bands, T9 under the trip temperature, and the hardware-in-the-loop run at least 10% better than today’s damper. Then a field run on one LHB bogie with RDSO.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promise and invite questions. The website and repository have every model, result, the firmware and the bench prototype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A8520F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3233A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</a:rPr>
              <a:t>SwarmRide Bharat · Control Systems Project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F0974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7F5F0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BC"/>
                </a:solidFill>
              </a:rPr>
              <a:t>SwarmRide Bharat · Control Systems Project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ENT">
    <p:bg>
      <p:bgPr>
        <a:solidFill>
          <a:srgbClr val="E07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</a:rPr>
              <a:t>SwarmRide Bharat · Control Systems Project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3233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b" descr="Vande Bharat train at a platform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rcRect l="0" r="0" t="0" b="0"/>
          <a:stretch/>
        </p:blipFill>
        <p:spPr>
          <a:xfrm>
            <a:off x="7498080" y="0"/>
            <a:ext cx="469361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85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974A"/>
                </a:solidFill>
              </a:rPr>
              <a:t>CONTROL SYSTEMS · PROJECT REVIEW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SwarmRide </a:t>
            </a:r>
            <a:pPr indent="0" marL="0">
              <a:buNone/>
            </a:pPr>
            <a:r>
              <a:rPr lang="en-US" sz="6000" b="1" dirty="0">
                <a:solidFill>
                  <a:srgbClr val="F0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2"/>
                </a:solidFill>
              </a:rPr>
              <a:t>A self-powered, load-adaptive, train-synchronised suspension for Indian Railways — the damper that harvests energy, tunes the ride, and watches the bogie’s safety.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38862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1E355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7F5F0"/>
                </a:solidFill>
              </a:rPr>
              <a:t>Jaganath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343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D9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CB.AI.U4AID24021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931920" y="38862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1E355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6052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7F5F0"/>
                </a:solidFill>
              </a:rPr>
              <a:t>Niranjan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4343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D9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CB.AI.U4AID24035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84632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1E355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7F5F0"/>
                </a:solidFill>
              </a:rPr>
              <a:t>Kowshik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303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D9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CB.AI.U4AID24036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931920" y="484632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1E355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160520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7F5F0"/>
                </a:solidFill>
              </a:rPr>
              <a:t>Sangeeth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160520" y="5303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D9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CB.AI.U4AID24050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943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E2"/>
                </a:solidFill>
              </a:rPr>
              <a:t>Amrita School of Artificial Intelligence, Coimbatore · Amrita Vishwa Vidyapeetham, India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974A"/>
                </a:solidFill>
              </a:rPr>
              <a:t>01 · 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5F0"/>
                </a:solidFill>
              </a:rPr>
              <a:t>Today’s dampers waste energy, ride worse when the coach is full, and see nothing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45738" cy="2011680"/>
          </a:xfrm>
          <a:prstGeom prst="roundRect">
            <a:avLst>
              <a:gd name="adj" fmla="val 4545"/>
            </a:avLst>
          </a:prstGeom>
          <a:solidFill>
            <a:srgbClr val="1E35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29968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0974A"/>
                </a:solidFill>
              </a:rPr>
              <a:t>171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24912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8EE"/>
                </a:solidFill>
              </a:rPr>
              <a:t>derailments from poor track maintenance, 2017–21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01568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</a:rPr>
              <a:t>CAG Report 22 of 2022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2978" y="1828800"/>
            <a:ext cx="3545738" cy="2011680"/>
          </a:xfrm>
          <a:prstGeom prst="roundRect">
            <a:avLst>
              <a:gd name="adj" fmla="val 4545"/>
            </a:avLst>
          </a:prstGeom>
          <a:solidFill>
            <a:srgbClr val="1E35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7298" y="2029968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0974A"/>
                </a:solidFill>
              </a:rPr>
              <a:t>≈ 3 / day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597298" y="2724912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8EE"/>
                </a:solidFill>
              </a:rPr>
              <a:t>hot-axle cases, checked at only ~25 trackside sites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97298" y="3401568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</a:rPr>
              <a:t>Railway Board, 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7317" y="1828800"/>
            <a:ext cx="3545738" cy="2011680"/>
          </a:xfrm>
          <a:prstGeom prst="roundRect">
            <a:avLst>
              <a:gd name="adj" fmla="val 4545"/>
            </a:avLst>
          </a:prstGeom>
          <a:solidFill>
            <a:srgbClr val="1E35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71637" y="2029968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0974A"/>
                </a:solidFill>
              </a:rPr>
              <a:t>643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371637" y="2724912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8EE"/>
                </a:solidFill>
              </a:rPr>
              <a:t>train partings + 2,059 wagon detachments, 2018–19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71637" y="3401568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</a:rPr>
              <a:t>Seen only at the last wagon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545738" cy="2011680"/>
          </a:xfrm>
          <a:prstGeom prst="roundRect">
            <a:avLst>
              <a:gd name="adj" fmla="val 4545"/>
            </a:avLst>
          </a:prstGeom>
          <a:solidFill>
            <a:srgbClr val="1E35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270248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FC4B6"/>
                </a:solidFill>
              </a:rPr>
              <a:t>17–30%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65192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8EE"/>
                </a:solidFill>
              </a:rPr>
              <a:t>of damping lost as a fixed-damper coach fills up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641848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</a:rPr>
              <a:t>Our simulation, Stage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22978" y="4069080"/>
            <a:ext cx="3545738" cy="2011680"/>
          </a:xfrm>
          <a:prstGeom prst="roundRect">
            <a:avLst>
              <a:gd name="adj" fmla="val 4545"/>
            </a:avLst>
          </a:prstGeom>
          <a:solidFill>
            <a:srgbClr val="1E35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97298" y="4270248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FC4B6"/>
                </a:solidFill>
              </a:rPr>
              <a:t>20–90 W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4597298" y="4965192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8EE"/>
                </a:solidFill>
              </a:rPr>
              <a:t>per coach bogie burned as heat by today’s dampers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97298" y="5641848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</a:rPr>
              <a:t>≈ 210 W per loaded wagon bogie · Stage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7317" y="4069080"/>
            <a:ext cx="3545738" cy="2011680"/>
          </a:xfrm>
          <a:prstGeom prst="roundRect">
            <a:avLst>
              <a:gd name="adj" fmla="val 4545"/>
            </a:avLst>
          </a:prstGeom>
          <a:solidFill>
            <a:srgbClr val="1E355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71637" y="4270248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FC4B6"/>
                </a:solidFill>
              </a:rPr>
              <a:t>0 W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8371637" y="4965192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8EE"/>
                </a:solidFill>
              </a:rPr>
              <a:t>of electricity on goods wagons — so no sensors at all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71637" y="5641848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</a:rPr>
              <a:t>Indian Railways freight stock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01 · 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Today’s bogie: a passive damper tuned for one load</a:t>
            </a:r>
            <a:endParaRPr lang="en-US" sz="3000" dirty="0"/>
          </a:p>
        </p:txBody>
      </p:sp>
      <p:pic>
        <p:nvPicPr>
          <p:cNvPr id="4" name="casnub" descr="Casnub bogie of a BOXN goods wag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3576218" cy="1828800"/>
          </a:xfrm>
          <a:prstGeom prst="rect">
            <a:avLst/>
          </a:prstGeom>
        </p:spPr>
      </p:pic>
      <p:pic>
        <p:nvPicPr>
          <p:cNvPr id="5" name="goods" descr="Indian goods trai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07738" y="1600200"/>
            <a:ext cx="3576218" cy="1828800"/>
          </a:xfrm>
          <a:prstGeom prst="rect">
            <a:avLst/>
          </a:prstGeom>
        </p:spPr>
      </p:pic>
      <p:pic>
        <p:nvPicPr>
          <p:cNvPr id="6" name="air" descr="LHB coach bogie air spr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66837" y="1600200"/>
            <a:ext cx="3576218" cy="1828800"/>
          </a:xfrm>
          <a:prstGeom prst="rect">
            <a:avLst/>
          </a:prstGeom>
        </p:spPr>
      </p:pic>
      <p:sp>
        <p:nvSpPr>
          <p:cNvPr id="7" name="zeta frame"/>
          <p:cNvSpPr/>
          <p:nvPr/>
        </p:nvSpPr>
        <p:spPr>
          <a:xfrm>
            <a:off x="548640" y="361188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8" name="zeta" descr="Damping ratio falls as load rises on LHB, Vande Bharat and IC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653" y="3685032"/>
            <a:ext cx="3932022" cy="2093976"/>
          </a:xfrm>
          <a:prstGeom prst="rect">
            <a:avLst/>
          </a:prstGeom>
        </p:spPr>
      </p:pic>
      <p:sp>
        <p:nvSpPr>
          <p:cNvPr id="9" name="heat frame"/>
          <p:cNvSpPr/>
          <p:nvPr/>
        </p:nvSpPr>
        <p:spPr>
          <a:xfrm>
            <a:off x="6233008" y="361188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10" name="heat" descr="Heat wasted by today's dampers per bogi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287" y="3685032"/>
            <a:ext cx="4103489" cy="2093976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548640" y="5943600"/>
            <a:ext cx="541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Comfort falls with load: </a:t>
            </a:r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damping ratio 0.14 → 0.10 on LHB as passengers board.</a:t>
            </a:r>
            <a:endParaRPr lang="en-US" sz="1400" dirty="0"/>
          </a:p>
        </p:txBody>
      </p:sp>
      <p:sp>
        <p:nvSpPr>
          <p:cNvPr id="12" name="Text 5"/>
          <p:cNvSpPr txBox="1"/>
          <p:nvPr/>
        </p:nvSpPr>
        <p:spPr>
          <a:xfrm>
            <a:off x="6233008" y="5943600"/>
            <a:ext cx="541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Energy thrown away: </a:t>
            </a:r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64–73 W per LHB bogie, 214 W per loaded BOXN bogie.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02 · THE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One smart electromagnetic damper. Five jobs.</a:t>
            </a:r>
            <a:endParaRPr lang="en-US" sz="3000" dirty="0"/>
          </a:p>
        </p:txBody>
      </p:sp>
      <p:sp>
        <p:nvSpPr>
          <p:cNvPr id="4" name="damper frame"/>
          <p:cNvSpPr/>
          <p:nvPr/>
        </p:nvSpPr>
        <p:spPr>
          <a:xfrm>
            <a:off x="548640" y="1600200"/>
            <a:ext cx="5852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5" name="damper" descr="Smart damper concept: magnet stack moving through a fixed copper co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46447"/>
            <a:ext cx="5705856" cy="40337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600200"/>
            <a:ext cx="4967935" cy="822960"/>
          </a:xfrm>
          <a:prstGeom prst="roundRect">
            <a:avLst>
              <a:gd name="adj" fmla="val 11111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0" y="169164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1 · Harvest — </a:t>
            </a:r>
            <a:pPr indent="0" marL="0">
              <a:buNone/>
            </a:pPr>
            <a:r>
              <a:rPr lang="en-US" sz="1500" dirty="0">
                <a:solidFill>
                  <a:srgbClr val="3D4A5C"/>
                </a:solidFill>
              </a:rPr>
              <a:t>motion in a coil charges the power bank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208483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Ke · v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75120" y="2514600"/>
            <a:ext cx="4967935" cy="822960"/>
          </a:xfrm>
          <a:prstGeom prst="roundRect">
            <a:avLst>
              <a:gd name="adj" fmla="val 11111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0" y="260604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2 · Control — </a:t>
            </a:r>
            <a:pPr indent="0" marL="0">
              <a:buNone/>
            </a:pPr>
            <a:r>
              <a:rPr lang="en-US" sz="1500" dirty="0">
                <a:solidFill>
                  <a:srgbClr val="3D4A5C"/>
                </a:solidFill>
              </a:rPr>
              <a:t>coil current sets damping, by load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299923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Ke · i,  c = Ke² / 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75120" y="3429000"/>
            <a:ext cx="4967935" cy="822960"/>
          </a:xfrm>
          <a:prstGeom prst="roundRect">
            <a:avLst>
              <a:gd name="adj" fmla="val 11111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352044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3 · Preview — </a:t>
            </a:r>
            <a:pPr indent="0" marL="0">
              <a:buNone/>
            </a:pPr>
            <a:r>
              <a:rPr lang="en-US" sz="1500" dirty="0">
                <a:solidFill>
                  <a:srgbClr val="3D4A5C"/>
                </a:solidFill>
              </a:rPr>
              <a:t>the loco warns every coach ahead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391363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tₙ = dₙ / v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75120" y="4343400"/>
            <a:ext cx="4967935" cy="822960"/>
          </a:xfrm>
          <a:prstGeom prst="roundRect">
            <a:avLst>
              <a:gd name="adj" fmla="val 11111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0" y="443484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4 · Protect — </a:t>
            </a:r>
            <a:pPr indent="0" marL="0">
              <a:buNone/>
            </a:pPr>
            <a:r>
              <a:rPr lang="en-US" sz="1500" dirty="0">
                <a:solidFill>
                  <a:srgbClr val="3D4A5C"/>
                </a:solidFill>
              </a:rPr>
              <a:t>the bank powers safety sensors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0" y="482803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P_harvest &gt; P_sensors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75120" y="5257800"/>
            <a:ext cx="4967935" cy="822960"/>
          </a:xfrm>
          <a:prstGeom prst="roundRect">
            <a:avLst>
              <a:gd name="adj" fmla="val 11111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0" y="534924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5 · Fail-safe — </a:t>
            </a:r>
            <a:pPr indent="0" marL="0">
              <a:buNone/>
            </a:pPr>
            <a:r>
              <a:rPr lang="en-US" sz="1500" dirty="0">
                <a:solidFill>
                  <a:srgbClr val="3D4A5C"/>
                </a:solidFill>
              </a:rPr>
              <a:t>a relay restores today’s damping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574243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c_failsafe = c_today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02 · THE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Train Brain: the loco warns every coach before the bump</a:t>
            </a:r>
            <a:endParaRPr lang="en-US" sz="3000" dirty="0"/>
          </a:p>
        </p:txBody>
      </p:sp>
      <p:sp>
        <p:nvSpPr>
          <p:cNvPr id="4" name="preview frame"/>
          <p:cNvSpPr/>
          <p:nvPr/>
        </p:nvSpPr>
        <p:spPr>
          <a:xfrm>
            <a:off x="548640" y="1600200"/>
            <a:ext cx="6309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5" name="preview" descr="The locomotive warns every coach; today's bogie compared with the SwarmRide bog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84837"/>
            <a:ext cx="6163056" cy="43570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0" y="1645920"/>
            <a:ext cx="4510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A5C"/>
                </a:solidFill>
              </a:rPr>
              <a:t>The lead bogie feels every bump first. Coach n reaches the same spot after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32320" y="2331720"/>
            <a:ext cx="4510735" cy="731520"/>
          </a:xfrm>
          <a:prstGeom prst="roundRect">
            <a:avLst>
              <a:gd name="adj" fmla="val 12500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0" y="2331720"/>
            <a:ext cx="4510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tₙ = dₙ / v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3291840"/>
          <a:ext cx="4510735" cy="914400"/>
        </p:xfrm>
        <a:graphic>
          <a:graphicData uri="http://schemas.openxmlformats.org/drawingml/2006/table">
            <a:tbl>
              <a:tblPr/>
              <a:tblGrid>
                <a:gridCol w="1894509"/>
                <a:gridCol w="26162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160 km/h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 s = 260 control steps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132320" y="5120640"/>
            <a:ext cx="4510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A5C"/>
                </a:solidFill>
              </a:rPr>
              <a:t>Tested robust to a ±20 ms late warning. The Train Brain also keeps a map of known bad spots for the push (C4).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03 · LITERATURE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Regenerative dampers: from cars to trains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4114800"/>
                <a:gridCol w="3429000"/>
                <a:gridCol w="28648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· 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idea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SwarmRide adds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Li, Zuo et al. · IEEE Trans. Vehicular Technology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Energy-harvesting shock absorber, road tests (cars)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suspension, control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Hua, Cai, Zhu · IEEE Trans. Vehicular Technology — BASE PAPER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damper cum harvester, semi-active, high-speed train (lateral)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scheduling, preview, push, power bank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Dong et al. · J. Intell. Mater. Syst. Struct.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Harvest potential on freight wagons: 33–960 W per absorber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controller that uses 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Tao et al. · IEEE Trans. Transportation Electrification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harvesting for freight-train sensors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 powered by the damper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Cheng et al. · IEEE Trans. Transportation Electrification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Self-powered PMSM damper, economic MPC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duty, fail-safe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Xia, Ning et al. · IEEE/ASME Trans. Mechatronics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Supercapacitor-voltage control in an EM damper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Full-day bank on a train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All six verified in Crossref · DOIs in the speaker notes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03 · BASE PAPER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Hua, Cai &amp; Zhu, IEEE Trans. Vehicular Technology 71(5), 2022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D4A5C"/>
                </a:solidFill>
              </a:rPr>
              <a:t>“Energy-Regenerative Semiactive Lateral Suspension Control in High-Speed Trains Using Electromagnetic Damper Cum Energy Harvester”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10048" cy="4069080"/>
          </a:xfrm>
          <a:prstGeom prst="roundRect">
            <a:avLst>
              <a:gd name="adj" fmla="val 2247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33A"/>
                </a:solidFill>
              </a:rPr>
              <a:t>What they did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48614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4A5C"/>
                </a:solidFill>
              </a:rPr>
              <a:t>Full-scale EM damper cum harvester (EMDEH), tested in cyclic tests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4A5C"/>
                </a:solidFill>
              </a:rPr>
              <a:t>Damping tuned by the duty cycle of the harvesting circuit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4A5C"/>
                </a:solidFill>
              </a:rPr>
              <a:t>Semi-active tracking of an LQG target force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4A5C"/>
                </a:solidFill>
              </a:rPr>
              <a:t>Lateral secondary suspension, high-speed train, 200–350 km/h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4A5C"/>
                </a:solidFill>
              </a:rPr>
              <a:t>Beat passive and fixed-duty dampers on car-body vibration; harvested 25.89–153.19 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33008" y="2103120"/>
            <a:ext cx="5410048" cy="4069080"/>
          </a:xfrm>
          <a:prstGeom prst="roundRect">
            <a:avLst>
              <a:gd name="adj" fmla="val 2247"/>
            </a:avLst>
          </a:prstGeom>
          <a:solidFill>
            <a:srgbClr val="1323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228600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0974A"/>
                </a:solidFill>
              </a:rPr>
              <a:t>Where SwarmRide goes further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788920"/>
            <a:ext cx="486140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8EE"/>
                </a:solidFill>
              </a:rPr>
              <a:t>Vertical ride on LHB, Vande Bharat, ICF and BOXN freight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8EE"/>
                </a:solidFill>
              </a:rPr>
              <a:t>LPV gains scheduled on the measured load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8EE"/>
                </a:solidFill>
              </a:rPr>
              <a:t>Train Brain preview shared along the train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8EE"/>
                </a:solidFill>
              </a:rPr>
              <a:t>Active push (C4) from the bogie’s own bank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8EE"/>
                </a:solidFill>
              </a:rPr>
              <a:t>Full-day power bank + self-powered health sensing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8EE"/>
                </a:solidFill>
              </a:rPr>
              <a:t>Fail-safe, C firmware, bench design, 85 checks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04 ·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Three levels: train, vehicle, self-powered bogie</a:t>
            </a:r>
            <a:endParaRPr lang="en-US" sz="3000" dirty="0"/>
          </a:p>
        </p:txBody>
      </p:sp>
      <p:sp>
        <p:nvSpPr>
          <p:cNvPr id="4" name="arch frame"/>
          <p:cNvSpPr/>
          <p:nvPr/>
        </p:nvSpPr>
        <p:spPr>
          <a:xfrm>
            <a:off x="548640" y="1600200"/>
            <a:ext cx="6309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5" name="arch" descr="SwarmRide end-to-end system architecture: Train Brain, vehicle controller, bogie un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06270"/>
            <a:ext cx="6163056" cy="431413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0" y="1600200"/>
            <a:ext cx="4510735" cy="1188720"/>
          </a:xfrm>
          <a:prstGeom prst="roundRect">
            <a:avLst>
              <a:gd name="adj" fmla="val 7692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828800"/>
            <a:ext cx="274320" cy="274320"/>
          </a:xfrm>
          <a:prstGeom prst="ellipse">
            <a:avLst/>
          </a:prstGeom>
          <a:solidFill>
            <a:srgbClr val="1323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26680" y="1764792"/>
            <a:ext cx="3733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</a:rPr>
              <a:t>① Train Brain · locomotive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167128"/>
            <a:ext cx="3733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Lead-bogie bump sensing, track map, timed warnings tₙ = dₙ / v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132320" y="2926080"/>
            <a:ext cx="4510735" cy="1188720"/>
          </a:xfrm>
          <a:prstGeom prst="roundRect">
            <a:avLst>
              <a:gd name="adj" fmla="val 7692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3154680"/>
            <a:ext cx="274320" cy="274320"/>
          </a:xfrm>
          <a:prstGeom prst="ellipse">
            <a:avLst/>
          </a:prstGeom>
          <a:solidFill>
            <a:srgbClr val="1F6F6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3090672"/>
            <a:ext cx="3733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</a:rPr>
              <a:t>② Vehicle controller · 100 Hz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3493008"/>
            <a:ext cx="3733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Load estimate, LPV-LQR + preview, push windows, health analytics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132320" y="4251960"/>
            <a:ext cx="4510735" cy="1188720"/>
          </a:xfrm>
          <a:prstGeom prst="roundRect">
            <a:avLst>
              <a:gd name="adj" fmla="val 7692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0" y="4480560"/>
            <a:ext cx="274320" cy="274320"/>
          </a:xfrm>
          <a:prstGeom prst="ellipse">
            <a:avLst/>
          </a:prstGeom>
          <a:solidFill>
            <a:srgbClr val="A8520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26680" y="4416552"/>
            <a:ext cx="3733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</a:rPr>
              <a:t>③ Bogie unit · self-powered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726680" y="4818888"/>
            <a:ext cx="3733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Smart dampers, 10 kHz drive, supercap + LiFePO4, sensors, fail-safe relay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0" y="5669280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Energy stays on the bogie; only data travels along the train.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04 ·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On a real bogie: no new bogie, no new cables</a:t>
            </a:r>
            <a:endParaRPr lang="en-US" sz="3000" dirty="0"/>
          </a:p>
        </p:txBody>
      </p:sp>
      <p:pic>
        <p:nvPicPr>
          <p:cNvPr id="4" name="casnub_ann" descr="Casnub bogie of a BOXN wagon annotated with SwarmRide componen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5410048" cy="4023360"/>
          </a:xfrm>
          <a:prstGeom prst="rect">
            <a:avLst/>
          </a:prstGeom>
        </p:spPr>
      </p:pic>
      <p:sp>
        <p:nvSpPr>
          <p:cNvPr id="5" name="bogies frame"/>
          <p:cNvSpPr/>
          <p:nvPr/>
        </p:nvSpPr>
        <p:spPr>
          <a:xfrm>
            <a:off x="6233008" y="1600200"/>
            <a:ext cx="5410048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6" name="bogies" descr="LHB, ICF and Casnub bogies with the smart damper swapped 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160" y="1751264"/>
            <a:ext cx="5263744" cy="372123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760720"/>
            <a:ext cx="541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Casnub (BOXN wagon): </a:t>
            </a:r>
            <a:pPr indent="0" marL="0">
              <a:buNone/>
            </a:pPr>
            <a:r>
              <a:rPr lang="en-US" sz="1500" dirty="0">
                <a:solidFill>
                  <a:srgbClr val="3D4A5C"/>
                </a:solidFill>
              </a:rPr>
              <a:t>where each SwarmRide part goes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233008" y="5760720"/>
            <a:ext cx="541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LHB · ICF · Casnub: </a:t>
            </a:r>
            <a:pPr indent="0" marL="0">
              <a:buNone/>
            </a:pPr>
            <a:r>
              <a:rPr lang="en-US" sz="1500" dirty="0">
                <a:solidFill>
                  <a:srgbClr val="3D4A5C"/>
                </a:solidFill>
              </a:rPr>
              <a:t>one part swapped, same mounts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05 · CONTROL SYSTEM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Closed-loop block diagram: two loops, one plant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095500"/>
            <a:ext cx="1079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Track w(t)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05000" y="1905000"/>
            <a:ext cx="1651000" cy="698500"/>
          </a:xfrm>
          <a:prstGeom prst="roundRect">
            <a:avLst>
              <a:gd name="adj" fmla="val 7855"/>
            </a:avLst>
          </a:prstGeom>
          <a:solidFill>
            <a:srgbClr val="DCE8F9"/>
          </a:solidFill>
          <a:ln w="19050">
            <a:solidFill>
              <a:srgbClr val="1323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5000" y="1905000"/>
            <a:ext cx="1651000" cy="6985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Brain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rail ahead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4000" y="1905000"/>
            <a:ext cx="1397000" cy="698500"/>
          </a:xfrm>
          <a:prstGeom prst="roundRect">
            <a:avLst>
              <a:gd name="adj" fmla="val 7855"/>
            </a:avLst>
          </a:prstGeom>
          <a:solidFill>
            <a:srgbClr val="D6EFEA"/>
          </a:solidFill>
          <a:ln w="19050">
            <a:solidFill>
              <a:srgbClr val="1F6F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64000" y="1905000"/>
            <a:ext cx="1397000" cy="6985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gain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Kp(m)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39968" y="3299968"/>
            <a:ext cx="512064" cy="512064"/>
          </a:xfrm>
          <a:prstGeom prst="ellipse">
            <a:avLst/>
          </a:prstGeom>
          <a:solidFill>
            <a:srgbClr val="FDFCF9"/>
          </a:solidFill>
          <a:ln w="25400">
            <a:solidFill>
              <a:srgbClr val="132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39968" y="329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33A"/>
                </a:solidFill>
              </a:rPr>
              <a:t>Σ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731000" y="3175000"/>
            <a:ext cx="1778000" cy="762000"/>
          </a:xfrm>
          <a:prstGeom prst="roundRect">
            <a:avLst>
              <a:gd name="adj" fmla="val 7200"/>
            </a:avLst>
          </a:prstGeom>
          <a:solidFill>
            <a:srgbClr val="FCE3CC"/>
          </a:solidFill>
          <a:ln w="19050">
            <a:solidFill>
              <a:srgbClr val="A8520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1000" y="3175000"/>
            <a:ext cx="1778000" cy="76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Semi-active map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C4 push → i*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87968" y="3299968"/>
            <a:ext cx="512064" cy="512064"/>
          </a:xfrm>
          <a:prstGeom prst="ellipse">
            <a:avLst/>
          </a:prstGeom>
          <a:solidFill>
            <a:srgbClr val="FDFCF9"/>
          </a:solidFill>
          <a:ln w="25400">
            <a:solidFill>
              <a:srgbClr val="132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87968" y="329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33A"/>
                </a:solidFill>
              </a:rPr>
              <a:t>Σ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779000" y="3048000"/>
            <a:ext cx="1600200" cy="1016000"/>
          </a:xfrm>
          <a:prstGeom prst="roundRect">
            <a:avLst>
              <a:gd name="adj" fmla="val 5400"/>
            </a:avLst>
          </a:prstGeom>
          <a:solidFill>
            <a:srgbClr val="FFF4D6"/>
          </a:solidFill>
          <a:ln w="19050">
            <a:solidFill>
              <a:srgbClr val="A852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79000" y="3048000"/>
            <a:ext cx="1600200" cy="101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current loop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back-EMF FF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coil: F = Ke·i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763000" y="4699000"/>
            <a:ext cx="2616200" cy="889000"/>
          </a:xfrm>
          <a:prstGeom prst="roundRect">
            <a:avLst>
              <a:gd name="adj" fmla="val 6171"/>
            </a:avLst>
          </a:prstGeom>
          <a:solidFill>
            <a:srgbClr val="DCE8F9"/>
          </a:solidFill>
          <a:ln w="19050">
            <a:solidFill>
              <a:srgbClr val="1323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63000" y="4699000"/>
            <a:ext cx="2616200" cy="889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Half-coach vehicle G(s)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ẋ = A(m)x + B_F F + B_w 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23000" y="4826000"/>
            <a:ext cx="1778000" cy="635000"/>
          </a:xfrm>
          <a:prstGeom prst="roundRect">
            <a:avLst>
              <a:gd name="adj" fmla="val 8640"/>
            </a:avLst>
          </a:prstGeom>
          <a:solidFill>
            <a:srgbClr val="D6EFEA"/>
          </a:solidFill>
          <a:ln w="19050">
            <a:solidFill>
              <a:srgbClr val="1F6F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23000" y="4826000"/>
            <a:ext cx="1778000" cy="635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observer x̂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56000" y="4826000"/>
            <a:ext cx="1905000" cy="635000"/>
          </a:xfrm>
          <a:prstGeom prst="roundRect">
            <a:avLst>
              <a:gd name="adj" fmla="val 8640"/>
            </a:avLst>
          </a:prstGeom>
          <a:solidFill>
            <a:srgbClr val="D6EFEA"/>
          </a:solidFill>
          <a:ln w="19050">
            <a:solidFill>
              <a:srgbClr val="1F6F6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56000" y="4826000"/>
            <a:ext cx="1905000" cy="635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LPV-LQR gain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Kx(m)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778000" y="2254250"/>
            <a:ext cx="127000" cy="914"/>
          </a:xfrm>
          <a:prstGeom prst="line">
            <a:avLst/>
          </a:prstGeom>
          <a:noFill/>
          <a:ln w="25400">
            <a:solidFill>
              <a:srgbClr val="13233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556000" y="2254250"/>
            <a:ext cx="508000" cy="914"/>
          </a:xfrm>
          <a:prstGeom prst="line">
            <a:avLst/>
          </a:prstGeom>
          <a:noFill/>
          <a:ln w="25400">
            <a:solidFill>
              <a:srgbClr val="13233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61000" y="2254250"/>
            <a:ext cx="635000" cy="914"/>
          </a:xfrm>
          <a:prstGeom prst="line">
            <a:avLst/>
          </a:prstGeom>
          <a:noFill/>
          <a:ln w="25400">
            <a:solidFill>
              <a:srgbClr val="1323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6000" y="2254250"/>
            <a:ext cx="914" cy="1047750"/>
          </a:xfrm>
          <a:prstGeom prst="line">
            <a:avLst/>
          </a:prstGeom>
          <a:noFill/>
          <a:ln w="25400">
            <a:solidFill>
              <a:srgbClr val="13233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350000" y="3556000"/>
            <a:ext cx="381000" cy="914"/>
          </a:xfrm>
          <a:prstGeom prst="line">
            <a:avLst/>
          </a:prstGeom>
          <a:noFill/>
          <a:ln w="25400">
            <a:solidFill>
              <a:srgbClr val="13233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509000" y="3556000"/>
            <a:ext cx="381000" cy="914"/>
          </a:xfrm>
          <a:prstGeom prst="line">
            <a:avLst/>
          </a:prstGeom>
          <a:noFill/>
          <a:ln w="25400">
            <a:solidFill>
              <a:srgbClr val="13233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398000" y="3556000"/>
            <a:ext cx="381000" cy="914"/>
          </a:xfrm>
          <a:prstGeom prst="line">
            <a:avLst/>
          </a:prstGeom>
          <a:noFill/>
          <a:ln w="25400">
            <a:solidFill>
              <a:srgbClr val="13233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668000" y="4064000"/>
            <a:ext cx="914" cy="635000"/>
          </a:xfrm>
          <a:prstGeom prst="line">
            <a:avLst/>
          </a:prstGeom>
          <a:noFill/>
          <a:ln w="25400">
            <a:solidFill>
              <a:srgbClr val="13233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8001000" y="5143500"/>
            <a:ext cx="762000" cy="914"/>
          </a:xfrm>
          <a:prstGeom prst="line">
            <a:avLst/>
          </a:prstGeom>
          <a:noFill/>
          <a:ln w="25400">
            <a:solidFill>
              <a:srgbClr val="13233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5461000" y="5143500"/>
            <a:ext cx="762000" cy="914"/>
          </a:xfrm>
          <a:prstGeom prst="line">
            <a:avLst/>
          </a:prstGeom>
          <a:noFill/>
          <a:ln w="25400">
            <a:solidFill>
              <a:srgbClr val="13233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4508500" y="3556000"/>
            <a:ext cx="914" cy="1270000"/>
          </a:xfrm>
          <a:prstGeom prst="line">
            <a:avLst/>
          </a:prstGeom>
          <a:noFill/>
          <a:ln w="25400">
            <a:solidFill>
              <a:srgbClr val="1323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8500" y="3556000"/>
            <a:ext cx="1333500" cy="914"/>
          </a:xfrm>
          <a:prstGeom prst="line">
            <a:avLst/>
          </a:prstGeom>
          <a:noFill/>
          <a:ln w="25400">
            <a:solidFill>
              <a:srgbClr val="13233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33000" y="4064000"/>
            <a:ext cx="914" cy="317500"/>
          </a:xfrm>
          <a:prstGeom prst="line">
            <a:avLst/>
          </a:prstGeom>
          <a:noFill/>
          <a:ln w="25400">
            <a:solidFill>
              <a:srgbClr val="A8520F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 flipH="1">
            <a:off x="9144000" y="4381500"/>
            <a:ext cx="889000" cy="914"/>
          </a:xfrm>
          <a:prstGeom prst="line">
            <a:avLst/>
          </a:prstGeom>
          <a:noFill/>
          <a:ln w="25400">
            <a:solidFill>
              <a:srgbClr val="A8520F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 flipV="1">
            <a:off x="9144000" y="3810000"/>
            <a:ext cx="914" cy="571500"/>
          </a:xfrm>
          <a:prstGeom prst="line">
            <a:avLst/>
          </a:prstGeom>
          <a:noFill/>
          <a:ln w="25400">
            <a:solidFill>
              <a:srgbClr val="A8520F"/>
            </a:solidFill>
            <a:prstDash val="dash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6191250" y="29845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−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5588000" y="358775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−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9207500" y="38100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−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6381750" y="3270250"/>
            <a:ext cx="44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F*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540750" y="3270250"/>
            <a:ext cx="44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i*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763250" y="4267200"/>
            <a:ext cx="44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F_d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255000" y="4857750"/>
            <a:ext cx="44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x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271000" y="4445000"/>
            <a:ext cx="82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520F"/>
                </a:solidFill>
              </a:rPr>
              <a:t>i (meas.)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12800" y="2825750"/>
            <a:ext cx="3429000" cy="1714500"/>
          </a:xfrm>
          <a:prstGeom prst="roundRect">
            <a:avLst>
              <a:gd name="adj" fmla="val 5333"/>
            </a:avLst>
          </a:prstGeom>
          <a:solidFill>
            <a:srgbClr val="13233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95680" y="2962910"/>
            <a:ext cx="306324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0974A"/>
                </a:solidFill>
              </a:rPr>
              <a:t>Controllers used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4E8EE"/>
                </a:solidFill>
              </a:rPr>
              <a:t>Outer: LPV-LQR state feedback + preview, 100 Hz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4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F* = −Kx(m)·x − Kp(m)·p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4E8EE"/>
                </a:solidFill>
              </a:rPr>
              <a:t>Inner: PI current loop + back-EMF feed-forward, 10 kHz, τ = 0.5 ms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m = measured load (air-spring pressure) schedules both gains · dashed = inner current feedback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05 · CONTROL SYSTEM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Control system architecture: two loops, self-powered, fail-safe</a:t>
            </a:r>
            <a:endParaRPr lang="en-US" sz="3000" dirty="0"/>
          </a:p>
        </p:txBody>
      </p:sp>
      <p:sp>
        <p:nvSpPr>
          <p:cNvPr id="4" name="ctrl frame"/>
          <p:cNvSpPr/>
          <p:nvPr/>
        </p:nvSpPr>
        <p:spPr>
          <a:xfrm>
            <a:off x="548640" y="1417320"/>
            <a:ext cx="11094415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5" name="ctrl" descr="SwarmRide control system architecture: vehicle controller outer loop, damper drive inner loop, smart damper and vehicle, power, fail-safe and sens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0245" y="1490472"/>
            <a:ext cx="9251206" cy="4471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Outer loop 100 Hz · inner current loop 10 kHz · harvested energy to the bogie bank · contactor falls back to today’s damper on a fault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05 · CONTROL SYSTEM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Controllers used: optimal, load-scheduled, with preview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675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49040"/>
                <a:gridCol w="1188720"/>
              </a:tblGrid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law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 Oil damper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Passive, fixed c = c_today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Fixed harvester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fixed damping setting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 LPV-LQR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LQR at 5 loads, gains blended by load m, Tc = 10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 + preview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[x; p], 221 rail samples ahead and behind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 + push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Coil motors inside a window at a known bad spot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 = L/τ, Ki = R/τ, τ = 0.5 ms, back-EMF FF, anti-windup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kHz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45920"/>
            <a:ext cx="4144975" cy="4343400"/>
          </a:xfrm>
          <a:prstGeom prst="roundRect">
            <a:avLst>
              <a:gd name="adj" fmla="val 2206"/>
            </a:avLst>
          </a:prstGeom>
          <a:solidFill>
            <a:srgbClr val="13233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0" y="1874520"/>
            <a:ext cx="359633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974A"/>
                </a:solidFill>
              </a:rPr>
              <a:t>Optimal design (LQR)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Σ (a/a_ref)² + (d/s_ref)²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r_w·(F/F_ref)²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F* = −Kx(m)·x − Kp(m)·p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c* = F*·v / (v² + ε²)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c_floor ≤ c* ≤ c_cap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FD8D5"/>
                </a:solidFill>
              </a:rPr>
              <a:t>Stable at every load: closed-loop spectral radius 0.979–0.981 (LHB, &lt; 1)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a = body acceleration over both bogies · d = suspension stroke · F = damper force · m = measured load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05 · IMPLEMENTATION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Built and run in MATLAB/Simulink R2024b</a:t>
            </a:r>
            <a:endParaRPr lang="en-US" sz="3000" dirty="0"/>
          </a:p>
        </p:txBody>
      </p:sp>
      <p:sp>
        <p:nvSpPr>
          <p:cNvPr id="4" name="m4 frame"/>
          <p:cNvSpPr/>
          <p:nvPr/>
        </p:nvSpPr>
        <p:spPr>
          <a:xfrm>
            <a:off x="548640" y="1554480"/>
            <a:ext cx="6492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5" name="m4" descr="Simulink model SR_Stage4: track, Train Brain, controller, smart damper, power electronics, power bank, scop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42981"/>
            <a:ext cx="6345936" cy="33377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7607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SR_Stage4: </a:t>
            </a:r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track · Train Brain · controller · damper · bank · 8 live scopes</a:t>
            </a:r>
            <a:endParaRPr lang="en-US" sz="1400" dirty="0"/>
          </a:p>
        </p:txBody>
      </p:sp>
      <p:sp>
        <p:nvSpPr>
          <p:cNvPr id="7" name="mctrl frame"/>
          <p:cNvSpPr/>
          <p:nvPr/>
        </p:nvSpPr>
        <p:spPr>
          <a:xfrm>
            <a:off x="7269480" y="1554480"/>
            <a:ext cx="437357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8" name="mctrl" descr="Controller subsystem: LPV state feedback with preview, semi-active conversion, command smooth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774777"/>
            <a:ext cx="4227271" cy="97672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269480" y="3035808"/>
            <a:ext cx="4373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Controller: </a:t>
            </a:r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LPV + preview, semi-active map</a:t>
            </a:r>
            <a:endParaRPr lang="en-US" sz="1400" dirty="0"/>
          </a:p>
        </p:txBody>
      </p:sp>
      <p:sp>
        <p:nvSpPr>
          <p:cNvPr id="10" name="mbench frame"/>
          <p:cNvSpPr/>
          <p:nvPr/>
        </p:nvSpPr>
        <p:spPr>
          <a:xfrm>
            <a:off x="7269480" y="3474720"/>
            <a:ext cx="4373575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11" name="mbench" descr="Simulink bench model SR_Bench: test rig, drive firmware, damper hardware, power electronics, bank, winding temperat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221" y="3547872"/>
            <a:ext cx="3648093" cy="20482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69480" y="5760720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SR_Bench: </a:t>
            </a:r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one damper on a test rig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06 · RESULTS · RIDE COMFORT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Better ride at every load, on every train</a:t>
            </a:r>
            <a:endParaRPr lang="en-US" sz="3000" dirty="0"/>
          </a:p>
        </p:txBody>
      </p:sp>
      <p:sp>
        <p:nvSpPr>
          <p:cNvPr id="4" name="ride frame"/>
          <p:cNvSpPr/>
          <p:nvPr/>
        </p:nvSpPr>
        <p:spPr>
          <a:xfrm>
            <a:off x="548640" y="1554480"/>
            <a:ext cx="69494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5" name="ride" descr="Sperling ride index against load for LHB, Vande Bharat, ICF and BOXN: today's damper, fixed harvester, SwarmRide LPV and LPV plus p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532" y="1627632"/>
            <a:ext cx="5847656" cy="44256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554480"/>
            <a:ext cx="3870655" cy="1417320"/>
          </a:xfrm>
          <a:prstGeom prst="roundRect">
            <a:avLst>
              <a:gd name="adj" fmla="val 6452"/>
            </a:avLst>
          </a:prstGeom>
          <a:solidFill>
            <a:srgbClr val="1323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73568" y="1700784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973568" y="2286000"/>
            <a:ext cx="346831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</a:rPr>
              <a:t>Sperling Wz, crowded LHB, 160 km/h · 1.844 → 1.528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0" y="3127248"/>
            <a:ext cx="3870655" cy="1417320"/>
          </a:xfrm>
          <a:prstGeom prst="roundRect">
            <a:avLst>
              <a:gd name="adj" fmla="val 6452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73568" y="3273552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−41%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7973568" y="3858768"/>
            <a:ext cx="346831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body vibration RMS · 0.174 → 0.103 m/s²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0" y="4700016"/>
            <a:ext cx="3870655" cy="1417320"/>
          </a:xfrm>
          <a:prstGeom prst="roundRect">
            <a:avLst>
              <a:gd name="adj" fmla="val 6452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73568" y="4846320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−16% · −23%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7973568" y="5431536"/>
            <a:ext cx="346831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Vande Bharat · loaded BOXN wagon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06 · RESULTS · COMFORT AND POWER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Each controller step buys comfort — and still makes power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309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109728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Crowded LHB, rough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 m/s²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 today’s damper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fixed harvester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 LPV-LQR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mm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 LPV + preview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</a:tbl>
          </a:graphicData>
        </a:graphic>
      </p:graphicFrame>
      <p:sp>
        <p:nvSpPr>
          <p:cNvPr id="5" name="cvp frame"/>
          <p:cNvSpPr/>
          <p:nvPr/>
        </p:nvSpPr>
        <p:spPr>
          <a:xfrm>
            <a:off x="7086600" y="1600200"/>
            <a:ext cx="4556455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6" name="cvp" descr="Comfort against harvested power for fixed settings and SwarmRide controll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752" y="1821274"/>
            <a:ext cx="4410151" cy="31240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086600" y="5257800"/>
            <a:ext cx="4556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No fixed setting reaches C3 — the best fixed one stops at Wz 1.635.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48640" y="4206240"/>
            <a:ext cx="6309360" cy="1463040"/>
          </a:xfrm>
          <a:prstGeom prst="roundRect">
            <a:avLst>
              <a:gd name="adj" fmla="val 6250"/>
            </a:avLst>
          </a:prstGeom>
          <a:solidFill>
            <a:srgbClr val="13233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438912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974A"/>
                </a:solidFill>
              </a:rPr>
              <a:t>33 W into the bank against 8 W needed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4E8EE"/>
                </a:solidFill>
              </a:rPr>
              <a:t>by the bogie electronics — the bogie powers itself, with 25 W to spare.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C1 corresponds to the base paper’s fixed-duty-cycle harvester · design C damper · 160 km/h · poor track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06 · RESULTS · ACTIVE PUSH (C4)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At a known bad spot, the damper pushes with its own energy</a:t>
            </a:r>
            <a:endParaRPr lang="en-US" sz="3000" dirty="0"/>
          </a:p>
        </p:txBody>
      </p:sp>
      <p:sp>
        <p:nvSpPr>
          <p:cNvPr id="4" name="push frame"/>
          <p:cNvSpPr/>
          <p:nvPr/>
        </p:nvSpPr>
        <p:spPr>
          <a:xfrm>
            <a:off x="548640" y="1554480"/>
            <a:ext cx="11094415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5" name="push" descr="Body acceleration at a track settlement and a short dip: today's damper, C3 resist only, C4 pu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2953" y="1627632"/>
            <a:ext cx="6105790" cy="29169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754880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1323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" y="4901184"/>
            <a:ext cx="314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5486400"/>
            <a:ext cx="31434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</a:rPr>
              <a:t>worst seat at a settlement: 0.97 → 0.76 (C3) → 0.20 m/s²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2978" y="4754880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4146" y="4901184"/>
            <a:ext cx="314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Wh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4524146" y="5486400"/>
            <a:ext cx="31434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energy per push (345 J), peak 1.5 kW from the supercap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97317" y="4754880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8485" y="4901184"/>
            <a:ext cx="314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−67%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8298485" y="5486400"/>
            <a:ext cx="31434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at a short dip, for just 20 J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06 · RESULTS · A FULL DAY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Self-powered through a whole day and night</a:t>
            </a:r>
            <a:endParaRPr lang="en-US" sz="3000" dirty="0"/>
          </a:p>
        </p:txBody>
      </p:sp>
      <p:sp>
        <p:nvSpPr>
          <p:cNvPr id="4" name="day frame"/>
          <p:cNvSpPr/>
          <p:nvPr/>
        </p:nvSpPr>
        <p:spPr>
          <a:xfrm>
            <a:off x="548640" y="1554480"/>
            <a:ext cx="6583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5" name="day" descr="Battery state of charge over a full day for LHB, Vande Bharat, ICF and BOXN with three electronics strateg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854" y="1627632"/>
            <a:ext cx="6359253" cy="4425696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645920"/>
          <a:ext cx="4236415" cy="914400"/>
        </p:xfrm>
        <a:graphic>
          <a:graphicData uri="http://schemas.openxmlformats.org/drawingml/2006/table">
            <a:tbl>
              <a:tblPr/>
              <a:tblGrid>
                <a:gridCol w="2118208"/>
                <a:gridCol w="1059104"/>
                <a:gridCol w="10591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Battery, 1 W sleep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LHB 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Vande Bharat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BOXN freight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ICF (slow)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406640" y="4023360"/>
            <a:ext cx="4236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A5C"/>
                </a:solidFill>
              </a:rPr>
              <a:t>Electronics left on at 8 W through a 10 h night drain every vehicle to its 10% floor. </a:t>
            </a:r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A 1 W sleep when parked fixes it</a:t>
            </a:r>
            <a:pPr indent="0" marL="0">
              <a:buNone/>
            </a:pPr>
            <a:r>
              <a:rPr lang="en-US" sz="1500" dirty="0">
                <a:solidFill>
                  <a:srgbClr val="3D4A5C"/>
                </a:solidFill>
              </a:rPr>
              <a:t> — no load is ever left unpowered.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06 · RESULTS · SELF-POWERED SAFETY SENSING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The damper is also a safety sensor</a:t>
            </a:r>
            <a:endParaRPr lang="en-US" sz="3000" dirty="0"/>
          </a:p>
        </p:txBody>
      </p:sp>
      <p:sp>
        <p:nvSpPr>
          <p:cNvPr id="4" name="axle frame"/>
          <p:cNvSpPr/>
          <p:nvPr/>
        </p:nvSpPr>
        <p:spPr>
          <a:xfrm>
            <a:off x="548640" y="1554480"/>
            <a:ext cx="541004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5" name="axle" descr="Hot axle: bearing temperature rise and trackside checkpoint detection hist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8860"/>
            <a:ext cx="5263744" cy="2277319"/>
          </a:xfrm>
          <a:prstGeom prst="rect">
            <a:avLst/>
          </a:prstGeom>
        </p:spPr>
      </p:pic>
      <p:sp>
        <p:nvSpPr>
          <p:cNvPr id="6" name="wheel frame"/>
          <p:cNvSpPr/>
          <p:nvPr/>
        </p:nvSpPr>
        <p:spPr>
          <a:xfrm>
            <a:off x="6233008" y="1554480"/>
            <a:ext cx="541004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7" name="wheel" descr="Wheel defect: coil-voltage spectrum and front versus rear bogie sign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160" y="1843111"/>
            <a:ext cx="5263744" cy="234881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663440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13233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49808" y="4809744"/>
            <a:ext cx="314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5394960"/>
            <a:ext cx="31434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</a:rPr>
              <a:t>hot-axle alarm by the on-bogie sensor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22978" y="4663440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24146" y="4809744"/>
            <a:ext cx="314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4524146" y="5394960"/>
            <a:ext cx="31434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of faults pass 180 °C before a trackside check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97317" y="4663440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98485" y="4809744"/>
            <a:ext cx="314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 – ×204</a:t>
            </a:r>
            <a:endParaRPr lang="en-US" sz="3200" dirty="0"/>
          </a:p>
        </p:txBody>
      </p:sp>
      <p:sp>
        <p:nvSpPr>
          <p:cNvPr id="16" name="Text 12"/>
          <p:cNvSpPr txBox="1"/>
          <p:nvPr/>
        </p:nvSpPr>
        <p:spPr>
          <a:xfrm>
            <a:off x="8298485" y="5394960"/>
            <a:ext cx="31434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wheel-defect signal in the coil, located to the wheelset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06 · RESULTS · BENCH PROTOTYPE (STAGE 5)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Ready for hardware: the bench model agrees</a:t>
            </a:r>
            <a:endParaRPr lang="en-US" sz="3000" dirty="0"/>
          </a:p>
        </p:txBody>
      </p:sp>
      <p:sp>
        <p:nvSpPr>
          <p:cNvPr id="4" name="breplay frame"/>
          <p:cNvSpPr/>
          <p:nvPr/>
        </p:nvSpPr>
        <p:spPr>
          <a:xfrm>
            <a:off x="548640" y="1554480"/>
            <a:ext cx="541004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5" name="breplay" descr="Bench model replaying the coach motion: damper force and power into the ba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30423"/>
            <a:ext cx="5263744" cy="2374194"/>
          </a:xfrm>
          <a:prstGeom prst="rect">
            <a:avLst/>
          </a:prstGeom>
        </p:spPr>
      </p:pic>
      <p:sp>
        <p:nvSpPr>
          <p:cNvPr id="6" name="bfs frame"/>
          <p:cNvSpPr/>
          <p:nvPr/>
        </p:nvSpPr>
        <p:spPr>
          <a:xfrm>
            <a:off x="6233008" y="1554480"/>
            <a:ext cx="541004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3E0D6"/>
            </a:solidFill>
            <a:prstDash val="solid"/>
          </a:ln>
        </p:spPr>
      </p:sp>
      <p:pic>
        <p:nvPicPr>
          <p:cNvPr id="7" name="bfs" descr="Fail-safe test: force during the contactor change and damping after the fau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160" y="1903968"/>
            <a:ext cx="5263744" cy="22271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663440"/>
            <a:ext cx="2636444" cy="1371600"/>
          </a:xfrm>
          <a:prstGeom prst="roundRect">
            <a:avLst>
              <a:gd name="adj" fmla="val 6667"/>
            </a:avLst>
          </a:prstGeom>
          <a:solidFill>
            <a:srgbClr val="13233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49808" y="4809744"/>
            <a:ext cx="22341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 W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5394960"/>
            <a:ext cx="22341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8EE"/>
                </a:solidFill>
              </a:rPr>
              <a:t>into the bank on replayed track (coach model 14.5 W)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67964" y="4663440"/>
            <a:ext cx="2636444" cy="1371600"/>
          </a:xfrm>
          <a:prstGeom prst="roundRect">
            <a:avLst>
              <a:gd name="adj" fmla="val 6667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569132" y="4809744"/>
            <a:ext cx="22341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17,500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3569132" y="5394960"/>
            <a:ext cx="22341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N s/m after a fault = today’s damper (20 ms gap)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87288" y="4663440"/>
            <a:ext cx="2636444" cy="1371600"/>
          </a:xfrm>
          <a:prstGeom prst="roundRect">
            <a:avLst>
              <a:gd name="adj" fmla="val 6667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88456" y="4809744"/>
            <a:ext cx="22341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3200" dirty="0"/>
          </a:p>
        </p:txBody>
      </p:sp>
      <p:sp>
        <p:nvSpPr>
          <p:cNvPr id="16" name="Text 12"/>
          <p:cNvSpPr txBox="1"/>
          <p:nvPr/>
        </p:nvSpPr>
        <p:spPr>
          <a:xfrm>
            <a:off x="6388456" y="5394960"/>
            <a:ext cx="22341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C firmware = MATLAB, double and float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9006611" y="4663440"/>
            <a:ext cx="2636444" cy="1371600"/>
          </a:xfrm>
          <a:prstGeom prst="roundRect">
            <a:avLst>
              <a:gd name="adj" fmla="val 6667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207779" y="4809744"/>
            <a:ext cx="22341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/ 85</a:t>
            </a:r>
            <a:endParaRPr lang="en-US" sz="3200" dirty="0"/>
          </a:p>
        </p:txBody>
      </p:sp>
      <p:sp>
        <p:nvSpPr>
          <p:cNvPr id="19" name="Text 15"/>
          <p:cNvSpPr txBox="1"/>
          <p:nvPr/>
        </p:nvSpPr>
        <p:spPr>
          <a:xfrm>
            <a:off x="9207779" y="5394960"/>
            <a:ext cx="22341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automatic verification checks pass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07 · BASE PAPER VS SWARMRIDE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Architecture: same core idea, five new capabilities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023360"/>
                <a:gridCol w="5150815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· Hua et al., IEEE TVT 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SwarmRide (ours)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Vehicle, axis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High-speed train, lateral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LHB, Vande Bharat, ICF, BOXN freight — vertical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Damper drive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Damping set by harvesting-circuit duty cycle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Ball-screw servo + 4-quadrant H-bridge: current = force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LQG target force, semi-active tracking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LPV-LQR scheduled on measured load + 10 kHz PI loop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Look-ahead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Brain preview, 221 rail samples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push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(semi-active, resist only)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C4 at known bad spots, from banked energy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Harvested power reported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Bogie power bank, full-day self-powered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sensing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axle in 10 s, wheel defects in the coil signal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Fail-safe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contactor → today’s damping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cyclic tests + simulation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automated checks, bench model, C firmware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“—” = not part of the base paper’s study as described in its published abstract (DOI 10.1109/TVT.2022.3149265)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07 · BASE PAPER VS SWARMRIDE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Results side by side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78505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(lateral, high-speed train)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SwarmRide (vertical, crowded LHB)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200–350 km/h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km/h (LHB / Vande Bharat top speed)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than passive and fixed-duty dampers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Wz −17% (1.844 → 1.528), RMS −41%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spots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 only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−80% worst seat at a settlement, for 0.1 Wh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25.89–153.19 W (semi-active)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33–38 W per coach bogie; 55 W loaded wagon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fixed harvester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duty harvested more power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(C1) Wz 1.639 at 37 W vs C3 1.528 at 33 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change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design load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comfort: Wz 1.493 empty → 1.528 crowded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reported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Bogie self-powered all day (1 W sleep when parked)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25780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The axis and speeds differ, so the two power figures are not like-for-like. </a:t>
            </a:r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What is directly comparable is the capability: </a:t>
            </a:r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ours adapts to load, looks ahead, can push, and uses its energy on the bogie.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Base-paper values from its abstract · SwarmRide values from SwarmRide_Sim/results (Stages 3–4)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3233A"/>
                </a:solidFill>
              </a:rPr>
              <a:t>08 · WHY IT MATTERS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3233A"/>
                </a:solidFill>
              </a:rPr>
              <a:t>Not a better damper. A self-powered, train-aware suspension.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3931920"/>
            <a:ext cx="2636444" cy="1920240"/>
          </a:xfrm>
          <a:prstGeom prst="roundRect">
            <a:avLst>
              <a:gd name="adj" fmla="val 4762"/>
            </a:avLst>
          </a:prstGeom>
          <a:solidFill>
            <a:srgbClr val="1323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114800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0974A"/>
                </a:solidFill>
              </a:rPr>
              <a:t>Adapts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70916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8EE"/>
                </a:solidFill>
              </a:rPr>
              <a:t>Comfort stays flat from empty to crowded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67964" y="3931920"/>
            <a:ext cx="2636444" cy="1920240"/>
          </a:xfrm>
          <a:prstGeom prst="roundRect">
            <a:avLst>
              <a:gd name="adj" fmla="val 4762"/>
            </a:avLst>
          </a:prstGeom>
          <a:solidFill>
            <a:srgbClr val="1323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6564" y="4114800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0974A"/>
                </a:solidFill>
              </a:rPr>
              <a:t>Anticipates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596564" y="470916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8EE"/>
                </a:solidFill>
              </a:rPr>
              <a:t>The loco warns every coach, t = d / v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87288" y="3931920"/>
            <a:ext cx="2636444" cy="1920240"/>
          </a:xfrm>
          <a:prstGeom prst="roundRect">
            <a:avLst>
              <a:gd name="adj" fmla="val 4762"/>
            </a:avLst>
          </a:prstGeom>
          <a:solidFill>
            <a:srgbClr val="1323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15888" y="4114800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0974A"/>
                </a:solidFill>
              </a:rPr>
              <a:t>Acts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15888" y="470916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8EE"/>
                </a:solidFill>
              </a:rPr>
              <a:t>Pushes at bad spots: −80% jolt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06611" y="3931920"/>
            <a:ext cx="2636444" cy="1920240"/>
          </a:xfrm>
          <a:prstGeom prst="roundRect">
            <a:avLst>
              <a:gd name="adj" fmla="val 4762"/>
            </a:avLst>
          </a:prstGeom>
          <a:solidFill>
            <a:srgbClr val="1323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5211" y="4114800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0974A"/>
                </a:solidFill>
              </a:rPr>
              <a:t>Protects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235211" y="470916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8EE"/>
                </a:solidFill>
              </a:rPr>
              <a:t>Powers its own safety sensors, all day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3233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20F"/>
                </a:solidFill>
              </a:rPr>
              <a:t>08 · ROADMAP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Proven in simulation. Next: proven in metal.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2377440"/>
          </a:xfrm>
          <a:prstGeom prst="roundRect">
            <a:avLst>
              <a:gd name="adj" fmla="val 3846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1883664"/>
            <a:ext cx="18134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6"/>
                </a:solidFill>
              </a:rPr>
              <a:t>DONE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21792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</a:rPr>
              <a:t>Simulation, Stages 1–4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Gate A met: better ride at every load, self-powered all day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2377440"/>
          </a:xfrm>
          <a:prstGeom prst="roundRect">
            <a:avLst>
              <a:gd name="adj" fmla="val 3846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6564" y="1874520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08044" y="1883664"/>
            <a:ext cx="18134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6"/>
                </a:solidFill>
              </a:rPr>
              <a:t>DONE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96564" y="2331720"/>
            <a:ext cx="21792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</a:rPr>
              <a:t>Bench design, Stage 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96564" y="3017520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Ratings, bench model, C firmware, test plan T1–T10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2377440"/>
          </a:xfrm>
          <a:prstGeom prst="roundRect">
            <a:avLst>
              <a:gd name="adj" fmla="val 3846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5888" y="1874520"/>
            <a:ext cx="292608" cy="292608"/>
          </a:xfrm>
          <a:prstGeom prst="ellipse">
            <a:avLst/>
          </a:prstGeom>
          <a:solidFill>
            <a:srgbClr val="E07A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27368" y="1883664"/>
            <a:ext cx="18134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6"/>
                </a:solidFill>
              </a:rPr>
              <a:t>NEXT · 16 WEEKS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2331720"/>
            <a:ext cx="21792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</a:rPr>
              <a:t>Gate B: bench prototype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15888" y="3017520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One damper on a rig; ≈ ₹4.4–13.5 lakh (indicative)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2377440"/>
          </a:xfrm>
          <a:prstGeom prst="roundRect">
            <a:avLst>
              <a:gd name="adj" fmla="val 3846"/>
            </a:avLst>
          </a:prstGeom>
          <a:solidFill>
            <a:srgbClr val="FDFCF9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211" y="1874520"/>
            <a:ext cx="292608" cy="292608"/>
          </a:xfrm>
          <a:prstGeom prst="ellipse">
            <a:avLst/>
          </a:prstGeom>
          <a:solidFill>
            <a:srgbClr val="9AA8B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46691" y="1883664"/>
            <a:ext cx="18134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6"/>
                </a:solidFill>
              </a:rPr>
              <a:t>LATER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235211" y="2331720"/>
            <a:ext cx="21792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</a:rPr>
              <a:t>Field run, RDSO, pilot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35211" y="3017520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</a:rPr>
              <a:t>Instrumented bogie; freight first, then Vande Bharat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6250"/>
            </a:avLst>
          </a:prstGeom>
          <a:solidFill>
            <a:srgbClr val="1323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52628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974A"/>
                </a:solidFill>
              </a:rPr>
              <a:t>Honest limits: </a:t>
            </a:r>
            <a:pPr indent="0" marL="0">
              <a:buNone/>
            </a:pPr>
            <a:r>
              <a:rPr lang="en-US" sz="1500" dirty="0">
                <a:solidFill>
                  <a:srgbClr val="E4E8EE"/>
                </a:solidFill>
              </a:rPr>
              <a:t>vehicle parameters are estimates until RDSO data; vertical model only; hardware costs not yet quoted.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6250"/>
            </a:avLst>
          </a:prstGeom>
          <a:solidFill>
            <a:srgbClr val="1323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07328" y="452628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974A"/>
                </a:solidFill>
              </a:rPr>
              <a:t>Urgent: </a:t>
            </a:r>
            <a:pPr indent="0" marL="0">
              <a:buNone/>
            </a:pPr>
            <a:r>
              <a:rPr lang="en-US" sz="1500" dirty="0">
                <a:solidFill>
                  <a:srgbClr val="E4E8EE"/>
                </a:solidFill>
              </a:rPr>
              <a:t>file a provisional patent — the repository is now public.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ducts" descr="SwarmRide Passenger and SwarmRide Freight concept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rcRect l="0" r="0" t="0" b="0"/>
          <a:stretch/>
        </p:blipFill>
        <p:spPr>
          <a:xfrm>
            <a:off x="7132320" y="0"/>
            <a:ext cx="505937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85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974A"/>
                </a:solidFill>
              </a:rPr>
              <a:t>THANK YOU · QUESTIONS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7F5F0"/>
                </a:solidFill>
              </a:rPr>
              <a:t>Every bogie powers itself.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260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2"/>
                </a:solidFill>
              </a:rPr>
              <a:t>Tunes its own ride, watches its own safety — while the locomotive warns every coach of the bump ahead.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754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7F5F0"/>
                </a:solidFill>
              </a:rPr>
              <a:t>Jaganath · Niranjan · Kowshik · Sangeeth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03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2"/>
                </a:solidFill>
              </a:rPr>
              <a:t>Website: sangeeth0301.github.io/SwarmRide-Bharat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669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2"/>
                </a:solidFill>
              </a:rPr>
              <a:t>Code and data: github.com/Sangeeth0301/SwarmRide-Bharat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armRide">
  <a:themeElements>
    <a:clrScheme name="SwarmRide">
      <a:dk1>
        <a:srgbClr val="13233A"/>
      </a:dk1>
      <a:lt1>
        <a:srgbClr val="FFFFFF"/>
      </a:lt1>
      <a:dk2>
        <a:srgbClr val="1F2A37"/>
      </a:dk2>
      <a:lt2>
        <a:srgbClr val="F7F5F0"/>
      </a:lt2>
      <a:accent1>
        <a:srgbClr val="E07A1F"/>
      </a:accent1>
      <a:accent2>
        <a:srgbClr val="2A9D8F"/>
      </a:accent2>
      <a:accent3>
        <a:srgbClr val="1F6F66"/>
      </a:accent3>
      <a:accent4>
        <a:srgbClr val="A8520F"/>
      </a:accent4>
      <a:accent5>
        <a:srgbClr val="5E6878"/>
      </a:accent5>
      <a:accent6>
        <a:srgbClr val="1E3557"/>
      </a:accent6>
      <a:hlink>
        <a:srgbClr val="1F6F66"/>
      </a:hlink>
      <a:folHlink>
        <a:srgbClr val="A8520F"/>
      </a:folHlink>
    </a:clrScheme>
    <a:fontScheme name="SwarmRid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SwarmRide Bharat — Control Systems Project Review</dc:title>
  <dc:subject>PptxGenJS Presentation</dc:subject>
  <dc:creator>Jaganath, Niranjan, Kowshik, Sangeeth</dc:creator>
  <cp:lastModifiedBy>Jaganath, Niranjan, Kowshik, Sangeeth</cp:lastModifiedBy>
  <cp:revision>1</cp:revision>
  <dcterms:created xsi:type="dcterms:W3CDTF">2026-10-20T02:51:33Z</dcterms:created>
  <dcterms:modified xsi:type="dcterms:W3CDTF">2026-10-20T02:51:33Z</dcterms:modified>
</cp:coreProperties>
</file>